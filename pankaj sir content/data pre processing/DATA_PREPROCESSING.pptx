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17"/>
  </p:notesMasterIdLst>
  <p:sldIdLst>
    <p:sldId id="256" r:id="rId2"/>
    <p:sldId id="257" r:id="rId3"/>
    <p:sldId id="259" r:id="rId4"/>
    <p:sldId id="272" r:id="rId5"/>
    <p:sldId id="260" r:id="rId6"/>
    <p:sldId id="261" r:id="rId7"/>
    <p:sldId id="273" r:id="rId8"/>
    <p:sldId id="353" r:id="rId9"/>
    <p:sldId id="289" r:id="rId10"/>
    <p:sldId id="262" r:id="rId11"/>
    <p:sldId id="275" r:id="rId12"/>
    <p:sldId id="354" r:id="rId13"/>
    <p:sldId id="274" r:id="rId14"/>
    <p:sldId id="355" r:id="rId15"/>
    <p:sldId id="358" r:id="rId16"/>
    <p:sldId id="359" r:id="rId17"/>
    <p:sldId id="362" r:id="rId18"/>
    <p:sldId id="363" r:id="rId19"/>
    <p:sldId id="360" r:id="rId20"/>
    <p:sldId id="361" r:id="rId21"/>
    <p:sldId id="364" r:id="rId22"/>
    <p:sldId id="263" r:id="rId23"/>
    <p:sldId id="375" r:id="rId24"/>
    <p:sldId id="376" r:id="rId25"/>
    <p:sldId id="377" r:id="rId26"/>
    <p:sldId id="380" r:id="rId27"/>
    <p:sldId id="378" r:id="rId28"/>
    <p:sldId id="379" r:id="rId29"/>
    <p:sldId id="365" r:id="rId30"/>
    <p:sldId id="366" r:id="rId31"/>
    <p:sldId id="369" r:id="rId32"/>
    <p:sldId id="381" r:id="rId33"/>
    <p:sldId id="367" r:id="rId34"/>
    <p:sldId id="368" r:id="rId35"/>
    <p:sldId id="370" r:id="rId36"/>
    <p:sldId id="382" r:id="rId37"/>
    <p:sldId id="383" r:id="rId38"/>
    <p:sldId id="384" r:id="rId39"/>
    <p:sldId id="385" r:id="rId40"/>
    <p:sldId id="386" r:id="rId41"/>
    <p:sldId id="390" r:id="rId42"/>
    <p:sldId id="387" r:id="rId43"/>
    <p:sldId id="388" r:id="rId44"/>
    <p:sldId id="389" r:id="rId45"/>
    <p:sldId id="392" r:id="rId46"/>
    <p:sldId id="393" r:id="rId47"/>
    <p:sldId id="394" r:id="rId48"/>
    <p:sldId id="395" r:id="rId49"/>
    <p:sldId id="396" r:id="rId50"/>
    <p:sldId id="397" r:id="rId51"/>
    <p:sldId id="398" r:id="rId52"/>
    <p:sldId id="401" r:id="rId53"/>
    <p:sldId id="399" r:id="rId54"/>
    <p:sldId id="400" r:id="rId55"/>
    <p:sldId id="356" r:id="rId56"/>
    <p:sldId id="276" r:id="rId57"/>
    <p:sldId id="277" r:id="rId58"/>
    <p:sldId id="278" r:id="rId59"/>
    <p:sldId id="402" r:id="rId60"/>
    <p:sldId id="403" r:id="rId61"/>
    <p:sldId id="279" r:id="rId62"/>
    <p:sldId id="280" r:id="rId63"/>
    <p:sldId id="281" r:id="rId64"/>
    <p:sldId id="285" r:id="rId65"/>
    <p:sldId id="286" r:id="rId66"/>
    <p:sldId id="287" r:id="rId67"/>
    <p:sldId id="288" r:id="rId68"/>
    <p:sldId id="266" r:id="rId69"/>
    <p:sldId id="298" r:id="rId70"/>
    <p:sldId id="299" r:id="rId71"/>
    <p:sldId id="267" r:id="rId72"/>
    <p:sldId id="310" r:id="rId73"/>
    <p:sldId id="311" r:id="rId74"/>
    <p:sldId id="312" r:id="rId75"/>
    <p:sldId id="313" r:id="rId76"/>
    <p:sldId id="314" r:id="rId77"/>
    <p:sldId id="315" r:id="rId78"/>
    <p:sldId id="316" r:id="rId79"/>
    <p:sldId id="317" r:id="rId80"/>
    <p:sldId id="318" r:id="rId81"/>
    <p:sldId id="319" r:id="rId82"/>
    <p:sldId id="320" r:id="rId83"/>
    <p:sldId id="321" r:id="rId84"/>
    <p:sldId id="322" r:id="rId85"/>
    <p:sldId id="323" r:id="rId86"/>
    <p:sldId id="324" r:id="rId87"/>
    <p:sldId id="325" r:id="rId88"/>
    <p:sldId id="326" r:id="rId89"/>
    <p:sldId id="328" r:id="rId90"/>
    <p:sldId id="329" r:id="rId91"/>
    <p:sldId id="330" r:id="rId92"/>
    <p:sldId id="331" r:id="rId93"/>
    <p:sldId id="332" r:id="rId94"/>
    <p:sldId id="338" r:id="rId95"/>
    <p:sldId id="339" r:id="rId96"/>
    <p:sldId id="340" r:id="rId97"/>
    <p:sldId id="337" r:id="rId98"/>
    <p:sldId id="345" r:id="rId99"/>
    <p:sldId id="346" r:id="rId100"/>
    <p:sldId id="341" r:id="rId101"/>
    <p:sldId id="343" r:id="rId102"/>
    <p:sldId id="344" r:id="rId103"/>
    <p:sldId id="413" r:id="rId104"/>
    <p:sldId id="414" r:id="rId105"/>
    <p:sldId id="415" r:id="rId106"/>
    <p:sldId id="416" r:id="rId107"/>
    <p:sldId id="406" r:id="rId108"/>
    <p:sldId id="407" r:id="rId109"/>
    <p:sldId id="408" r:id="rId110"/>
    <p:sldId id="409" r:id="rId111"/>
    <p:sldId id="410" r:id="rId112"/>
    <p:sldId id="417" r:id="rId113"/>
    <p:sldId id="411" r:id="rId114"/>
    <p:sldId id="412" r:id="rId115"/>
    <p:sldId id="405" r:id="rId1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0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6CB95-475E-4ED7-9B36-A2F84558B35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78FB3-8B9A-4A45-BE74-4FC9579F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91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78FB3-8B9A-4A45-BE74-4FC9579F8FE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2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6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7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9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99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96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6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8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8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8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7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5553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06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4805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08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45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8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03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Data Preprocessing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/>
              <a:t>Essential Steps for Preparing Data Before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081" y="1714761"/>
            <a:ext cx="7678369" cy="435905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Data preprocessing </a:t>
            </a:r>
            <a:r>
              <a:rPr lang="en-US" dirty="0"/>
              <a:t>is a crucial step in the machine learning and statistical analysis pipeline.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involves transforming raw data into a clean and usable format, ensuring that the data is consistent, accurate, and relevant for the analysis.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Here are the key reasons why data preprocessing is essential: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Improving Data </a:t>
            </a:r>
            <a:r>
              <a:rPr lang="en-US" dirty="0" smtClean="0"/>
              <a:t>Quality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Enhancing Model </a:t>
            </a:r>
            <a:r>
              <a:rPr lang="en-US" b="1" dirty="0" smtClean="0"/>
              <a:t>Performance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Improving </a:t>
            </a:r>
            <a:r>
              <a:rPr lang="en-US" dirty="0" smtClean="0"/>
              <a:t>Interpretability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Ensuring Consistency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/>
              <a:t>Basic Steps in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49" y="1627190"/>
            <a:ext cx="6347714" cy="388077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Step 1 :</a:t>
            </a:r>
            <a:r>
              <a:rPr b="1" dirty="0" smtClean="0"/>
              <a:t>Import </a:t>
            </a:r>
            <a:r>
              <a:rPr b="1" dirty="0"/>
              <a:t>important libraries</a:t>
            </a:r>
          </a:p>
          <a:p>
            <a:r>
              <a:rPr lang="en-US" b="1" dirty="0" smtClean="0"/>
              <a:t>Step 2: </a:t>
            </a:r>
            <a:r>
              <a:rPr b="1" dirty="0" smtClean="0"/>
              <a:t>Import </a:t>
            </a:r>
            <a:r>
              <a:rPr b="1" dirty="0"/>
              <a:t>dataset</a:t>
            </a:r>
          </a:p>
          <a:p>
            <a:r>
              <a:rPr lang="en-US" b="1" dirty="0" smtClean="0"/>
              <a:t>Step 3: </a:t>
            </a:r>
            <a:r>
              <a:rPr b="1" dirty="0" smtClean="0"/>
              <a:t>Preprocessing</a:t>
            </a:r>
            <a:r>
              <a:rPr b="1" dirty="0"/>
              <a:t>:</a:t>
            </a:r>
          </a:p>
          <a:p>
            <a:pPr lvl="1"/>
            <a:r>
              <a:rPr lang="en-US" b="1" dirty="0" smtClean="0"/>
              <a:t>Find </a:t>
            </a:r>
            <a:r>
              <a:rPr lang="en-US" b="1" dirty="0"/>
              <a:t>duplicates</a:t>
            </a:r>
          </a:p>
          <a:p>
            <a:pPr lvl="1"/>
            <a:r>
              <a:rPr b="1" dirty="0" smtClean="0"/>
              <a:t>Missing </a:t>
            </a:r>
            <a:r>
              <a:rPr b="1" dirty="0"/>
              <a:t>value </a:t>
            </a:r>
            <a:r>
              <a:rPr b="1" dirty="0" smtClean="0"/>
              <a:t>treatment</a:t>
            </a:r>
            <a:endParaRPr lang="en-US" b="1" dirty="0" smtClean="0"/>
          </a:p>
          <a:p>
            <a:pPr lvl="1"/>
            <a:r>
              <a:rPr lang="en-US" b="1" dirty="0" smtClean="0"/>
              <a:t>Encoding</a:t>
            </a:r>
          </a:p>
          <a:p>
            <a:pPr lvl="1"/>
            <a:r>
              <a:rPr lang="en-US" b="1" dirty="0"/>
              <a:t>Feature scaling</a:t>
            </a:r>
          </a:p>
          <a:p>
            <a:pPr lvl="1"/>
            <a:r>
              <a:rPr b="1" dirty="0" smtClean="0"/>
              <a:t>Handling </a:t>
            </a:r>
            <a:r>
              <a:rPr b="1" dirty="0"/>
              <a:t>data types</a:t>
            </a:r>
          </a:p>
          <a:p>
            <a:pPr lvl="1"/>
            <a:r>
              <a:rPr b="1" dirty="0" smtClean="0"/>
              <a:t>Outlier </a:t>
            </a:r>
            <a:r>
              <a:rPr b="1" dirty="0"/>
              <a:t>treatment</a:t>
            </a:r>
          </a:p>
          <a:p>
            <a:pPr lvl="1"/>
            <a:r>
              <a:rPr b="1" dirty="0" smtClean="0"/>
              <a:t>Data </a:t>
            </a:r>
            <a:r>
              <a:rPr b="1" dirty="0" smtClean="0"/>
              <a:t>balancing</a:t>
            </a:r>
            <a:endParaRPr lang="en-US" b="1" dirty="0" smtClean="0"/>
          </a:p>
          <a:p>
            <a:pPr lvl="1"/>
            <a:r>
              <a:rPr lang="en-US" b="1" dirty="0" smtClean="0"/>
              <a:t>Feature Selection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55" y="507887"/>
            <a:ext cx="7549746" cy="60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3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Import Important Libraries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44" y="1444625"/>
            <a:ext cx="5272356" cy="47882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31" y="79332"/>
            <a:ext cx="6347713" cy="530268"/>
          </a:xfrm>
        </p:spPr>
        <p:txBody>
          <a:bodyPr>
            <a:normAutofit fontScale="90000"/>
          </a:bodyPr>
          <a:lstStyle/>
          <a:p>
            <a:r>
              <a:rPr b="1" dirty="0"/>
              <a:t>Purpose of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31" y="991991"/>
            <a:ext cx="7757439" cy="56154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b="1" dirty="0" err="1"/>
              <a:t>os</a:t>
            </a:r>
            <a:r>
              <a:rPr b="1" dirty="0"/>
              <a:t>:</a:t>
            </a:r>
            <a:r>
              <a:rPr dirty="0"/>
              <a:t> Functions to interact with the operating system</a:t>
            </a:r>
            <a:r>
              <a:rPr dirty="0" smtClean="0"/>
              <a:t>.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altLang="en-US" b="1" dirty="0"/>
              <a:t>Example Usage</a:t>
            </a:r>
            <a:r>
              <a:rPr lang="en-US" altLang="en-US" dirty="0"/>
              <a:t>: </a:t>
            </a:r>
            <a:r>
              <a:rPr lang="en-US" altLang="en-US" b="1" dirty="0" err="1"/>
              <a:t>os.listdir</a:t>
            </a:r>
            <a:r>
              <a:rPr lang="en-US" altLang="en-US" b="1" dirty="0"/>
              <a:t>()</a:t>
            </a:r>
            <a:r>
              <a:rPr lang="en-US" altLang="en-US" dirty="0"/>
              <a:t> lists files and directories in the specified path.</a:t>
            </a:r>
          </a:p>
          <a:p>
            <a:pPr>
              <a:lnSpc>
                <a:spcPct val="150000"/>
              </a:lnSpc>
            </a:pPr>
            <a:r>
              <a:rPr b="1" dirty="0" err="1" smtClean="0"/>
              <a:t>numpy</a:t>
            </a:r>
            <a:r>
              <a:rPr b="1" dirty="0"/>
              <a:t>:</a:t>
            </a:r>
            <a:r>
              <a:rPr dirty="0"/>
              <a:t> Support for arrays, matrices, and mathematical functions.</a:t>
            </a:r>
          </a:p>
          <a:p>
            <a:pPr>
              <a:lnSpc>
                <a:spcPct val="150000"/>
              </a:lnSpc>
            </a:pPr>
            <a:r>
              <a:rPr b="1" dirty="0"/>
              <a:t>pandas: </a:t>
            </a:r>
            <a:r>
              <a:rPr dirty="0"/>
              <a:t>Data manipulation and analysis.</a:t>
            </a:r>
          </a:p>
          <a:p>
            <a:pPr>
              <a:lnSpc>
                <a:spcPct val="150000"/>
              </a:lnSpc>
            </a:pPr>
            <a:r>
              <a:rPr b="1" dirty="0" err="1"/>
              <a:t>matplotlib</a:t>
            </a:r>
            <a:r>
              <a:rPr b="1" dirty="0"/>
              <a:t> &amp; </a:t>
            </a:r>
            <a:r>
              <a:rPr b="1" dirty="0" err="1"/>
              <a:t>seaborn</a:t>
            </a:r>
            <a:r>
              <a:rPr b="1" dirty="0"/>
              <a:t>: </a:t>
            </a:r>
            <a:r>
              <a:rPr dirty="0"/>
              <a:t>Data visualization.</a:t>
            </a:r>
          </a:p>
          <a:p>
            <a:pPr>
              <a:lnSpc>
                <a:spcPct val="150000"/>
              </a:lnSpc>
            </a:pPr>
            <a:r>
              <a:rPr b="1" dirty="0"/>
              <a:t>warnings:</a:t>
            </a:r>
            <a:r>
              <a:rPr dirty="0"/>
              <a:t> Manage warning messages in code</a:t>
            </a:r>
            <a:r>
              <a:rPr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altLang="en-US" b="1" dirty="0" err="1"/>
              <a:t>sns.set</a:t>
            </a:r>
            <a:r>
              <a:rPr lang="en-US" altLang="en-US" b="1" dirty="0" smtClean="0"/>
              <a:t>():</a:t>
            </a:r>
            <a:r>
              <a:rPr lang="en-US" altLang="en-US" dirty="0"/>
              <a:t> Automatically sets the </a:t>
            </a:r>
            <a:r>
              <a:rPr lang="en-US" altLang="en-US" dirty="0" err="1"/>
              <a:t>seaborn</a:t>
            </a:r>
            <a:r>
              <a:rPr lang="en-US" altLang="en-US" dirty="0"/>
              <a:t> plot aesthetics to a default theme</a:t>
            </a:r>
            <a:r>
              <a:rPr lang="en-US" alt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en-US" b="1" dirty="0"/>
              <a:t>%</a:t>
            </a:r>
            <a:r>
              <a:rPr lang="en-US" altLang="en-US" b="1" dirty="0" err="1"/>
              <a:t>matplotlib</a:t>
            </a:r>
            <a:r>
              <a:rPr lang="en-US" altLang="en-US" b="1" dirty="0"/>
              <a:t> </a:t>
            </a:r>
            <a:r>
              <a:rPr lang="en-US" altLang="en-US" b="1" dirty="0" smtClean="0"/>
              <a:t>inline: </a:t>
            </a:r>
            <a:r>
              <a:rPr lang="en-US" altLang="en-US" dirty="0" smtClean="0"/>
              <a:t>A </a:t>
            </a:r>
            <a:r>
              <a:rPr lang="en-US" altLang="en-US" dirty="0"/>
              <a:t>magic command used in </a:t>
            </a:r>
            <a:r>
              <a:rPr lang="en-US" altLang="en-US" dirty="0" err="1"/>
              <a:t>Jupyter</a:t>
            </a:r>
            <a:r>
              <a:rPr lang="en-US" altLang="en-US" dirty="0"/>
              <a:t> notebooks to display </a:t>
            </a:r>
            <a:r>
              <a:rPr lang="en-US" altLang="en-US" dirty="0" err="1"/>
              <a:t>matplotlib</a:t>
            </a:r>
            <a:r>
              <a:rPr lang="en-US" altLang="en-US" dirty="0"/>
              <a:t> plots inline within the notebook.</a:t>
            </a:r>
          </a:p>
          <a:p>
            <a:endParaRPr lang="en-US" altLang="en-US" b="1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06" y="1930400"/>
            <a:ext cx="7803629" cy="3530600"/>
          </a:xfrm>
        </p:spPr>
        <p:txBody>
          <a:bodyPr/>
          <a:lstStyle/>
          <a:p>
            <a:r>
              <a:rPr lang="en-US" b="1" dirty="0" smtClean="0"/>
              <a:t>Data = </a:t>
            </a:r>
            <a:r>
              <a:rPr lang="en-US" b="1" dirty="0" err="1" smtClean="0"/>
              <a:t>pd.read_csv</a:t>
            </a:r>
            <a:r>
              <a:rPr lang="en-US" b="1" dirty="0" smtClean="0"/>
              <a:t>(</a:t>
            </a:r>
            <a:r>
              <a:rPr lang="en-US" b="1" dirty="0" err="1" smtClean="0"/>
              <a:t>r"C</a:t>
            </a:r>
            <a:r>
              <a:rPr lang="en-US" b="1" dirty="0" smtClean="0"/>
              <a:t>:\\Desktop\\DataScience\\data.csv</a:t>
            </a:r>
            <a:r>
              <a:rPr lang="en-US" b="1" dirty="0"/>
              <a:t>“)</a:t>
            </a:r>
          </a:p>
          <a:p>
            <a:r>
              <a:rPr lang="en-US" b="1" dirty="0" smtClean="0"/>
              <a:t>Data = </a:t>
            </a:r>
            <a:r>
              <a:rPr lang="en-US" b="1" dirty="0" err="1" smtClean="0"/>
              <a:t>pd.read_csv</a:t>
            </a:r>
            <a:r>
              <a:rPr lang="en-US" b="1" dirty="0" smtClean="0"/>
              <a:t>(</a:t>
            </a:r>
            <a:r>
              <a:rPr lang="en-US" b="1" dirty="0" err="1" smtClean="0"/>
              <a:t>r"C</a:t>
            </a:r>
            <a:r>
              <a:rPr lang="en-US" b="1" dirty="0" smtClean="0"/>
              <a:t>:/Desktop/DataScience/data.csv</a:t>
            </a:r>
            <a:r>
              <a:rPr lang="en-US" b="1" dirty="0"/>
              <a:t>“)</a:t>
            </a:r>
          </a:p>
          <a:p>
            <a:r>
              <a:rPr lang="en-US" b="1" dirty="0" err="1" smtClean="0"/>
              <a:t>Data.head</a:t>
            </a:r>
            <a:r>
              <a:rPr lang="en-US" b="1" dirty="0"/>
              <a:t>()</a:t>
            </a:r>
          </a:p>
          <a:p>
            <a:r>
              <a:rPr lang="en-US" b="1" dirty="0" err="1" smtClean="0"/>
              <a:t>Data.tail</a:t>
            </a:r>
            <a:r>
              <a:rPr lang="en-US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78539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73" y="172866"/>
            <a:ext cx="7076702" cy="789159"/>
          </a:xfrm>
        </p:spPr>
        <p:txBody>
          <a:bodyPr/>
          <a:lstStyle/>
          <a:p>
            <a:pPr algn="ctr"/>
            <a:r>
              <a:rPr lang="en-US" b="1" dirty="0" smtClean="0"/>
              <a:t>Finding and Handling Duplicate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32" y="1228405"/>
            <a:ext cx="6918543" cy="3880773"/>
          </a:xfrm>
        </p:spPr>
        <p:txBody>
          <a:bodyPr/>
          <a:lstStyle/>
          <a:p>
            <a:r>
              <a:rPr lang="en-US" dirty="0" smtClean="0"/>
              <a:t>If there is any kind of repetition  of data in dataset than it is required to remove them for healthy analysis and prediction.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65" y="2313384"/>
            <a:ext cx="5714396" cy="7970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33" y="3296540"/>
            <a:ext cx="6918542" cy="230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62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161925"/>
            <a:ext cx="6347713" cy="5810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Handling Duplicates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87" y="1046524"/>
            <a:ext cx="3829050" cy="144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4" y="2799685"/>
            <a:ext cx="6219220" cy="300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701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67" y="1783697"/>
            <a:ext cx="7529752" cy="31139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Identifying missing values using `</a:t>
            </a:r>
            <a:r>
              <a:rPr sz="2000" b="1" dirty="0" err="1"/>
              <a:t>df.isnull</a:t>
            </a:r>
            <a:r>
              <a:rPr sz="2000" b="1" dirty="0"/>
              <a:t>().sum</a:t>
            </a:r>
            <a:r>
              <a:rPr sz="2000" b="1" dirty="0" smtClean="0"/>
              <a:t>()`.</a:t>
            </a:r>
            <a:endParaRPr lang="en-US" sz="2000" b="1" dirty="0" smtClean="0"/>
          </a:p>
          <a:p>
            <a:pPr>
              <a:lnSpc>
                <a:spcPct val="150000"/>
              </a:lnSpc>
            </a:pPr>
            <a:r>
              <a:rPr lang="en-US" sz="2000" b="1" dirty="0" smtClean="0"/>
              <a:t>In percentage form: </a:t>
            </a:r>
            <a:r>
              <a:rPr lang="en-US" sz="2000" b="1" dirty="0" err="1" smtClean="0"/>
              <a:t>df.isnull</a:t>
            </a:r>
            <a:r>
              <a:rPr lang="en-US" sz="2000" b="1" dirty="0" smtClean="0"/>
              <a:t>().sum()/</a:t>
            </a:r>
            <a:r>
              <a:rPr lang="en-US" sz="2000" b="1" dirty="0" err="1" smtClean="0"/>
              <a:t>len</a:t>
            </a:r>
            <a:r>
              <a:rPr lang="en-US" sz="2000" b="1" dirty="0" smtClean="0"/>
              <a:t>((</a:t>
            </a:r>
            <a:r>
              <a:rPr lang="en-US" sz="2000" b="1" dirty="0" err="1" smtClean="0"/>
              <a:t>df</a:t>
            </a:r>
            <a:r>
              <a:rPr lang="en-US" sz="2000" b="1" dirty="0" smtClean="0"/>
              <a:t>)*100</a:t>
            </a:r>
            <a:endParaRPr sz="2000" b="1" dirty="0"/>
          </a:p>
          <a:p>
            <a:pPr>
              <a:lnSpc>
                <a:spcPct val="150000"/>
              </a:lnSpc>
            </a:pPr>
            <a:r>
              <a:rPr sz="2000" dirty="0"/>
              <a:t>Techniques to handle missing values</a:t>
            </a:r>
            <a:r>
              <a:rPr sz="2000" dirty="0" smtClean="0"/>
              <a:t>: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/>
              <a:t>If any variable have missing value &gt; 25% , drop </a:t>
            </a:r>
            <a:r>
              <a:rPr lang="en-US" sz="2000" dirty="0" smtClean="0"/>
              <a:t>it.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data = data.drop([‘name of column’], axis = 1) </a:t>
            </a:r>
          </a:p>
          <a:p>
            <a:pPr>
              <a:lnSpc>
                <a:spcPct val="150000"/>
              </a:lnSpc>
            </a:pPr>
            <a:r>
              <a:rPr sz="2000" dirty="0" smtClean="0"/>
              <a:t>- </a:t>
            </a:r>
            <a:r>
              <a:rPr lang="en-US" sz="2000" dirty="0" smtClean="0"/>
              <a:t>Else </a:t>
            </a:r>
            <a:r>
              <a:rPr sz="2000" dirty="0" smtClean="0"/>
              <a:t>Imputing </a:t>
            </a:r>
            <a:r>
              <a:rPr sz="2000" dirty="0"/>
              <a:t>missing values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14" y="415632"/>
            <a:ext cx="6956122" cy="686658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Imputation Method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08460"/>
            <a:ext cx="8054236" cy="4065206"/>
          </a:xfrm>
        </p:spPr>
        <p:txBody>
          <a:bodyPr>
            <a:normAutofit fontScale="85000" lnSpcReduction="10000"/>
          </a:bodyPr>
          <a:lstStyle/>
          <a:p>
            <a:pPr marL="548640" lvl="2" indent="-274320">
              <a:lnSpc>
                <a:spcPct val="200000"/>
              </a:lnSpc>
              <a:buClr>
                <a:schemeClr val="accent3"/>
              </a:buClr>
              <a:buSzPct val="95000"/>
            </a:pPr>
            <a:r>
              <a:rPr lang="en-US" sz="2000" b="1" dirty="0" smtClean="0"/>
              <a:t>Various imputation Approaches are:</a:t>
            </a:r>
          </a:p>
          <a:p>
            <a:pPr marL="548640" lvl="2" indent="-274320">
              <a:lnSpc>
                <a:spcPct val="200000"/>
              </a:lnSpc>
              <a:buClr>
                <a:schemeClr val="accent3"/>
              </a:buClr>
              <a:buSzPct val="95000"/>
            </a:pPr>
            <a:r>
              <a:rPr lang="en-US" sz="2000" b="1" dirty="0" smtClean="0"/>
              <a:t>Simple Statistical Imputation:</a:t>
            </a:r>
          </a:p>
          <a:p>
            <a:pPr marL="1005840" lvl="3" indent="-274320">
              <a:lnSpc>
                <a:spcPct val="200000"/>
              </a:lnSpc>
              <a:buClr>
                <a:schemeClr val="accent3"/>
              </a:buClr>
              <a:buSzPct val="95000"/>
            </a:pPr>
            <a:r>
              <a:rPr lang="en-US" sz="1800" b="1" dirty="0" smtClean="0"/>
              <a:t>Mean: If no outliers.</a:t>
            </a:r>
          </a:p>
          <a:p>
            <a:pPr marL="1005840" lvl="3" indent="-274320">
              <a:lnSpc>
                <a:spcPct val="200000"/>
              </a:lnSpc>
              <a:buClr>
                <a:schemeClr val="accent3"/>
              </a:buClr>
              <a:buSzPct val="95000"/>
            </a:pPr>
            <a:r>
              <a:rPr lang="en-US" sz="1800" b="1" dirty="0" err="1" smtClean="0"/>
              <a:t>Median:If</a:t>
            </a:r>
            <a:r>
              <a:rPr lang="en-US" sz="1800" b="1" dirty="0" smtClean="0"/>
              <a:t> data have outliers.</a:t>
            </a:r>
          </a:p>
          <a:p>
            <a:pPr marL="1005840" lvl="3" indent="-274320">
              <a:lnSpc>
                <a:spcPct val="200000"/>
              </a:lnSpc>
              <a:buClr>
                <a:schemeClr val="accent3"/>
              </a:buClr>
              <a:buSzPct val="95000"/>
            </a:pPr>
            <a:r>
              <a:rPr lang="en-US" sz="1800" b="1" dirty="0" smtClean="0"/>
              <a:t>Mode : If variables are categorical type.</a:t>
            </a:r>
          </a:p>
          <a:p>
            <a:pPr marL="363538" lvl="3" indent="368300">
              <a:lnSpc>
                <a:spcPct val="200000"/>
              </a:lnSpc>
              <a:buClr>
                <a:schemeClr val="accent3"/>
              </a:buClr>
              <a:buSzPct val="95000"/>
            </a:pPr>
            <a:r>
              <a:rPr lang="en-US" sz="1800" b="1" dirty="0" smtClean="0"/>
              <a:t>KNN imputation:</a:t>
            </a:r>
            <a:r>
              <a:rPr lang="en-US" sz="1800" dirty="0"/>
              <a:t> Replaces missing values based on the mean or median of the nearest neighbors' </a:t>
            </a:r>
            <a:r>
              <a:rPr lang="en-US" sz="1800" dirty="0" smtClean="0"/>
              <a:t>values.</a:t>
            </a:r>
          </a:p>
          <a:p>
            <a:pPr marL="1005840" lvl="3" indent="-274320">
              <a:buClr>
                <a:schemeClr val="accent3"/>
              </a:buClr>
              <a:buSzPct val="95000"/>
            </a:pPr>
            <a:endParaRPr lang="en-US" sz="18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215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08" y="575083"/>
            <a:ext cx="6526824" cy="3608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17" y="4660765"/>
            <a:ext cx="6524386" cy="55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9058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26" y="798079"/>
            <a:ext cx="6702265" cy="445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55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66" y="525248"/>
            <a:ext cx="6794003" cy="3034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66" y="4289329"/>
            <a:ext cx="5616624" cy="131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92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44769"/>
          </a:xfrm>
        </p:spPr>
        <p:txBody>
          <a:bodyPr>
            <a:normAutofit/>
          </a:bodyPr>
          <a:lstStyle/>
          <a:p>
            <a:r>
              <a:rPr sz="3200" b="1" dirty="0"/>
              <a:t>Encoding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7569"/>
            <a:ext cx="8043958" cy="353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Encoding categorical variables is a critical step in data preprocessing for machine learning models, as most models require numerical input.</a:t>
            </a:r>
          </a:p>
          <a:p>
            <a:r>
              <a:rPr lang="en-US" sz="2000" b="1" dirty="0" smtClean="0"/>
              <a:t>There are two approach: </a:t>
            </a:r>
          </a:p>
          <a:p>
            <a:r>
              <a:rPr sz="2000" b="1" dirty="0" smtClean="0"/>
              <a:t>Label </a:t>
            </a:r>
            <a:r>
              <a:rPr sz="2000" b="1" dirty="0"/>
              <a:t>encoding </a:t>
            </a:r>
            <a:r>
              <a:rPr lang="en-US" sz="2000" b="1" dirty="0" smtClean="0"/>
              <a:t>and</a:t>
            </a:r>
            <a:r>
              <a:rPr sz="2000" b="1" dirty="0" smtClean="0"/>
              <a:t> </a:t>
            </a:r>
            <a:r>
              <a:rPr sz="2000" b="1" dirty="0"/>
              <a:t>one-hot encoding.</a:t>
            </a:r>
          </a:p>
          <a:p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749206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07" y="117231"/>
            <a:ext cx="6347713" cy="78823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Label Encoding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06" y="884798"/>
            <a:ext cx="7458453" cy="2045221"/>
          </a:xfrm>
        </p:spPr>
        <p:txBody>
          <a:bodyPr/>
          <a:lstStyle/>
          <a:p>
            <a:pPr marL="285750" lvl="1"/>
            <a:r>
              <a:rPr lang="en-US" sz="1800" dirty="0"/>
              <a:t>It converts each category in a categorical variable to a unique integer.</a:t>
            </a:r>
          </a:p>
          <a:p>
            <a:pPr marL="285750" lvl="1"/>
            <a:r>
              <a:rPr lang="en-US" sz="1800" b="1" dirty="0"/>
              <a:t>When to Use: </a:t>
            </a:r>
            <a:r>
              <a:rPr lang="en-US" sz="1800" dirty="0"/>
              <a:t>When the categorical variable has an ordinal relationship (e.g., low, medium, high).</a:t>
            </a:r>
          </a:p>
          <a:p>
            <a:pPr marL="285750" lvl="1"/>
            <a:r>
              <a:rPr lang="en-US" sz="1800" dirty="0"/>
              <a:t>When there are a limited number of categories.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18" y="2614246"/>
            <a:ext cx="5276443" cy="40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20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84" y="311092"/>
            <a:ext cx="6090132" cy="497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832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05" y="352826"/>
            <a:ext cx="5124450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28" y="3536835"/>
            <a:ext cx="3351917" cy="233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673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830" y="367671"/>
            <a:ext cx="6347713" cy="703385"/>
          </a:xfrm>
        </p:spPr>
        <p:txBody>
          <a:bodyPr/>
          <a:lstStyle/>
          <a:p>
            <a:pPr algn="ctr"/>
            <a:r>
              <a:rPr lang="en-US" b="1" dirty="0"/>
              <a:t>One-Hot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30" y="1269679"/>
            <a:ext cx="7939827" cy="2176906"/>
          </a:xfrm>
        </p:spPr>
        <p:txBody>
          <a:bodyPr/>
          <a:lstStyle/>
          <a:p>
            <a:pPr marL="269875" lvl="1" indent="-228600"/>
            <a:r>
              <a:rPr lang="en-US" sz="2000" dirty="0"/>
              <a:t>One-hot encoding converts categorical variables into a series of binary columns, each representing a unique category.</a:t>
            </a:r>
          </a:p>
          <a:p>
            <a:pPr marL="269875" lvl="1" indent="-228600"/>
            <a:r>
              <a:rPr lang="en-US" sz="2000" b="1" dirty="0"/>
              <a:t>When to Use</a:t>
            </a:r>
          </a:p>
          <a:p>
            <a:pPr marL="269875" lvl="2"/>
            <a:r>
              <a:rPr lang="en-US" sz="2000" dirty="0"/>
              <a:t>When the categorical variable is nominal (no intrinsic order).</a:t>
            </a:r>
          </a:p>
          <a:p>
            <a:pPr marL="269875" lvl="2"/>
            <a:r>
              <a:rPr lang="en-US" sz="2000" dirty="0"/>
              <a:t>When you want to avoid introducing ordinal relationships.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0" y="5054404"/>
            <a:ext cx="6796739" cy="8839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09" y="3645207"/>
            <a:ext cx="6820707" cy="95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61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604" y="769602"/>
            <a:ext cx="7828681" cy="17977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err="1"/>
              <a:t>pd.get_dummies</a:t>
            </a:r>
            <a:r>
              <a:rPr lang="en-US" b="1" dirty="0"/>
              <a:t>()</a:t>
            </a:r>
            <a:r>
              <a:rPr lang="en-US" dirty="0"/>
              <a:t> is a function in the pandas library in Python used for one-hot encoding categorical variables. </a:t>
            </a:r>
          </a:p>
          <a:p>
            <a:pPr>
              <a:lnSpc>
                <a:spcPct val="150000"/>
              </a:lnSpc>
            </a:pPr>
            <a:r>
              <a:rPr lang="en-US" dirty="0"/>
              <a:t>In one hot encoding usually drop one column.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13" y="2475585"/>
            <a:ext cx="6541499" cy="312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85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3" y="652366"/>
            <a:ext cx="7196042" cy="3356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510" y="4267565"/>
            <a:ext cx="2828782" cy="2110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4681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/>
              <a:t>Handling </a:t>
            </a:r>
            <a:r>
              <a:rPr sz="2800" b="1" dirty="0" smtClean="0"/>
              <a:t>Outlier</a:t>
            </a:r>
            <a:endParaRPr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1" y="1527544"/>
            <a:ext cx="7514494" cy="4251933"/>
          </a:xfrm>
        </p:spPr>
        <p:txBody>
          <a:bodyPr/>
          <a:lstStyle/>
          <a:p>
            <a:r>
              <a:rPr b="1" dirty="0" smtClean="0"/>
              <a:t>Identifying outliers:</a:t>
            </a:r>
            <a:endParaRPr lang="en-US" b="1" dirty="0" smtClean="0"/>
          </a:p>
          <a:p>
            <a:r>
              <a:rPr lang="en-US" dirty="0"/>
              <a:t>Visualization-Based Detection</a:t>
            </a:r>
            <a:r>
              <a:rPr lang="en-US" dirty="0" smtClean="0"/>
              <a:t>:</a:t>
            </a:r>
          </a:p>
          <a:p>
            <a:pPr lvl="1"/>
            <a:r>
              <a:rPr lang="en-US" sz="1800" dirty="0"/>
              <a:t>Box </a:t>
            </a:r>
            <a:r>
              <a:rPr lang="en-US" sz="1800" dirty="0" smtClean="0"/>
              <a:t>plots</a:t>
            </a:r>
          </a:p>
          <a:p>
            <a:pPr lvl="1"/>
            <a:r>
              <a:rPr lang="en-US" sz="1800" dirty="0" smtClean="0"/>
              <a:t>Histograms with normal distribution curve</a:t>
            </a:r>
            <a:endParaRPr lang="en-US" sz="1800" b="1" dirty="0" smtClean="0"/>
          </a:p>
          <a:p>
            <a:endParaRPr lang="en-US" b="1" dirty="0" smtClean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 rot="10800000" flipV="1">
            <a:off x="199291" y="2874456"/>
            <a:ext cx="8492646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Statistical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Methods: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Z-Score (standard deviation approach)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IQR (Interquartile Range):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Values below Q1−1.5×IQR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 smtClean="0">
                <a:latin typeface="Arial" panose="020B0604020202020204" pitchFamily="34" charset="0"/>
              </a:rPr>
              <a:t>Values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above Q3+1.5×IQR.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680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Approaches to Handle Outliers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97127"/>
            <a:ext cx="6347713" cy="46159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Capping method: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Using IQR or Z score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Transformation Approach: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Log Transformation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Square root Transformation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Box- Cox Transformation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Winsorization Method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2469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726" y="258872"/>
            <a:ext cx="6347713" cy="1320800"/>
          </a:xfrm>
        </p:spPr>
        <p:txBody>
          <a:bodyPr/>
          <a:lstStyle/>
          <a:p>
            <a:pPr algn="ctr"/>
            <a:r>
              <a:rPr lang="en-US" b="1" dirty="0" smtClean="0"/>
              <a:t>Finding Outliers Using IQR method</a:t>
            </a:r>
            <a:endParaRPr lang="en-US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5" y="1579672"/>
            <a:ext cx="7018247" cy="440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0835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50" y="482701"/>
            <a:ext cx="6588156" cy="394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21" y="4577914"/>
            <a:ext cx="6643528" cy="144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837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94" y="922431"/>
            <a:ext cx="5473285" cy="239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0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7" y="83507"/>
            <a:ext cx="6825260" cy="140709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Handling </a:t>
            </a:r>
            <a:r>
              <a:rPr lang="en-US" sz="3200" b="1" dirty="0"/>
              <a:t>outlier using </a:t>
            </a:r>
            <a:r>
              <a:rPr lang="en-US" sz="3200" b="1" dirty="0" smtClean="0"/>
              <a:t>capping by IQR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82" y="1490597"/>
            <a:ext cx="7113939" cy="356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708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039" y="106651"/>
            <a:ext cx="6347713" cy="660400"/>
          </a:xfrm>
        </p:spPr>
        <p:txBody>
          <a:bodyPr/>
          <a:lstStyle/>
          <a:p>
            <a:pPr algn="ctr"/>
            <a:r>
              <a:rPr lang="en-US" b="1" dirty="0" smtClean="0"/>
              <a:t>Distribution </a:t>
            </a:r>
            <a:r>
              <a:rPr lang="en-US" b="1" dirty="0"/>
              <a:t>and box plot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" y="3573083"/>
            <a:ext cx="8596139" cy="309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1692"/>
            <a:ext cx="7234857" cy="2365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011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720" y="363427"/>
            <a:ext cx="6343672" cy="7098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Handling outlier using capping by </a:t>
            </a:r>
            <a:r>
              <a:rPr lang="en-US" b="1" dirty="0" smtClean="0"/>
              <a:t>Z </a:t>
            </a:r>
            <a:r>
              <a:rPr lang="en-US" b="1" dirty="0"/>
              <a:t>score: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20" y="1765241"/>
            <a:ext cx="6345260" cy="479468"/>
          </a:xfrm>
        </p:spPr>
        <p:txBody>
          <a:bodyPr/>
          <a:lstStyle/>
          <a:p>
            <a:r>
              <a:rPr lang="en-US" b="1" dirty="0"/>
              <a:t>Step1: find mean and standard deviation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0" y="2580361"/>
            <a:ext cx="6912768" cy="323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567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30" y="663126"/>
            <a:ext cx="7225800" cy="1854606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Step 2: Find </a:t>
            </a:r>
            <a:r>
              <a:rPr lang="en-US" b="1" dirty="0" smtClean="0"/>
              <a:t>minimum and maximum based on normal distribution parameters to identify </a:t>
            </a:r>
            <a:r>
              <a:rPr lang="en-US" b="1" dirty="0"/>
              <a:t>an outlier</a:t>
            </a:r>
          </a:p>
          <a:p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0" y="2083643"/>
            <a:ext cx="7612125" cy="197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6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7519" y="478046"/>
            <a:ext cx="1874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Step 3:</a:t>
            </a:r>
            <a:r>
              <a:rPr lang="en-US" dirty="0"/>
              <a:t> </a:t>
            </a:r>
            <a:r>
              <a:rPr lang="en-US" b="1" dirty="0" smtClean="0"/>
              <a:t>Capping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" y="1407091"/>
            <a:ext cx="7468678" cy="31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201" y="590780"/>
            <a:ext cx="500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To view the outliers based on mini or max</a:t>
            </a:r>
            <a:endParaRPr lang="en-US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38" y="1547380"/>
            <a:ext cx="6605843" cy="242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068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502" y="372302"/>
            <a:ext cx="6345260" cy="52957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To  Calculate </a:t>
            </a:r>
            <a:r>
              <a:rPr lang="en-US" sz="2400" b="1" dirty="0"/>
              <a:t>Z-score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2" y="1365336"/>
            <a:ext cx="7224627" cy="3256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72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416" y="635348"/>
            <a:ext cx="7002049" cy="491995"/>
          </a:xfrm>
        </p:spPr>
        <p:txBody>
          <a:bodyPr>
            <a:noAutofit/>
          </a:bodyPr>
          <a:lstStyle/>
          <a:p>
            <a:r>
              <a:rPr lang="en-US" sz="2800" b="1" dirty="0"/>
              <a:t>To view the outliers based on </a:t>
            </a:r>
            <a:r>
              <a:rPr lang="en-US" sz="2800" dirty="0" smtClean="0"/>
              <a:t>Z-score</a:t>
            </a:r>
            <a:r>
              <a:rPr lang="en-US" sz="2800" dirty="0"/>
              <a:t>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75" y="1741119"/>
            <a:ext cx="6307137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089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46136"/>
            <a:ext cx="7828767" cy="15574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To visualize  the outliers </a:t>
            </a:r>
            <a:r>
              <a:rPr lang="en-US" b="1" dirty="0" smtClean="0"/>
              <a:t>by distribution plot </a:t>
            </a:r>
            <a:r>
              <a:rPr lang="en-US" b="1" dirty="0"/>
              <a:t>and </a:t>
            </a:r>
            <a:r>
              <a:rPr lang="en-US" b="1" dirty="0" smtClean="0"/>
              <a:t>boxplot</a:t>
            </a:r>
            <a:r>
              <a:rPr lang="en-US" b="1" dirty="0"/>
              <a:t>: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22" y="3336080"/>
            <a:ext cx="7458285" cy="3020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084" y="1252907"/>
            <a:ext cx="5486400" cy="1705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381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43003"/>
          </a:xfrm>
        </p:spPr>
        <p:txBody>
          <a:bodyPr/>
          <a:lstStyle/>
          <a:p>
            <a:r>
              <a:rPr lang="en-US" b="1" dirty="0" smtClean="0"/>
              <a:t>Log Transformation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61" y="1621970"/>
            <a:ext cx="7653402" cy="2862348"/>
          </a:xfrm>
        </p:spPr>
        <p:txBody>
          <a:bodyPr/>
          <a:lstStyle/>
          <a:p>
            <a:r>
              <a:rPr lang="en-US" dirty="0"/>
              <a:t>Logarithmic transformation is often used to reduce the effect of large outliers by compressing the range of data values.</a:t>
            </a:r>
          </a:p>
          <a:p>
            <a:r>
              <a:rPr lang="en-US" b="1" dirty="0"/>
              <a:t>Formula:</a:t>
            </a:r>
          </a:p>
          <a:p>
            <a:r>
              <a:rPr lang="en-US" dirty="0"/>
              <a:t>y=log⁡(</a:t>
            </a:r>
            <a:r>
              <a:rPr lang="en-US" dirty="0" smtClean="0"/>
              <a:t>x)</a:t>
            </a:r>
            <a:endParaRPr lang="en-US" dirty="0"/>
          </a:p>
          <a:p>
            <a:r>
              <a:rPr lang="en-US" dirty="0"/>
              <a:t>Works best when all values are positive (since log of zero or negative values is undefined).</a:t>
            </a:r>
          </a:p>
          <a:p>
            <a:r>
              <a:rPr lang="en-US" dirty="0"/>
              <a:t>Helps stabilize variance and normalize skewed distributions.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0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235"/>
            <a:ext cx="7442045" cy="302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9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Square Root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761" y="1734705"/>
            <a:ext cx="7156538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Square root transformation reduces the magnitude of large values but less aggressively than logarithmic transformation.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It </a:t>
            </a:r>
            <a:r>
              <a:rPr lang="en-US" sz="2000" dirty="0"/>
              <a:t>works with zero values but not negatives.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Formula: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y=</a:t>
            </a:r>
            <a:r>
              <a:rPr lang="en-US" sz="2000" dirty="0" err="1" smtClean="0"/>
              <a:t>sqrt</a:t>
            </a:r>
            <a:r>
              <a:rPr lang="en-US" sz="2000" dirty="0" smtClean="0"/>
              <a:t>{x}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8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452"/>
            <a:ext cx="7436324" cy="33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Box-Cox Transformation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99" y="1684601"/>
            <a:ext cx="7620001" cy="38807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/>
              <a:t>Box-Cox transformation</a:t>
            </a:r>
            <a:r>
              <a:rPr lang="en-US" dirty="0"/>
              <a:t> is a family of power transformations that stabilize variance, make the data more normal-like, and reduce the impact of outliers.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Unlike </a:t>
            </a:r>
            <a:r>
              <a:rPr lang="en-US" dirty="0"/>
              <a:t>logarithmic or square root transformations, the Box-Cox method includes an adjustable parameter (</a:t>
            </a:r>
            <a:r>
              <a:rPr lang="en-US" dirty="0" smtClean="0"/>
              <a:t>λ </a:t>
            </a:r>
            <a:r>
              <a:rPr lang="en-US" dirty="0"/>
              <a:t>that determines the transformation applied</a:t>
            </a:r>
            <a:r>
              <a:rPr lang="en-US" dirty="0" smtClean="0"/>
              <a:t>.</a:t>
            </a:r>
          </a:p>
          <a:p>
            <a:r>
              <a:rPr lang="en-US" b="1" dirty="0"/>
              <a:t>When to Use</a:t>
            </a:r>
          </a:p>
          <a:p>
            <a:r>
              <a:rPr lang="en-US" dirty="0"/>
              <a:t>When data is not normally distributed and transformations like log or square root are insufficient.</a:t>
            </a:r>
          </a:p>
          <a:p>
            <a:r>
              <a:rPr lang="en-US" dirty="0"/>
              <a:t>To stabilize variance across different scales of data.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8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80" y="281894"/>
            <a:ext cx="6566022" cy="440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2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65" y="975933"/>
            <a:ext cx="6212997" cy="400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2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Winsorization: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078" y="1930400"/>
            <a:ext cx="7432111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Winsorization replaces extreme values with specified percentiles to limit the influence of outliers while retaining the dataset's size.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Steps:</a:t>
            </a:r>
          </a:p>
          <a:p>
            <a:pPr>
              <a:lnSpc>
                <a:spcPct val="150000"/>
              </a:lnSpc>
            </a:pPr>
            <a:r>
              <a:rPr lang="en-US" dirty="0"/>
              <a:t>Define lower and upper limits (e.g., 5th and 95th percentiles).</a:t>
            </a:r>
          </a:p>
          <a:p>
            <a:pPr>
              <a:lnSpc>
                <a:spcPct val="150000"/>
              </a:lnSpc>
            </a:pPr>
            <a:r>
              <a:rPr lang="en-US" dirty="0"/>
              <a:t>Replace values below the lower limit with the 5th percentile and above the upper limit with the 95th percentile.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46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57" y="1120592"/>
            <a:ext cx="6861736" cy="337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5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75" y="1544480"/>
            <a:ext cx="8116780" cy="3530600"/>
          </a:xfrm>
        </p:spPr>
        <p:txBody>
          <a:bodyPr/>
          <a:lstStyle/>
          <a:p>
            <a:r>
              <a:rPr dirty="0"/>
              <a:t>Importance of scaling features.</a:t>
            </a:r>
          </a:p>
          <a:p>
            <a:r>
              <a:rPr b="1" dirty="0"/>
              <a:t>Methods:</a:t>
            </a:r>
            <a:r>
              <a:rPr dirty="0"/>
              <a:t> Standard Scaler, Min-Max Scaler, Normalizer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We do not do feature scaling with dependent variables</a:t>
            </a:r>
            <a:r>
              <a:rPr lang="en-US" dirty="0" smtClean="0"/>
              <a:t>.</a:t>
            </a:r>
          </a:p>
          <a:p>
            <a:r>
              <a:rPr lang="en-US" dirty="0"/>
              <a:t>So </a:t>
            </a:r>
            <a:r>
              <a:rPr lang="en-US" dirty="0" err="1"/>
              <a:t>Ist</a:t>
            </a:r>
            <a:r>
              <a:rPr lang="en-US" dirty="0"/>
              <a:t> separate the data into independent and dependent variable. 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200" y="4011913"/>
            <a:ext cx="4110934" cy="54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522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818" y="275572"/>
            <a:ext cx="3949875" cy="668055"/>
          </a:xfrm>
        </p:spPr>
        <p:txBody>
          <a:bodyPr/>
          <a:lstStyle/>
          <a:p>
            <a:pPr algn="ctr"/>
            <a:r>
              <a:rPr lang="en-US" b="1" dirty="0"/>
              <a:t>Standardization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94" y="1411962"/>
            <a:ext cx="7753525" cy="126860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Scaling features to have zero mean and unit variance. This is particularly important for algorithms that rely on distance measures, such as SVM and k-NN.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13" y="3345686"/>
            <a:ext cx="5904656" cy="1379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46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to Use Standard Scaler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657" y="1533742"/>
            <a:ext cx="8692978" cy="4904635"/>
          </a:xfrm>
        </p:spPr>
        <p:txBody>
          <a:bodyPr>
            <a:normAutofit/>
          </a:bodyPr>
          <a:lstStyle/>
          <a:p>
            <a:pPr marL="285750" lvl="1"/>
            <a:r>
              <a:rPr lang="en-US" sz="2000" dirty="0"/>
              <a:t>The </a:t>
            </a:r>
            <a:r>
              <a:rPr lang="en-US" sz="2000" b="1" dirty="0"/>
              <a:t>Standard Scaler </a:t>
            </a:r>
            <a:r>
              <a:rPr lang="en-US" sz="2000" dirty="0"/>
              <a:t>standardizes features by removing the mean and scaling to unit variance. </a:t>
            </a:r>
          </a:p>
          <a:p>
            <a:pPr marL="285750" lvl="1"/>
            <a:r>
              <a:rPr lang="en-US" sz="2000" dirty="0"/>
              <a:t>Where "Remove the mean" means that for each feature in your dataset, you subtract the mean (average) value of that feature from all the values of that feature. </a:t>
            </a:r>
          </a:p>
          <a:p>
            <a:pPr marL="285750" lvl="1"/>
            <a:r>
              <a:rPr lang="en-US" sz="2000" dirty="0"/>
              <a:t>This process centers the feature around zero, ensuring that the transformed feature has a mean of zero.</a:t>
            </a:r>
          </a:p>
          <a:p>
            <a:pPr marL="285750" lvl="1"/>
            <a:r>
              <a:rPr lang="en-US" sz="2000" dirty="0"/>
              <a:t>This means each feature will have a mean of ‘0’ and a standard deviation of 1. </a:t>
            </a:r>
          </a:p>
          <a:p>
            <a:pPr marL="285750" lvl="1"/>
            <a:r>
              <a:rPr lang="en-US" sz="2000" dirty="0"/>
              <a:t>This ensures that each feature contributes equally to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39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2816"/>
            <a:ext cx="8580242" cy="1844805"/>
          </a:xfrm>
        </p:spPr>
        <p:txBody>
          <a:bodyPr/>
          <a:lstStyle/>
          <a:p>
            <a:pPr lvl="1"/>
            <a:r>
              <a:rPr lang="en-US" sz="2000" dirty="0"/>
              <a:t>When your dataset contains features with different units (e.g., age in years, income in dollars, and height in centimeters), </a:t>
            </a:r>
            <a:r>
              <a:rPr lang="en-US" sz="2000" dirty="0" err="1"/>
              <a:t>StandardScaler</a:t>
            </a:r>
            <a:r>
              <a:rPr lang="en-US" sz="2000" dirty="0"/>
              <a:t> helps to bring all features to the same scale.</a:t>
            </a:r>
          </a:p>
          <a:p>
            <a:pPr lvl="1"/>
            <a:r>
              <a:rPr lang="en-US" sz="2000" dirty="0"/>
              <a:t>You are using algorithms that assume normal distribution of features.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513" y="2739285"/>
            <a:ext cx="3620216" cy="14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7199" y="4380099"/>
            <a:ext cx="2578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 = </a:t>
            </a:r>
            <a:r>
              <a:rPr lang="en-US" dirty="0" err="1" smtClean="0"/>
              <a:t>np.array</a:t>
            </a:r>
            <a:r>
              <a:rPr lang="en-US" dirty="0" smtClean="0"/>
              <a:t>([[</a:t>
            </a:r>
            <a:r>
              <a:rPr lang="en-US" dirty="0"/>
              <a:t>1, 2, 3], </a:t>
            </a:r>
            <a:endParaRPr lang="en-US" dirty="0" smtClean="0"/>
          </a:p>
          <a:p>
            <a:r>
              <a:rPr lang="en-US" dirty="0" smtClean="0"/>
              <a:t>	         [</a:t>
            </a:r>
            <a:r>
              <a:rPr lang="en-US" dirty="0"/>
              <a:t>4, 5, 6], </a:t>
            </a:r>
            <a:endParaRPr lang="en-US" dirty="0" smtClean="0"/>
          </a:p>
          <a:p>
            <a:r>
              <a:rPr lang="en-US" dirty="0" smtClean="0"/>
              <a:t>	         [</a:t>
            </a:r>
            <a:r>
              <a:rPr lang="en-US" dirty="0"/>
              <a:t>7, 8, 9]])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65498" y="5860003"/>
            <a:ext cx="5668380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cs typeface="Arial" pitchFamily="34" charset="0"/>
              </a:rPr>
              <a:t>X_scaled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cs typeface="Arial" pitchFamily="34" charset="0"/>
              </a:rPr>
              <a:t> = [[-1.22474487 -1.22474487 -1.22474487]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cs typeface="Arial" pitchFamily="34" charset="0"/>
              </a:rPr>
              <a:t>                      [ 0. 0. 0. ]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cs typeface="Arial" pitchFamily="34" charset="0"/>
              </a:rPr>
              <a:t>                  [ 1.22474487 1.22474487 1.22474487]]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280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to Use Standard Scaler: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96788"/>
            <a:ext cx="8931058" cy="4412641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Algorithms that Assume Normal Distribution</a:t>
            </a:r>
            <a:r>
              <a:rPr lang="en-US" dirty="0"/>
              <a:t>:</a:t>
            </a:r>
          </a:p>
          <a:p>
            <a:endParaRPr lang="en-US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Linear Regression</a:t>
            </a:r>
            <a:r>
              <a:rPr lang="en-US" dirty="0"/>
              <a:t>: Assumes that the relationship between the input and output is linear.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Logistic Regression</a:t>
            </a:r>
            <a:r>
              <a:rPr lang="en-US" dirty="0"/>
              <a:t>: Assumes a linear relationship between the input features and the log-odds of the target.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Linear Discriminant Analysis (LDA)</a:t>
            </a:r>
            <a:r>
              <a:rPr lang="en-US" dirty="0"/>
              <a:t>: Assumes data is normally distributed within each class.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Support Vector Machines (SVM)</a:t>
            </a:r>
            <a:r>
              <a:rPr lang="en-US" dirty="0"/>
              <a:t>: Assumes features have similar scales for optimal performance.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Principal Component Analysis (PCA)</a:t>
            </a:r>
            <a:r>
              <a:rPr lang="en-US" dirty="0"/>
              <a:t>: Assumes the data is centered around the origin for variance maximization.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K-Means Clustering</a:t>
            </a:r>
            <a:r>
              <a:rPr lang="en-US" dirty="0"/>
              <a:t>: Assumes features are on similar scales for effective distance calculation.</a:t>
            </a:r>
          </a:p>
        </p:txBody>
      </p:sp>
    </p:spTree>
    <p:extLst>
      <p:ext uri="{BB962C8B-B14F-4D97-AF65-F5344CB8AC3E}">
        <p14:creationId xmlns:p14="http://schemas.microsoft.com/office/powerpoint/2010/main" val="37431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849" y="217233"/>
            <a:ext cx="2680398" cy="70986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Normalizer</a:t>
            </a:r>
            <a:r>
              <a:rPr lang="en-US" b="1" dirty="0"/>
              <a:t>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21" y="1048706"/>
            <a:ext cx="7558426" cy="3836443"/>
          </a:xfrm>
        </p:spPr>
        <p:txBody>
          <a:bodyPr>
            <a:normAutofit/>
          </a:bodyPr>
          <a:lstStyle/>
          <a:p>
            <a:pPr marL="355600" lvl="1" indent="-268288"/>
            <a:r>
              <a:rPr lang="en-US" sz="2000" dirty="0"/>
              <a:t>Normalizer is suitable when the goal is to scale individual samples to have unit norm(length). </a:t>
            </a:r>
          </a:p>
          <a:p>
            <a:pPr marL="355600" lvl="1" indent="-268288"/>
            <a:r>
              <a:rPr lang="en-US" sz="2000" dirty="0"/>
              <a:t>This technique is useful when the </a:t>
            </a:r>
            <a:r>
              <a:rPr lang="en-US" sz="2000" b="1" dirty="0"/>
              <a:t>direction of the data points</a:t>
            </a:r>
            <a:r>
              <a:rPr lang="en-US" sz="2000" dirty="0"/>
              <a:t> is more important than the magnitude of their distance from the origin. </a:t>
            </a:r>
          </a:p>
          <a:p>
            <a:pPr marL="355600" lvl="2" indent="-268288"/>
            <a:r>
              <a:rPr lang="en-US" dirty="0"/>
              <a:t>Normalizing the data to unit norm ensures that the focus is on the direction of each sample.</a:t>
            </a:r>
          </a:p>
          <a:p>
            <a:pPr marL="629920" lvl="3" indent="-268288"/>
            <a:r>
              <a:rPr lang="pt-BR" b="1" dirty="0"/>
              <a:t>Sample data </a:t>
            </a:r>
            <a:r>
              <a:rPr lang="pt-BR" dirty="0"/>
              <a:t>X = [[3, 4], [1, 2], [4, 5]]</a:t>
            </a:r>
            <a:endParaRPr lang="en-US" dirty="0"/>
          </a:p>
          <a:p>
            <a:pPr lvl="1"/>
            <a:r>
              <a:rPr lang="en-US" sz="1800" b="1" dirty="0"/>
              <a:t>Normalized data: means sum of data point(3,4 = 1).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pt-BR" sz="2000" dirty="0"/>
              <a:t> X = </a:t>
            </a:r>
            <a:r>
              <a:rPr lang="en-US" sz="2000" dirty="0"/>
              <a:t>[[0.6 0.8 ] [0.4472136 0.89442719] [0.62469505 0.78086881]]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49" y="5060775"/>
            <a:ext cx="6430963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715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32" y="33403"/>
            <a:ext cx="6347713" cy="6805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When to </a:t>
            </a:r>
            <a:r>
              <a:rPr lang="en-US" b="1" dirty="0" smtClean="0"/>
              <a:t>Use </a:t>
            </a:r>
            <a:r>
              <a:rPr lang="en-US" b="1" dirty="0"/>
              <a:t>Normalizer: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9556"/>
            <a:ext cx="7240044" cy="558660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Feature Comparison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Cosine Similarity</a:t>
            </a:r>
            <a:r>
              <a:rPr lang="en-US" sz="1800" dirty="0"/>
              <a:t>: When you want to measure the cosine similarity between samples. By normalizing, you ensure that the angle between vectors becomes the metric rather than their magnitude.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Clustering</a:t>
            </a:r>
            <a:r>
              <a:rPr lang="en-US" sz="1800" dirty="0"/>
              <a:t>: When using clustering algorithms like K-Means, normalized data can improve the convergence speed and cluster quality, especially if the data has different scales.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Nearest Neighbor</a:t>
            </a:r>
            <a:r>
              <a:rPr lang="en-US" sz="1800" dirty="0"/>
              <a:t>: When you want to perform k-nearest neighbors (KNN) classification or regression, normalizing ensures that all features contribute equally to the distance calculations.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45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291" y="720097"/>
            <a:ext cx="7194117" cy="514208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4 </a:t>
            </a:r>
            <a:r>
              <a:rPr lang="en-US" sz="1900" b="1" dirty="0" smtClean="0"/>
              <a:t>Sparse </a:t>
            </a:r>
            <a:r>
              <a:rPr lang="en-US" sz="1900" b="1" dirty="0"/>
              <a:t>Data</a:t>
            </a:r>
            <a:r>
              <a:rPr lang="en-US" sz="1900" dirty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/>
              <a:t>When working with sparse data (data with a lot of zeros), normalizing can make algorithms like Support Vector Machines (SVM) and Principal Component Analysis (PCA) perform better by ensuring that features with more non-zero values don’t dominate.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 smtClean="0"/>
              <a:t>5 Text </a:t>
            </a:r>
            <a:r>
              <a:rPr lang="en-US" sz="1900" b="1" dirty="0"/>
              <a:t>Data</a:t>
            </a:r>
            <a:r>
              <a:rPr lang="en-US" sz="1900" dirty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b="1" dirty="0"/>
              <a:t>TF-IDF</a:t>
            </a:r>
            <a:r>
              <a:rPr lang="en-US" sz="1900" dirty="0"/>
              <a:t>: In Natural Language Processing (NLP), TF-IDF vectors are often normalized to have unit norm to account for the difference in document lengths and to focus on the relative importance of terms.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68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49" y="1230183"/>
            <a:ext cx="7264966" cy="182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099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9" y="309118"/>
            <a:ext cx="6513535" cy="709865"/>
          </a:xfrm>
        </p:spPr>
        <p:txBody>
          <a:bodyPr>
            <a:normAutofit fontScale="90000"/>
          </a:bodyPr>
          <a:lstStyle/>
          <a:p>
            <a:pPr marL="644525" lvl="2" indent="-461963" algn="l"/>
            <a:r>
              <a:rPr lang="en-US" sz="2800" b="1" dirty="0">
                <a:solidFill>
                  <a:schemeClr val="tx1"/>
                </a:solidFill>
              </a:rPr>
              <a:t>Concept of </a:t>
            </a:r>
            <a:r>
              <a:rPr lang="en-US" sz="2800" b="1" dirty="0" err="1">
                <a:solidFill>
                  <a:schemeClr val="tx1"/>
                </a:solidFill>
              </a:rPr>
              <a:t>fit_transform</a:t>
            </a:r>
            <a:r>
              <a:rPr lang="en-US" sz="2800" b="1" dirty="0">
                <a:solidFill>
                  <a:schemeClr val="tx1"/>
                </a:solidFill>
              </a:rPr>
              <a:t> and transform: </a:t>
            </a:r>
            <a:r>
              <a:rPr lang="en-US" sz="2800" b="1" dirty="0">
                <a:solidFill>
                  <a:schemeClr val="bg1"/>
                </a:solidFill>
              </a:rPr>
              <a:t/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When to Use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889" y="1224071"/>
            <a:ext cx="7377832" cy="5239359"/>
          </a:xfrm>
        </p:spPr>
        <p:txBody>
          <a:bodyPr>
            <a:normAutofit/>
          </a:bodyPr>
          <a:lstStyle/>
          <a:p>
            <a:pPr marL="174625" lvl="1" indent="282575"/>
            <a:r>
              <a:rPr lang="en-US" sz="2000" b="1" dirty="0" err="1"/>
              <a:t>fit_transform</a:t>
            </a:r>
            <a:r>
              <a:rPr lang="en-US" sz="2000" dirty="0"/>
              <a:t>: Use this on your training data to compute the necessary parameters(mean, standard deviation) and apply the transformation in one step.</a:t>
            </a:r>
          </a:p>
          <a:p>
            <a:pPr marL="174625" lvl="2" indent="282575"/>
            <a:r>
              <a:rPr lang="en-US" sz="2000" b="1" dirty="0"/>
              <a:t>fit</a:t>
            </a:r>
            <a:r>
              <a:rPr lang="en-US" sz="2000" dirty="0"/>
              <a:t> the preprocessing transformers on the training data to learn the necessary parameters.</a:t>
            </a:r>
          </a:p>
          <a:p>
            <a:pPr marL="174625" lvl="2" indent="282575"/>
            <a:r>
              <a:rPr lang="en-US" sz="2000" b="1" dirty="0"/>
              <a:t>transform</a:t>
            </a:r>
            <a:r>
              <a:rPr lang="en-US" sz="2000" dirty="0"/>
              <a:t> the training data using the fitted transformers.</a:t>
            </a:r>
          </a:p>
          <a:p>
            <a:pPr marL="174625" lvl="2" indent="282575">
              <a:buNone/>
            </a:pPr>
            <a:endParaRPr lang="en-US" sz="2000" dirty="0"/>
          </a:p>
          <a:p>
            <a:pPr marL="174625" lvl="1" indent="282575"/>
            <a:r>
              <a:rPr lang="en-US" sz="2000" b="1" dirty="0"/>
              <a:t>transform</a:t>
            </a:r>
            <a:r>
              <a:rPr lang="en-US" sz="2000" dirty="0"/>
              <a:t>: Use this on your test data (or any new data) to apply the transformation using the parameters computed from the training data.</a:t>
            </a:r>
          </a:p>
          <a:p>
            <a:pPr marL="174625" lvl="1" indent="282575"/>
            <a:r>
              <a:rPr lang="en-US" sz="2000" dirty="0"/>
              <a:t>For test data we do not use  ‘fit’ and we are using the same parameters as calculated for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80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data types using `</a:t>
            </a:r>
            <a:r>
              <a:rPr lang="en-US" b="1" dirty="0" err="1"/>
              <a:t>pd.to_numeric</a:t>
            </a:r>
            <a:r>
              <a:rPr lang="en-US" dirty="0"/>
              <a:t>`.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9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Common Data Types and Their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87" y="2201102"/>
            <a:ext cx="8743166" cy="1932487"/>
          </a:xfrm>
        </p:spPr>
        <p:txBody>
          <a:bodyPr/>
          <a:lstStyle/>
          <a:p>
            <a:r>
              <a:rPr lang="en-US" sz="2000" b="1" dirty="0"/>
              <a:t>Numerical Data</a:t>
            </a:r>
            <a:r>
              <a:rPr lang="en-US" sz="2000" dirty="0"/>
              <a:t>:</a:t>
            </a:r>
          </a:p>
          <a:p>
            <a:pPr lvl="1"/>
            <a:r>
              <a:rPr lang="en-US" sz="1800" b="1" dirty="0"/>
              <a:t>Integers</a:t>
            </a:r>
            <a:r>
              <a:rPr lang="en-US" sz="1800" dirty="0"/>
              <a:t>: Whole numbers.</a:t>
            </a:r>
          </a:p>
          <a:p>
            <a:pPr lvl="1"/>
            <a:r>
              <a:rPr lang="en-US" sz="1800" b="1" dirty="0"/>
              <a:t>Floats</a:t>
            </a:r>
            <a:r>
              <a:rPr lang="en-US" sz="1800" dirty="0"/>
              <a:t>: Decimal numbers.</a:t>
            </a:r>
          </a:p>
          <a:p>
            <a:pPr lvl="1"/>
            <a:r>
              <a:rPr lang="en-US" sz="1800" dirty="0"/>
              <a:t>Handling: Ensure numerical columns are in the correct format and handle missing values appropriately.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63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Numerical Data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59" y="1688177"/>
            <a:ext cx="6885824" cy="3868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627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Categorical Data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922" y="1930400"/>
            <a:ext cx="7494741" cy="2391079"/>
          </a:xfrm>
        </p:spPr>
        <p:txBody>
          <a:bodyPr/>
          <a:lstStyle/>
          <a:p>
            <a:pPr marL="0" lvl="1" indent="457200"/>
            <a:r>
              <a:rPr lang="en-US" sz="1800" b="1" dirty="0"/>
              <a:t>Nominal</a:t>
            </a:r>
            <a:r>
              <a:rPr lang="en-US" sz="1800" dirty="0"/>
              <a:t>: Categories without a specific order (e.g., color: red, green, blue).</a:t>
            </a:r>
          </a:p>
          <a:p>
            <a:pPr marL="0" lvl="1" indent="457200"/>
            <a:r>
              <a:rPr lang="en-US" sz="1800" b="1" dirty="0"/>
              <a:t>Ordinal</a:t>
            </a:r>
            <a:r>
              <a:rPr lang="en-US" sz="1800" dirty="0"/>
              <a:t>: Categories with a specific order (e.g., rating: low, medium, high).</a:t>
            </a:r>
          </a:p>
          <a:p>
            <a:pPr marL="0" lvl="1" indent="457200"/>
            <a:r>
              <a:rPr lang="en-US" sz="1800" dirty="0"/>
              <a:t>Handling: Encode categorical variables using techniques such as label encoding or one-hot encoding.</a:t>
            </a:r>
          </a:p>
        </p:txBody>
      </p:sp>
    </p:spTree>
    <p:extLst>
      <p:ext uri="{BB962C8B-B14F-4D97-AF65-F5344CB8AC3E}">
        <p14:creationId xmlns:p14="http://schemas.microsoft.com/office/powerpoint/2010/main" val="298307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783"/>
            <a:ext cx="8507288" cy="5832648"/>
          </a:xfrm>
        </p:spPr>
        <p:txBody>
          <a:bodyPr>
            <a:normAutofit/>
          </a:bodyPr>
          <a:lstStyle/>
          <a:p>
            <a:pPr marL="263525" lvl="1" indent="-228600"/>
            <a:r>
              <a:rPr lang="en-US" sz="2000" b="1" dirty="0"/>
              <a:t>Label </a:t>
            </a:r>
            <a:r>
              <a:rPr lang="en-US" sz="2000" b="1" dirty="0" smtClean="0"/>
              <a:t>encoding: </a:t>
            </a:r>
          </a:p>
          <a:p>
            <a:pPr marL="263525" lvl="2"/>
            <a:r>
              <a:rPr lang="en-US" sz="2000" b="1" dirty="0"/>
              <a:t>Label encoding </a:t>
            </a:r>
            <a:r>
              <a:rPr lang="en-US" sz="2000" dirty="0"/>
              <a:t>is a technique used to convert ordinal type of categorical data into numerical format.</a:t>
            </a:r>
          </a:p>
          <a:p>
            <a:pPr marL="263525" lvl="2"/>
            <a:r>
              <a:rPr lang="en-US" sz="2000" dirty="0" smtClean="0"/>
              <a:t>It </a:t>
            </a:r>
            <a:r>
              <a:rPr lang="en-US" sz="2000" dirty="0"/>
              <a:t>assigns a unique integer to each category in the categorical variable. </a:t>
            </a:r>
            <a:endParaRPr lang="en-US" sz="2000" dirty="0" smtClean="0"/>
          </a:p>
          <a:p>
            <a:pPr marL="263525" lvl="1" indent="-228600"/>
            <a:r>
              <a:rPr lang="en-US" sz="2000" dirty="0" smtClean="0"/>
              <a:t>This </a:t>
            </a:r>
            <a:r>
              <a:rPr lang="en-US" sz="2000" dirty="0"/>
              <a:t>is particularly useful for machine learning algorithms that require numeric input</a:t>
            </a:r>
            <a:r>
              <a:rPr lang="en-US" sz="2000" dirty="0" smtClean="0"/>
              <a:t>.</a:t>
            </a:r>
            <a:r>
              <a:rPr lang="en-US" dirty="0" smtClean="0"/>
              <a:t> </a:t>
            </a:r>
            <a:endParaRPr lang="en-US" dirty="0"/>
          </a:p>
          <a:p>
            <a:pPr marL="263525" lvl="2"/>
            <a:r>
              <a:rPr lang="en-US" sz="2000" b="1" dirty="0"/>
              <a:t>dataset[‘</a:t>
            </a:r>
            <a:r>
              <a:rPr lang="en-US" sz="2000" b="1" dirty="0" err="1"/>
              <a:t>Col_Name</a:t>
            </a:r>
            <a:r>
              <a:rPr lang="en-US" sz="2000" b="1" dirty="0"/>
              <a:t>'] = dataset[' </a:t>
            </a:r>
            <a:r>
              <a:rPr lang="en-US" sz="2000" b="1" dirty="0" err="1"/>
              <a:t>Col_Name</a:t>
            </a:r>
            <a:r>
              <a:rPr lang="en-US" sz="2000" b="1" dirty="0"/>
              <a:t> '].</a:t>
            </a:r>
            <a:r>
              <a:rPr lang="en-US" sz="2000" b="1" dirty="0" err="1"/>
              <a:t>astype</a:t>
            </a:r>
            <a:r>
              <a:rPr lang="en-US" sz="2000" b="1" dirty="0"/>
              <a:t>('category')</a:t>
            </a:r>
          </a:p>
          <a:p>
            <a:pPr marL="263525" lvl="2"/>
            <a:r>
              <a:rPr lang="en-US" sz="2000" b="1" dirty="0"/>
              <a:t>dataset</a:t>
            </a:r>
            <a:r>
              <a:rPr lang="en-US" sz="2000" b="1" dirty="0" smtClean="0"/>
              <a:t>[‘</a:t>
            </a:r>
            <a:r>
              <a:rPr lang="en-US" sz="2000" b="1" dirty="0" err="1"/>
              <a:t>Col_Name</a:t>
            </a:r>
            <a:r>
              <a:rPr lang="en-US" sz="2000" b="1" dirty="0"/>
              <a:t>'] = dataset</a:t>
            </a:r>
            <a:r>
              <a:rPr lang="en-US" sz="2000" b="1" dirty="0" smtClean="0"/>
              <a:t>[‘</a:t>
            </a:r>
            <a:r>
              <a:rPr lang="en-US" sz="2000" b="1" dirty="0" err="1"/>
              <a:t>Col_Name</a:t>
            </a:r>
            <a:r>
              <a:rPr lang="en-US" sz="2000" b="1" dirty="0"/>
              <a:t>'].</a:t>
            </a:r>
            <a:r>
              <a:rPr lang="en-US" sz="2000" b="1" dirty="0" err="1"/>
              <a:t>cat.codes</a:t>
            </a:r>
            <a:endParaRPr lang="en-US" sz="2000" b="1" dirty="0"/>
          </a:p>
          <a:p>
            <a:pPr marL="263525" lvl="2"/>
            <a:r>
              <a:rPr lang="en-US" sz="2000" dirty="0" smtClean="0"/>
              <a:t>convert </a:t>
            </a:r>
            <a:r>
              <a:rPr lang="en-US" sz="2000" dirty="0"/>
              <a:t>the [‘</a:t>
            </a:r>
            <a:r>
              <a:rPr lang="en-US" sz="2000" dirty="0" err="1"/>
              <a:t>Col_Name</a:t>
            </a:r>
            <a:r>
              <a:rPr lang="en-US" sz="2000" dirty="0"/>
              <a:t>'] </a:t>
            </a:r>
            <a:r>
              <a:rPr lang="en-US" sz="2000" dirty="0" smtClean="0"/>
              <a:t>to </a:t>
            </a:r>
            <a:r>
              <a:rPr lang="en-US" sz="2000" dirty="0"/>
              <a:t>categorical type using </a:t>
            </a:r>
            <a:r>
              <a:rPr lang="en-US" sz="2000" dirty="0" err="1"/>
              <a:t>astype</a:t>
            </a:r>
            <a:r>
              <a:rPr lang="en-US" sz="2000" dirty="0"/>
              <a:t>('category').</a:t>
            </a:r>
          </a:p>
          <a:p>
            <a:pPr marL="263525" lvl="2"/>
            <a:r>
              <a:rPr lang="en-US" sz="2000" dirty="0" smtClean="0"/>
              <a:t>then </a:t>
            </a:r>
            <a:r>
              <a:rPr lang="en-US" sz="2000" dirty="0"/>
              <a:t>use </a:t>
            </a:r>
            <a:r>
              <a:rPr lang="en-US" sz="2000" dirty="0" err="1"/>
              <a:t>cat.codes</a:t>
            </a:r>
            <a:r>
              <a:rPr lang="en-US" sz="2000" dirty="0"/>
              <a:t> to assign numeric labels to each category in the [‘</a:t>
            </a:r>
            <a:r>
              <a:rPr lang="en-US" sz="2000" dirty="0" err="1"/>
              <a:t>Col_Name</a:t>
            </a:r>
            <a:r>
              <a:rPr lang="en-US" sz="2000" dirty="0"/>
              <a:t>'] </a:t>
            </a:r>
            <a:r>
              <a:rPr lang="en-US" sz="2000" dirty="0" smtClean="0"/>
              <a:t>and </a:t>
            </a:r>
            <a:r>
              <a:rPr lang="en-US" sz="2000" dirty="0"/>
              <a:t>create a new column </a:t>
            </a:r>
            <a:r>
              <a:rPr lang="en-US" sz="2000" dirty="0" smtClean="0"/>
              <a:t>with </a:t>
            </a:r>
            <a:r>
              <a:rPr lang="en-US" sz="2000" dirty="0"/>
              <a:t>the encoded values.</a:t>
            </a:r>
          </a:p>
          <a:p>
            <a:pPr marL="263525" indent="-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0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92421"/>
            <a:ext cx="7433164" cy="5343872"/>
          </a:xfrm>
        </p:spPr>
        <p:txBody>
          <a:bodyPr>
            <a:normAutofit/>
          </a:bodyPr>
          <a:lstStyle/>
          <a:p>
            <a:pPr marL="87313" lvl="1" indent="304800" algn="just"/>
            <a:r>
              <a:rPr lang="en-US" sz="1800" b="1" dirty="0"/>
              <a:t>One-hot </a:t>
            </a:r>
            <a:r>
              <a:rPr lang="en-US" sz="1800" b="1" dirty="0" smtClean="0"/>
              <a:t>encoding: </a:t>
            </a:r>
          </a:p>
          <a:p>
            <a:pPr marL="87313" lvl="2" indent="304800" algn="just"/>
            <a:r>
              <a:rPr lang="en-US" sz="1800" b="1" dirty="0"/>
              <a:t>One-hot encoding </a:t>
            </a:r>
            <a:r>
              <a:rPr lang="en-US" sz="1800" dirty="0"/>
              <a:t>is a technique used to convert Nominal type categorical data into a binary format, where each category is represented as a binary vector. </a:t>
            </a:r>
          </a:p>
          <a:p>
            <a:pPr marL="87313" lvl="2" indent="304800" algn="just"/>
            <a:r>
              <a:rPr lang="en-US" sz="1800" dirty="0" smtClean="0"/>
              <a:t>It </a:t>
            </a:r>
            <a:r>
              <a:rPr lang="en-US" sz="1800" dirty="0"/>
              <a:t>creates new binary columns (also known as dummy variables) for each category, with a value of  </a:t>
            </a:r>
            <a:r>
              <a:rPr lang="en-US" sz="1800" dirty="0" smtClean="0"/>
              <a:t>1 indicating </a:t>
            </a:r>
            <a:r>
              <a:rPr lang="en-US" sz="1800" dirty="0"/>
              <a:t>the presence of that category and 0 indicating absence</a:t>
            </a:r>
            <a:r>
              <a:rPr lang="en-US" sz="1800" dirty="0" smtClean="0"/>
              <a:t>.</a:t>
            </a:r>
          </a:p>
          <a:p>
            <a:pPr marL="87313" lvl="2" indent="304800" algn="just"/>
            <a:r>
              <a:rPr lang="en-US" sz="1800" dirty="0" smtClean="0"/>
              <a:t>After OHE drop one variable. Here is python code:</a:t>
            </a:r>
          </a:p>
          <a:p>
            <a:pPr marL="87313" lvl="2" indent="304800" algn="just"/>
            <a:r>
              <a:rPr lang="en-US" sz="1800" b="1" dirty="0"/>
              <a:t>dataset = pd.get_dummies(dataset, columns = </a:t>
            </a:r>
            <a:r>
              <a:rPr lang="en-US" sz="1800" b="1" dirty="0" smtClean="0"/>
              <a:t>[‘</a:t>
            </a:r>
            <a:r>
              <a:rPr lang="en-US" sz="1800" b="1" dirty="0" err="1" smtClean="0"/>
              <a:t>Col_Name</a:t>
            </a:r>
            <a:r>
              <a:rPr lang="en-US" sz="1800" b="1" dirty="0" smtClean="0"/>
              <a:t>'])</a:t>
            </a:r>
            <a:endParaRPr lang="en-US" sz="1800" b="1" dirty="0"/>
          </a:p>
          <a:p>
            <a:pPr marL="87313" lvl="1" indent="304800" algn="just">
              <a:buNone/>
            </a:pPr>
            <a:r>
              <a:rPr lang="en-US" sz="1800" dirty="0" smtClean="0"/>
              <a:t>	Where: </a:t>
            </a:r>
          </a:p>
          <a:p>
            <a:pPr marL="87313" lvl="1" indent="304800" algn="just">
              <a:buNone/>
            </a:pPr>
            <a:r>
              <a:rPr lang="en-US" sz="1800" dirty="0" smtClean="0"/>
              <a:t>	“</a:t>
            </a:r>
            <a:r>
              <a:rPr lang="en-US" sz="1800" b="1" dirty="0" smtClean="0"/>
              <a:t>pd.get_dummies()</a:t>
            </a:r>
            <a:r>
              <a:rPr lang="en-US" sz="1800" dirty="0" smtClean="0"/>
              <a:t>” </a:t>
            </a:r>
            <a:r>
              <a:rPr lang="en-US" sz="1800" dirty="0"/>
              <a:t>is a pandas function used for </a:t>
            </a:r>
            <a:r>
              <a:rPr lang="en-US" sz="1800" dirty="0" smtClean="0"/>
              <a:t>one-hot encoding </a:t>
            </a:r>
            <a:r>
              <a:rPr lang="en-US" sz="1800" dirty="0"/>
              <a:t>categorical variables</a:t>
            </a:r>
            <a:r>
              <a:rPr lang="en-US" sz="1800" dirty="0" smtClean="0"/>
              <a:t>.</a:t>
            </a:r>
          </a:p>
          <a:p>
            <a:pPr marL="87313" lvl="1" indent="304800" algn="just">
              <a:buNone/>
            </a:pPr>
            <a:r>
              <a:rPr lang="en-US" sz="1800" dirty="0" smtClean="0"/>
              <a:t>	“columns</a:t>
            </a:r>
            <a:r>
              <a:rPr lang="en-US" sz="1800" dirty="0"/>
              <a:t>=['</a:t>
            </a:r>
            <a:r>
              <a:rPr lang="en-US" sz="1800" dirty="0" err="1"/>
              <a:t>Col_Name</a:t>
            </a:r>
            <a:r>
              <a:rPr lang="en-US" sz="1800" dirty="0" smtClean="0"/>
              <a:t>']” </a:t>
            </a:r>
            <a:r>
              <a:rPr lang="en-US" sz="1800" dirty="0"/>
              <a:t>specifies the column(s) in the </a:t>
            </a:r>
            <a:r>
              <a:rPr lang="en-US" sz="1800" dirty="0" smtClean="0"/>
              <a:t>	Data Frame that </a:t>
            </a:r>
            <a:r>
              <a:rPr lang="en-US" sz="1800" dirty="0"/>
              <a:t>you want to encode.</a:t>
            </a:r>
          </a:p>
          <a:p>
            <a:pPr marL="393192" lvl="1" indent="0" algn="just">
              <a:buNone/>
            </a:pPr>
            <a:endParaRPr lang="en-US" dirty="0"/>
          </a:p>
          <a:p>
            <a:pPr marL="39319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55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Categorical Data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75" y="1777486"/>
            <a:ext cx="6813937" cy="131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78" y="4311852"/>
            <a:ext cx="2552700" cy="2129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4136487"/>
            <a:ext cx="2552700" cy="2129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806" y="4582133"/>
            <a:ext cx="363855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294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Datetime</a:t>
            </a:r>
            <a:r>
              <a:rPr lang="en-US" b="1" dirty="0"/>
              <a:t> Data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716696"/>
            <a:ext cx="5409570" cy="1251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83" y="3453918"/>
            <a:ext cx="33051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146" y="3453918"/>
            <a:ext cx="28765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728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Convert Data Types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43" y="2182813"/>
            <a:ext cx="7569944" cy="19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681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Example</a:t>
            </a:r>
            <a:endParaRPr lang="en-US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97" y="1494295"/>
            <a:ext cx="6828798" cy="3967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266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2165"/>
            <a:ext cx="7252570" cy="709865"/>
          </a:xfrm>
        </p:spPr>
        <p:txBody>
          <a:bodyPr>
            <a:normAutofit fontScale="90000"/>
          </a:bodyPr>
          <a:lstStyle/>
          <a:p>
            <a:r>
              <a:rPr lang="en-US" sz="2000" b="1" dirty="0" err="1"/>
              <a:t>pd.to_numeric</a:t>
            </a:r>
            <a:r>
              <a:rPr lang="en-US" sz="2000" b="1" dirty="0"/>
              <a:t>(</a:t>
            </a:r>
            <a:r>
              <a:rPr lang="en-US" sz="2000" b="1" dirty="0" err="1"/>
              <a:t>df</a:t>
            </a:r>
            <a:r>
              <a:rPr lang="en-US" sz="2000" b="1" dirty="0"/>
              <a:t>['number'], </a:t>
            </a:r>
            <a:r>
              <a:rPr lang="en-US" sz="2000" b="1" dirty="0" smtClean="0"/>
              <a:t>errors</a:t>
            </a:r>
            <a:r>
              <a:rPr lang="en-US" sz="2000" b="1" dirty="0"/>
              <a:t>='coerce', </a:t>
            </a:r>
            <a:r>
              <a:rPr lang="en-US" sz="2000" b="1" dirty="0" smtClean="0"/>
              <a:t>downcast</a:t>
            </a:r>
            <a:r>
              <a:rPr lang="en-US" sz="2000" b="1" dirty="0"/>
              <a:t>='integer')</a:t>
            </a:r>
            <a:br>
              <a:rPr lang="en-US" sz="2000" b="1" dirty="0"/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87682" y="1282030"/>
            <a:ext cx="8705590" cy="5456973"/>
          </a:xfrm>
        </p:spPr>
        <p:txBody>
          <a:bodyPr>
            <a:normAutofit fontScale="92500" lnSpcReduction="10000"/>
          </a:bodyPr>
          <a:lstStyle/>
          <a:p>
            <a:pPr marL="3429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 err="1"/>
              <a:t>pd.to_numeric</a:t>
            </a:r>
            <a:r>
              <a:rPr lang="en-US" altLang="en-US" sz="2000" b="1" dirty="0"/>
              <a:t>: </a:t>
            </a:r>
            <a:r>
              <a:rPr lang="en-US" altLang="en-US" sz="2000" dirty="0"/>
              <a:t>This function is used to convert argument to a numeric type.</a:t>
            </a:r>
          </a:p>
          <a:p>
            <a:pPr marL="3429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 err="1"/>
              <a:t>df</a:t>
            </a:r>
            <a:r>
              <a:rPr lang="en-US" altLang="en-US" sz="2000" b="1" dirty="0"/>
              <a:t>['number']</a:t>
            </a:r>
            <a:r>
              <a:rPr lang="en-US" altLang="en-US" sz="2000" dirty="0"/>
              <a:t>: This specifies the column number from the </a:t>
            </a:r>
            <a:r>
              <a:rPr lang="en-US" altLang="en-US" sz="2000" dirty="0" err="1"/>
              <a:t>DataFrame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df</a:t>
            </a:r>
            <a:r>
              <a:rPr lang="en-US" altLang="en-US" sz="2000" dirty="0"/>
              <a:t> that we want to convert.</a:t>
            </a:r>
          </a:p>
          <a:p>
            <a:pPr marL="3429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/>
              <a:t>errors='coerce': </a:t>
            </a:r>
            <a:r>
              <a:rPr lang="en-US" altLang="en-US" sz="2000" dirty="0"/>
              <a:t>This argument tells the function how to handle errors during the conversion process. </a:t>
            </a:r>
            <a:r>
              <a:rPr lang="en-US" altLang="en-US" sz="2000" dirty="0" err="1"/>
              <a:t>Specifically</a:t>
            </a:r>
            <a:r>
              <a:rPr lang="en-US" altLang="en-US" sz="2000" dirty="0" err="1" smtClean="0"/>
              <a:t>:</a:t>
            </a:r>
            <a:r>
              <a:rPr lang="en-US" altLang="en-US" sz="2000" b="1" dirty="0" err="1" smtClean="0"/>
              <a:t>'coerce</a:t>
            </a:r>
            <a:r>
              <a:rPr lang="en-US" altLang="en-US" sz="2000" b="1" dirty="0"/>
              <a:t>': </a:t>
            </a:r>
            <a:r>
              <a:rPr lang="en-US" altLang="en-US" sz="2000" dirty="0"/>
              <a:t>This means that any values that cannot be converted to a numeric type will be set to </a:t>
            </a:r>
            <a:r>
              <a:rPr lang="en-US" altLang="en-US" sz="2000" dirty="0" err="1"/>
              <a:t>NaN</a:t>
            </a:r>
            <a:r>
              <a:rPr lang="en-US" altLang="en-US" sz="2000" dirty="0"/>
              <a:t> (Not a Number).</a:t>
            </a:r>
          </a:p>
          <a:p>
            <a:pPr marL="3429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/>
              <a:t>downcast='integer': </a:t>
            </a:r>
            <a:r>
              <a:rPr lang="en-US" altLang="en-US" sz="2000" dirty="0"/>
              <a:t>This argument attempts to downcast the numeric type to the smallest possible integer subtype, which helps in saving memory. </a:t>
            </a:r>
          </a:p>
          <a:p>
            <a:pPr marL="3429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For example, if all values can be represented by a smaller integer type (like int8), it will use that type instead of a larger one (like int64).</a:t>
            </a:r>
          </a:p>
        </p:txBody>
      </p:sp>
    </p:spTree>
    <p:extLst>
      <p:ext uri="{BB962C8B-B14F-4D97-AF65-F5344CB8AC3E}">
        <p14:creationId xmlns:p14="http://schemas.microsoft.com/office/powerpoint/2010/main" val="203305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24"/>
            <a:ext cx="7504700" cy="3805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130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82" y="229931"/>
            <a:ext cx="7903923" cy="709865"/>
          </a:xfrm>
        </p:spPr>
        <p:txBody>
          <a:bodyPr/>
          <a:lstStyle/>
          <a:p>
            <a:r>
              <a:rPr lang="en-US" sz="2000" b="1" dirty="0" err="1" smtClean="0"/>
              <a:t>np.where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df</a:t>
            </a:r>
            <a:r>
              <a:rPr lang="en-US" sz="2000" b="1" dirty="0"/>
              <a:t>['</a:t>
            </a:r>
            <a:r>
              <a:rPr lang="en-US" sz="2000" b="1" dirty="0" err="1"/>
              <a:t>num_numerical</a:t>
            </a:r>
            <a:r>
              <a:rPr lang="en-US" sz="2000" b="1" dirty="0"/>
              <a:t>'].</a:t>
            </a:r>
            <a:r>
              <a:rPr lang="en-US" sz="2000" b="1" dirty="0" err="1"/>
              <a:t>isnull</a:t>
            </a:r>
            <a:r>
              <a:rPr lang="en-US" sz="2000" b="1" dirty="0"/>
              <a:t>(), </a:t>
            </a:r>
            <a:r>
              <a:rPr lang="en-US" sz="2000" b="1" dirty="0" err="1" smtClean="0"/>
              <a:t>df</a:t>
            </a:r>
            <a:r>
              <a:rPr lang="en-US" sz="2000" b="1" dirty="0"/>
              <a:t>['number'], </a:t>
            </a:r>
            <a:r>
              <a:rPr lang="en-US" sz="2000" b="1" dirty="0" err="1" smtClean="0"/>
              <a:t>np.nan</a:t>
            </a:r>
            <a:r>
              <a:rPr lang="en-US" sz="2000" b="1" dirty="0"/>
              <a:t>)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81" y="957421"/>
            <a:ext cx="7903923" cy="590057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dirty="0" smtClean="0">
                <a:solidFill>
                  <a:srgbClr val="0D0D0D"/>
                </a:solidFill>
                <a:latin typeface="Söhne Mono"/>
                <a:cs typeface="Arial" pitchFamily="34" charset="0"/>
              </a:rPr>
              <a:t> </a:t>
            </a:r>
            <a:r>
              <a:rPr lang="en-US" altLang="en-US" dirty="0" err="1" smtClean="0">
                <a:solidFill>
                  <a:srgbClr val="0D0D0D"/>
                </a:solidFill>
                <a:latin typeface="Söhne Mono"/>
                <a:cs typeface="Arial" pitchFamily="34" charset="0"/>
              </a:rPr>
              <a:t>np.where</a:t>
            </a:r>
            <a:r>
              <a:rPr lang="en-US" altLang="en-US" dirty="0" smtClean="0">
                <a:solidFill>
                  <a:srgbClr val="0D0D0D"/>
                </a:solidFill>
                <a:latin typeface="Söhne Mono"/>
                <a:cs typeface="Arial" pitchFamily="34" charset="0"/>
              </a:rPr>
              <a:t>(condition</a:t>
            </a:r>
            <a:r>
              <a:rPr lang="en-US" altLang="en-US" dirty="0">
                <a:solidFill>
                  <a:srgbClr val="0D0D0D"/>
                </a:solidFill>
                <a:latin typeface="Söhne Mono"/>
                <a:cs typeface="Arial" pitchFamily="34" charset="0"/>
              </a:rPr>
              <a:t>, x, y)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:</a:t>
            </a:r>
          </a:p>
          <a:p>
            <a:pPr marL="457200" lvl="1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This function from the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NumPy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library is used for element-wise selection from two arrays (x and y) based on a condition. It returns elements chosen from x or y depending on the condition.</a:t>
            </a:r>
          </a:p>
          <a:p>
            <a:pPr marL="457200" lvl="1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condition: This specifies the condition to be checked.</a:t>
            </a:r>
          </a:p>
          <a:p>
            <a:pPr marL="457200" lvl="1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x: The values to select where the condition is True.</a:t>
            </a:r>
          </a:p>
          <a:p>
            <a:pPr marL="457200" lvl="1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y: The values to select where the condition is False.</a:t>
            </a:r>
          </a:p>
          <a:p>
            <a:pPr marL="0" lv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smtClean="0">
                <a:solidFill>
                  <a:srgbClr val="0D0D0D"/>
                </a:solidFill>
                <a:latin typeface="Söhne Mono"/>
                <a:cs typeface="Arial" pitchFamily="34" charset="0"/>
              </a:rPr>
              <a:t>2. </a:t>
            </a:r>
            <a:r>
              <a:rPr lang="en-US" altLang="en-US" dirty="0" err="1" smtClean="0">
                <a:solidFill>
                  <a:srgbClr val="0D0D0D"/>
                </a:solidFill>
                <a:latin typeface="Söhne Mono"/>
                <a:cs typeface="Arial" pitchFamily="34" charset="0"/>
              </a:rPr>
              <a:t>df</a:t>
            </a:r>
            <a:r>
              <a:rPr lang="en-US" altLang="en-US" dirty="0">
                <a:solidFill>
                  <a:srgbClr val="0D0D0D"/>
                </a:solidFill>
                <a:latin typeface="Söhne Mono"/>
                <a:cs typeface="Arial" pitchFamily="34" charset="0"/>
              </a:rPr>
              <a:t>['</a:t>
            </a:r>
            <a:r>
              <a:rPr lang="en-US" altLang="en-US" dirty="0" err="1">
                <a:solidFill>
                  <a:srgbClr val="0D0D0D"/>
                </a:solidFill>
                <a:latin typeface="Söhne Mono"/>
                <a:cs typeface="Arial" pitchFamily="34" charset="0"/>
              </a:rPr>
              <a:t>num_numerical</a:t>
            </a:r>
            <a:r>
              <a:rPr lang="en-US" altLang="en-US" dirty="0">
                <a:solidFill>
                  <a:srgbClr val="0D0D0D"/>
                </a:solidFill>
                <a:latin typeface="Söhne Mono"/>
                <a:cs typeface="Arial" pitchFamily="34" charset="0"/>
              </a:rPr>
              <a:t>'].</a:t>
            </a:r>
            <a:r>
              <a:rPr lang="en-US" altLang="en-US" dirty="0" err="1">
                <a:solidFill>
                  <a:srgbClr val="0D0D0D"/>
                </a:solidFill>
                <a:latin typeface="Söhne Mono"/>
                <a:cs typeface="Arial" pitchFamily="34" charset="0"/>
              </a:rPr>
              <a:t>isnull</a:t>
            </a:r>
            <a:r>
              <a:rPr lang="en-US" altLang="en-US" dirty="0">
                <a:solidFill>
                  <a:srgbClr val="0D0D0D"/>
                </a:solidFill>
                <a:latin typeface="Söhne Mono"/>
                <a:cs typeface="Arial" pitchFamily="34" charset="0"/>
              </a:rPr>
              <a:t>():</a:t>
            </a:r>
          </a:p>
          <a:p>
            <a:pPr marL="457200" lvl="1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This checks for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NaN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values in the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num_numerical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column of the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DataFrame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df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. It returns a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boolean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Series where True indicates the presence of a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NaN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value and False indicates the absence of a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NaN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value</a:t>
            </a:r>
            <a:r>
              <a:rPr lang="en-US" altLang="en-US" sz="1200" dirty="0" smtClean="0">
                <a:solidFill>
                  <a:srgbClr val="0D0D0D"/>
                </a:solidFill>
                <a:latin typeface="Söhne"/>
                <a:cs typeface="Arial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3. </a:t>
            </a:r>
            <a:r>
              <a:rPr lang="en-US" altLang="en-US" dirty="0" err="1">
                <a:solidFill>
                  <a:srgbClr val="0D0D0D"/>
                </a:solidFill>
                <a:latin typeface="Söhne Mono"/>
                <a:cs typeface="Arial" pitchFamily="34" charset="0"/>
              </a:rPr>
              <a:t>df</a:t>
            </a:r>
            <a:r>
              <a:rPr lang="en-US" altLang="en-US" dirty="0">
                <a:solidFill>
                  <a:srgbClr val="0D0D0D"/>
                </a:solidFill>
                <a:latin typeface="Söhne Mono"/>
                <a:cs typeface="Arial" pitchFamily="34" charset="0"/>
              </a:rPr>
              <a:t>['number']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:</a:t>
            </a:r>
          </a:p>
          <a:p>
            <a:pPr marL="457200" lvl="1" indent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This specifies the original number column from the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DataFrame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df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, which contains the original values before any numeric conversion.</a:t>
            </a:r>
          </a:p>
          <a:p>
            <a:pPr marL="0" lv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D0D0D"/>
                </a:solidFill>
                <a:latin typeface="Söhne Mono"/>
                <a:cs typeface="Arial" pitchFamily="34" charset="0"/>
              </a:rPr>
              <a:t>4.  </a:t>
            </a:r>
            <a:r>
              <a:rPr lang="en-US" altLang="en-US" dirty="0" err="1">
                <a:solidFill>
                  <a:srgbClr val="0D0D0D"/>
                </a:solidFill>
                <a:latin typeface="Söhne Mono"/>
                <a:cs typeface="Arial" pitchFamily="34" charset="0"/>
              </a:rPr>
              <a:t>np.nan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:</a:t>
            </a:r>
          </a:p>
          <a:p>
            <a:pPr marL="457200" lvl="1" indent="0" defTabSz="91440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This specifies that </a:t>
            </a:r>
            <a:r>
              <a:rPr lang="en-US" altLang="en-US" sz="1200" dirty="0" err="1">
                <a:solidFill>
                  <a:srgbClr val="0D0D0D"/>
                </a:solidFill>
                <a:latin typeface="Söhne"/>
                <a:cs typeface="Arial" pitchFamily="34" charset="0"/>
              </a:rPr>
              <a:t>NaN</a:t>
            </a:r>
            <a:r>
              <a:rPr lang="en-US" altLang="en-US" sz="1200" dirty="0">
                <a:solidFill>
                  <a:srgbClr val="0D0D0D"/>
                </a:solidFill>
                <a:latin typeface="Söhne"/>
                <a:cs typeface="Arial" pitchFamily="34" charset="0"/>
              </a:rPr>
              <a:t> should be used where the condition is False.</a:t>
            </a:r>
          </a:p>
          <a:p>
            <a:pPr marL="457200" lvl="1" indent="0" defTabSz="91440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200" dirty="0">
              <a:solidFill>
                <a:srgbClr val="0D0D0D"/>
              </a:solidFill>
              <a:latin typeface="Söhne"/>
              <a:cs typeface="Arial" pitchFamily="34" charset="0"/>
            </a:endParaRPr>
          </a:p>
          <a:p>
            <a:pPr marL="457200" lvl="1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rgbClr val="0D0D0D"/>
              </a:solidFill>
              <a:latin typeface="Söhne Mono"/>
              <a:cs typeface="Arial" pitchFamily="34" charset="0"/>
            </a:endParaRPr>
          </a:p>
          <a:p>
            <a:pPr marL="0" lv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rgbClr val="0D0D0D"/>
              </a:solidFill>
              <a:latin typeface="Söhne Mono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31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43" y="1514779"/>
            <a:ext cx="6698469" cy="4137068"/>
          </a:xfrm>
        </p:spPr>
        <p:txBody>
          <a:bodyPr/>
          <a:lstStyle/>
          <a:p>
            <a:r>
              <a:rPr dirty="0" smtClean="0"/>
              <a:t>Importance of balanced datasets.</a:t>
            </a:r>
          </a:p>
          <a:p>
            <a:r>
              <a:rPr lang="en-US" dirty="0"/>
              <a:t>Data is said to be imbalance if twice of minority class is less than the majority class. </a:t>
            </a:r>
          </a:p>
          <a:p>
            <a:r>
              <a:rPr lang="en-US" dirty="0"/>
              <a:t>To find it, check the count in dependent variables.</a:t>
            </a:r>
          </a:p>
          <a:p>
            <a:r>
              <a:rPr lang="en-US" dirty="0"/>
              <a:t>Two popular approach to solve the problem:</a:t>
            </a:r>
          </a:p>
          <a:p>
            <a:pPr lvl="1"/>
            <a:r>
              <a:rPr lang="en-US" b="1" dirty="0"/>
              <a:t>Oversampling</a:t>
            </a:r>
          </a:p>
          <a:p>
            <a:pPr lvl="1"/>
            <a:r>
              <a:rPr lang="en-US" b="1" dirty="0" smtClean="0"/>
              <a:t>SMOTE</a:t>
            </a:r>
            <a:endParaRPr lang="en-US" b="1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7" y="4456390"/>
            <a:ext cx="45339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RandomOverSampler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7897"/>
            <a:ext cx="8567802" cy="1481551"/>
          </a:xfrm>
        </p:spPr>
        <p:txBody>
          <a:bodyPr/>
          <a:lstStyle/>
          <a:p>
            <a:r>
              <a:rPr lang="en-US" dirty="0"/>
              <a:t>Simply duplicates random instances of the minority class to increase its representation in the dataset.</a:t>
            </a:r>
          </a:p>
          <a:p>
            <a:r>
              <a:rPr lang="en-US" dirty="0"/>
              <a:t>This can be effective but may lead to overfitting as the same instances are repeated multiple times.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13" y="3159448"/>
            <a:ext cx="7754937" cy="310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89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27" y="469898"/>
            <a:ext cx="7928975" cy="709865"/>
          </a:xfrm>
        </p:spPr>
        <p:txBody>
          <a:bodyPr>
            <a:normAutofit fontScale="90000"/>
          </a:bodyPr>
          <a:lstStyle/>
          <a:p>
            <a:pPr marL="0" lvl="1" indent="0" algn="ctr"/>
            <a:r>
              <a:rPr lang="en-US" sz="2800" b="1" dirty="0">
                <a:solidFill>
                  <a:schemeClr val="tx1"/>
                </a:solidFill>
              </a:rPr>
              <a:t>SMOTE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(Synthetic minority oversampling technique)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27" y="1961661"/>
            <a:ext cx="7304119" cy="150660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Generates synthetic samples by interpolating between existing minority class instances.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technique creates more diverse samples compared to simple duplication, potentially reducing overfitting.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61" y="3831680"/>
            <a:ext cx="6745287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756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/>
              <a:t>Cross Tabs for Feature Relationships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7" y="1801017"/>
            <a:ext cx="7336171" cy="3384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7" y="1093395"/>
            <a:ext cx="786603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4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2" y="1052603"/>
            <a:ext cx="8387948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6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1" y="918032"/>
            <a:ext cx="8337054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7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62" y="773949"/>
            <a:ext cx="7779064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0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344"/>
            <a:ext cx="733527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6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968"/>
            <a:ext cx="8077054" cy="620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5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151" y="2317315"/>
            <a:ext cx="8041709" cy="4283901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Definition:</a:t>
            </a:r>
            <a:r>
              <a:rPr lang="en-US" sz="2000" dirty="0"/>
              <a:t> Exploratory Data Analysis (EDA) is a critical step in the data analysis process. It involves examining and summarizing the main characteristics of a dataset, often using visual methods.</a:t>
            </a:r>
          </a:p>
          <a:p>
            <a:r>
              <a:rPr lang="en-US" sz="2000" dirty="0"/>
              <a:t>Here are some key steps and techniques you can use during EDA</a:t>
            </a:r>
          </a:p>
          <a:p>
            <a:r>
              <a:rPr lang="en-US" b="1" dirty="0"/>
              <a:t>Techniques:</a:t>
            </a:r>
          </a:p>
          <a:p>
            <a:pPr lvl="1"/>
            <a:r>
              <a:rPr lang="en-US" b="1" dirty="0"/>
              <a:t>Data visualization</a:t>
            </a:r>
            <a:r>
              <a:rPr lang="en-US" dirty="0"/>
              <a:t>: Histograms, scatter plots, box plots.</a:t>
            </a:r>
          </a:p>
          <a:p>
            <a:pPr lvl="1"/>
            <a:r>
              <a:rPr lang="en-US" b="1" dirty="0"/>
              <a:t>Summary statistics</a:t>
            </a:r>
            <a:r>
              <a:rPr lang="en-US" dirty="0"/>
              <a:t>: Mean, median, standard deviation.</a:t>
            </a:r>
          </a:p>
          <a:p>
            <a:pPr lvl="1"/>
            <a:r>
              <a:rPr lang="en-US" b="1" dirty="0"/>
              <a:t>Outlier detection</a:t>
            </a:r>
            <a:r>
              <a:rPr lang="en-US" dirty="0"/>
              <a:t>: Identifying data points that deviate significantly from the rest of the dataset</a:t>
            </a:r>
          </a:p>
        </p:txBody>
      </p:sp>
    </p:spTree>
    <p:extLst>
      <p:ext uri="{BB962C8B-B14F-4D97-AF65-F5344CB8AC3E}">
        <p14:creationId xmlns:p14="http://schemas.microsoft.com/office/powerpoint/2010/main" val="323944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we can do in EDA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7" y="1565753"/>
            <a:ext cx="7200800" cy="456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9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89" y="484741"/>
            <a:ext cx="7271045" cy="586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1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" y="483469"/>
            <a:ext cx="7974108" cy="519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0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78" y="375498"/>
            <a:ext cx="8021757" cy="551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3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2" y="219856"/>
            <a:ext cx="7059010" cy="612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9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9760"/>
            <a:ext cx="7921317" cy="426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6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3" y="237983"/>
            <a:ext cx="8183406" cy="547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8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17" y="1930400"/>
            <a:ext cx="7152276" cy="161933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Using plots for making inferences in machine learning involves visualizing data to understand its structure, relationships, and patterns, which can guide feature selection, model choice,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169865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Visualization Techniques for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Histograms</a:t>
            </a:r>
          </a:p>
          <a:p>
            <a:r>
              <a:rPr dirty="0"/>
              <a:t>Box plots</a:t>
            </a:r>
          </a:p>
          <a:p>
            <a:r>
              <a:rPr dirty="0"/>
              <a:t>Scatter plots</a:t>
            </a:r>
          </a:p>
          <a:p>
            <a:r>
              <a:rPr dirty="0"/>
              <a:t>Pair plots</a:t>
            </a:r>
          </a:p>
          <a:p>
            <a:r>
              <a:rPr dirty="0"/>
              <a:t>Correlation matrix and </a:t>
            </a:r>
            <a:r>
              <a:rPr dirty="0" err="1"/>
              <a:t>heatmaps</a:t>
            </a:r>
            <a:endParaRPr dirty="0"/>
          </a:p>
          <a:p>
            <a:r>
              <a:rPr dirty="0"/>
              <a:t>Bar plots</a:t>
            </a:r>
          </a:p>
          <a:p>
            <a:r>
              <a:rPr dirty="0" smtClean="0"/>
              <a:t>Count </a:t>
            </a:r>
            <a:r>
              <a:rPr dirty="0"/>
              <a:t>plots</a:t>
            </a:r>
          </a:p>
          <a:p>
            <a:r>
              <a:rPr dirty="0"/>
              <a:t>Violin plots</a:t>
            </a:r>
          </a:p>
        </p:txBody>
      </p:sp>
    </p:spTree>
    <p:extLst>
      <p:ext uri="{BB962C8B-B14F-4D97-AF65-F5344CB8AC3E}">
        <p14:creationId xmlns:p14="http://schemas.microsoft.com/office/powerpoint/2010/main" val="366519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Histograms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82" y="1609586"/>
            <a:ext cx="9056318" cy="1894910"/>
          </a:xfrm>
        </p:spPr>
        <p:txBody>
          <a:bodyPr/>
          <a:lstStyle/>
          <a:p>
            <a:pPr lvl="1"/>
            <a:r>
              <a:rPr lang="en-US" sz="2000" b="1" dirty="0" smtClean="0"/>
              <a:t>Purpose</a:t>
            </a:r>
            <a:r>
              <a:rPr lang="en-US" sz="2000" dirty="0" smtClean="0"/>
              <a:t>: Understand the distribution of individual variables.</a:t>
            </a:r>
          </a:p>
          <a:p>
            <a:pPr lvl="1"/>
            <a:r>
              <a:rPr lang="en-US" sz="2000" b="1" dirty="0" smtClean="0"/>
              <a:t>Inference</a:t>
            </a:r>
            <a:r>
              <a:rPr lang="en-US" sz="2000" dirty="0" smtClean="0"/>
              <a:t>: Identify skewness, outliers, and the presence of multiple modes in the data.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59" y="2809171"/>
            <a:ext cx="47339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21" y="3656441"/>
            <a:ext cx="5711868" cy="293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774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/>
            <a:r>
              <a:rPr lang="en-US" b="1" dirty="0"/>
              <a:t>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34" y="1599852"/>
            <a:ext cx="8893480" cy="1256082"/>
          </a:xfrm>
        </p:spPr>
        <p:txBody>
          <a:bodyPr/>
          <a:lstStyle/>
          <a:p>
            <a:pPr marL="87313" lvl="1" indent="369888"/>
            <a:r>
              <a:rPr lang="en-US" sz="2000" b="1" dirty="0"/>
              <a:t>Purpose</a:t>
            </a:r>
            <a:r>
              <a:rPr lang="en-US" sz="2000" dirty="0"/>
              <a:t>: Summarize the distribution of a dataset.</a:t>
            </a:r>
          </a:p>
          <a:p>
            <a:pPr marL="87313" lvl="1" indent="369888"/>
            <a:r>
              <a:rPr lang="en-US" sz="2000" b="1" dirty="0"/>
              <a:t>Inference</a:t>
            </a:r>
            <a:r>
              <a:rPr lang="en-US" sz="2000" dirty="0"/>
              <a:t>: Detect outliers, understand the spread and symmetry of the data.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25" y="2855934"/>
            <a:ext cx="374332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872" y="3781468"/>
            <a:ext cx="5150155" cy="280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580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Scatter 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4063"/>
            <a:ext cx="8968636" cy="1594285"/>
          </a:xfrm>
        </p:spPr>
        <p:txBody>
          <a:bodyPr/>
          <a:lstStyle/>
          <a:p>
            <a:pPr lvl="1"/>
            <a:r>
              <a:rPr lang="en-US" sz="2200" b="1" dirty="0"/>
              <a:t>Purpose</a:t>
            </a:r>
            <a:r>
              <a:rPr lang="en-US" sz="2200" dirty="0"/>
              <a:t>: Visualize the relationship between two continuous variables.</a:t>
            </a:r>
          </a:p>
          <a:p>
            <a:pPr lvl="1"/>
            <a:r>
              <a:rPr lang="en-US" sz="2200" b="1" dirty="0"/>
              <a:t>Inference</a:t>
            </a:r>
            <a:r>
              <a:rPr lang="en-US" sz="2200" dirty="0"/>
              <a:t>: Identify correlations, clusters, and potential outliers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11" y="3072868"/>
            <a:ext cx="689768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930" y="4197079"/>
            <a:ext cx="4904344" cy="2209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969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/>
            <a:r>
              <a:rPr lang="en-US" b="1" dirty="0"/>
              <a:t>Pair Plots (Scatterplot Matrix)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b="1" dirty="0"/>
              <a:t>Purpose</a:t>
            </a:r>
            <a:r>
              <a:rPr lang="en-US" sz="2000" dirty="0"/>
              <a:t>: Visualize pairwise relationships between multiple variables.</a:t>
            </a:r>
          </a:p>
          <a:p>
            <a:pPr lvl="1"/>
            <a:r>
              <a:rPr lang="en-US" sz="2000" b="1" dirty="0"/>
              <a:t>Inference</a:t>
            </a:r>
            <a:r>
              <a:rPr lang="en-US" sz="2000" dirty="0"/>
              <a:t>: Detect relationships between pairs of features, spot trends, clusters, and outliers.</a:t>
            </a:r>
          </a:p>
        </p:txBody>
      </p:sp>
    </p:spTree>
    <p:extLst>
      <p:ext uri="{BB962C8B-B14F-4D97-AF65-F5344CB8AC3E}">
        <p14:creationId xmlns:p14="http://schemas.microsoft.com/office/powerpoint/2010/main" val="123593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Correlation Matrix and </a:t>
            </a:r>
            <a:r>
              <a:rPr lang="en-US" b="1" dirty="0" err="1"/>
              <a:t>Heatmaps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75842"/>
            <a:ext cx="8367386" cy="1418921"/>
          </a:xfrm>
        </p:spPr>
        <p:txBody>
          <a:bodyPr>
            <a:normAutofit/>
          </a:bodyPr>
          <a:lstStyle/>
          <a:p>
            <a:pPr lvl="1"/>
            <a:r>
              <a:rPr lang="en-US" sz="2000" b="1" dirty="0"/>
              <a:t>Purpose</a:t>
            </a:r>
            <a:r>
              <a:rPr lang="en-US" sz="2000" dirty="0"/>
              <a:t>: Show the correlation coefficients between variables.</a:t>
            </a:r>
          </a:p>
          <a:p>
            <a:pPr lvl="1"/>
            <a:r>
              <a:rPr lang="en-US" sz="2000" b="1" dirty="0"/>
              <a:t>Inference</a:t>
            </a:r>
            <a:r>
              <a:rPr lang="en-US" sz="2000" dirty="0"/>
              <a:t>: Identify highly correlated features that might be redundant.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17" y="4149364"/>
            <a:ext cx="6037944" cy="147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3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Bar 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23371"/>
            <a:ext cx="8768218" cy="1130823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000" b="1" dirty="0"/>
              <a:t>Purpose</a:t>
            </a:r>
            <a:r>
              <a:rPr lang="en-US" sz="2000" dirty="0"/>
              <a:t>: Compare categorical data.</a:t>
            </a:r>
          </a:p>
          <a:p>
            <a:pPr lvl="1"/>
            <a:r>
              <a:rPr lang="en-US" sz="2000" b="1" dirty="0"/>
              <a:t>Inference</a:t>
            </a:r>
            <a:r>
              <a:rPr lang="en-US" sz="2000" dirty="0"/>
              <a:t>: Understand the frequency distribution of categorical features.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3071943"/>
            <a:ext cx="48958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33" y="3985017"/>
            <a:ext cx="6150279" cy="2551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943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Density 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47" y="1622675"/>
            <a:ext cx="8555275" cy="1018088"/>
          </a:xfrm>
        </p:spPr>
        <p:txBody>
          <a:bodyPr/>
          <a:lstStyle/>
          <a:p>
            <a:r>
              <a:rPr lang="en-US" dirty="0"/>
              <a:t>Density plots display the probability density function of a continuous variable. They are useful for visualizing the overall shape of the distribution and comparing multiple distributions.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41" y="2837536"/>
            <a:ext cx="38481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41" y="3653838"/>
            <a:ext cx="5134092" cy="279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375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Distribution </a:t>
            </a:r>
            <a:r>
              <a:rPr lang="en-US" b="1" dirty="0"/>
              <a:t>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2274"/>
            <a:ext cx="8773450" cy="280931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distribution plot </a:t>
            </a:r>
            <a:r>
              <a:rPr lang="en-US" dirty="0"/>
              <a:t>is a visualization that combines aspects of a histogram and a kernel density plot to show the distribution of a continuous variable. </a:t>
            </a:r>
          </a:p>
          <a:p>
            <a:r>
              <a:rPr lang="en-US" dirty="0"/>
              <a:t>It is useful for understanding the distribution of data points in a dataset and identifying patterns such as skewness, kurtosis, and the presence of outliers. </a:t>
            </a:r>
          </a:p>
          <a:p>
            <a:r>
              <a:rPr lang="en-US" dirty="0" err="1"/>
              <a:t>sns.histplot</a:t>
            </a:r>
            <a:r>
              <a:rPr lang="en-US" dirty="0"/>
              <a:t> is used instead of </a:t>
            </a:r>
            <a:r>
              <a:rPr lang="en-US" dirty="0" err="1"/>
              <a:t>sns.distplot</a:t>
            </a:r>
            <a:r>
              <a:rPr lang="en-US" dirty="0"/>
              <a:t>.</a:t>
            </a:r>
          </a:p>
          <a:p>
            <a:r>
              <a:rPr lang="en-US" dirty="0"/>
              <a:t>The parameter </a:t>
            </a:r>
            <a:r>
              <a:rPr lang="en-US" dirty="0" err="1"/>
              <a:t>kde</a:t>
            </a:r>
            <a:r>
              <a:rPr lang="en-US" dirty="0"/>
              <a:t>=True adds the KDE line to the histogram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7" y="4183693"/>
            <a:ext cx="8784976" cy="1789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767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2735" y="835765"/>
            <a:ext cx="8780746" cy="13688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recent versions of </a:t>
            </a:r>
            <a:r>
              <a:rPr lang="en-US" dirty="0" err="1"/>
              <a:t>Seaborn</a:t>
            </a:r>
            <a:r>
              <a:rPr lang="en-US" dirty="0"/>
              <a:t> (0.11.0 and later), </a:t>
            </a:r>
            <a:r>
              <a:rPr lang="en-US" dirty="0" err="1"/>
              <a:t>sns.distplot</a:t>
            </a:r>
            <a:r>
              <a:rPr lang="en-US" dirty="0"/>
              <a:t> has been deprecated.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Instead, you should use </a:t>
            </a:r>
            <a:r>
              <a:rPr lang="en-US" dirty="0" err="1"/>
              <a:t>sns.histplot</a:t>
            </a:r>
            <a:r>
              <a:rPr lang="en-US" dirty="0"/>
              <a:t> or </a:t>
            </a:r>
            <a:r>
              <a:rPr lang="en-US" dirty="0" err="1"/>
              <a:t>sns.kdeplot</a:t>
            </a:r>
            <a:r>
              <a:rPr lang="en-US" dirty="0"/>
              <a:t> for similar functionality. Here's how to create a similar plot using </a:t>
            </a:r>
            <a:r>
              <a:rPr lang="en-US" dirty="0" err="1"/>
              <a:t>sns.histplot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11816"/>
            <a:ext cx="4420217" cy="254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134" y="2780927"/>
            <a:ext cx="4338241" cy="280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517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Count Plots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82" y="1737639"/>
            <a:ext cx="7954028" cy="917879"/>
          </a:xfrm>
        </p:spPr>
        <p:txBody>
          <a:bodyPr/>
          <a:lstStyle/>
          <a:p>
            <a:pPr lvl="1"/>
            <a:r>
              <a:rPr lang="en-US" b="1" dirty="0"/>
              <a:t>Purpose</a:t>
            </a:r>
            <a:r>
              <a:rPr lang="en-US" dirty="0"/>
              <a:t>: Show the counts of observations in each categorical bin.</a:t>
            </a:r>
          </a:p>
          <a:p>
            <a:pPr lvl="1"/>
            <a:r>
              <a:rPr lang="en-US" b="1" dirty="0"/>
              <a:t>Inference</a:t>
            </a:r>
            <a:r>
              <a:rPr lang="en-US" dirty="0"/>
              <a:t>: Detect the distribution of categorical features.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01" y="2797827"/>
            <a:ext cx="5372850" cy="331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9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10" y="985824"/>
            <a:ext cx="6371023" cy="440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4" y="1174356"/>
            <a:ext cx="7607182" cy="185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Pie Plot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8028" y="1599852"/>
            <a:ext cx="8763752" cy="1681967"/>
          </a:xfrm>
        </p:spPr>
        <p:txBody>
          <a:bodyPr>
            <a:normAutofit/>
          </a:bodyPr>
          <a:lstStyle/>
          <a:p>
            <a:r>
              <a:rPr lang="en-US" dirty="0"/>
              <a:t>A pie plot (or pie chart) is a circular statistical graphic that is divided into slices to illustrate numerical proportions. Each slice represents a category's proportion to the whole dataset. Pie charts are useful for showing the relative sizes of parts to a whole, making it easy to compare the parts of a single categorical variable.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44" y="3432132"/>
            <a:ext cx="5041870" cy="273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7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94" y="1121067"/>
            <a:ext cx="8530225" cy="373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5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68" y="1005912"/>
            <a:ext cx="8013119" cy="360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8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74" y="0"/>
            <a:ext cx="6347713" cy="747395"/>
          </a:xfrm>
        </p:spPr>
        <p:txBody>
          <a:bodyPr/>
          <a:lstStyle/>
          <a:p>
            <a:r>
              <a:rPr lang="en-US" dirty="0"/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9" y="915195"/>
            <a:ext cx="7648576" cy="103743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Feature selection</a:t>
            </a:r>
            <a:r>
              <a:rPr lang="en-US" dirty="0"/>
              <a:t> is the process of selecting a subset of relevant features (input variables) for building robust and efficient models</a:t>
            </a:r>
            <a:r>
              <a:rPr lang="en-US" dirty="0" smtClean="0"/>
              <a:t>.</a:t>
            </a:r>
            <a:r>
              <a:rPr lang="en-US" dirty="0"/>
              <a:t> If number of features are too large to handle than it is wise approach to remove insignificant features.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157017"/>
              </p:ext>
            </p:extLst>
          </p:nvPr>
        </p:nvGraphicFramePr>
        <p:xfrm>
          <a:off x="419099" y="2577625"/>
          <a:ext cx="7686676" cy="3883023"/>
        </p:xfrm>
        <a:graphic>
          <a:graphicData uri="http://schemas.openxmlformats.org/drawingml/2006/table">
            <a:tbl>
              <a:tblPr/>
              <a:tblGrid>
                <a:gridCol w="3843338"/>
                <a:gridCol w="3843338"/>
              </a:tblGrid>
              <a:tr h="345017">
                <a:tc>
                  <a:txBody>
                    <a:bodyPr/>
                    <a:lstStyle/>
                    <a:p>
                      <a:r>
                        <a:rPr lang="en-US" sz="1700" b="1" dirty="0"/>
                        <a:t>Reason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Explanation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2541"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Improve </a:t>
                      </a:r>
                      <a:r>
                        <a:rPr lang="en-US" sz="1700" b="1" dirty="0"/>
                        <a:t>model performance</a:t>
                      </a:r>
                      <a:endParaRPr lang="en-US" sz="1700" dirty="0"/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Removes noise and irrelevant features that reduce accuracy.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2541"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Avoid </a:t>
                      </a:r>
                      <a:r>
                        <a:rPr lang="en-US" sz="1700" b="1" dirty="0"/>
                        <a:t>overfitting</a:t>
                      </a:r>
                      <a:endParaRPr lang="en-US" sz="1700" dirty="0"/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Less features = less complexity = better generalization.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779"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 </a:t>
                      </a:r>
                      <a:r>
                        <a:rPr lang="en-US" sz="1700" b="1" dirty="0"/>
                        <a:t>Faster training</a:t>
                      </a:r>
                      <a:endParaRPr lang="en-US" sz="1700" dirty="0"/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Reduces dimensionality, so algorithms run faster.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779"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Model </a:t>
                      </a:r>
                      <a:r>
                        <a:rPr lang="en-US" sz="1700" b="1" dirty="0"/>
                        <a:t>interpretability</a:t>
                      </a:r>
                      <a:endParaRPr lang="en-US" sz="1700" dirty="0"/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Fewer features = easier to explain.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779"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 </a:t>
                      </a:r>
                      <a:r>
                        <a:rPr lang="en-US" sz="1700" b="1" dirty="0"/>
                        <a:t>Remove multicollinearity</a:t>
                      </a:r>
                      <a:endParaRPr lang="en-US" sz="1700" dirty="0"/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Helps avoid misleading model coefficients.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10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715126" cy="1320800"/>
          </a:xfrm>
        </p:spPr>
        <p:txBody>
          <a:bodyPr/>
          <a:lstStyle/>
          <a:p>
            <a:r>
              <a:rPr lang="en-US" b="1" dirty="0"/>
              <a:t>Filter Methods</a:t>
            </a:r>
            <a:r>
              <a:rPr lang="en-US" dirty="0"/>
              <a:t> (Before model training)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599" y="2274230"/>
            <a:ext cx="34419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chi2()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(for classification)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f_classif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/ ANOVA F-test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matrix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df.corr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76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070" y="805576"/>
            <a:ext cx="5921142" cy="140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4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Wrapper Methods</a:t>
            </a:r>
            <a:r>
              <a:rPr lang="en-US" dirty="0"/>
              <a:t> (Model + Evaluation)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1"/>
            <a:ext cx="6347714" cy="1592260"/>
          </a:xfrm>
        </p:spPr>
        <p:txBody>
          <a:bodyPr/>
          <a:lstStyle/>
          <a:p>
            <a:r>
              <a:rPr lang="en-US" dirty="0"/>
              <a:t>Recursive Feature Elimination (RFE)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15" y="2809760"/>
            <a:ext cx="469648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9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Recursive Feature Elimination (RFE)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129" y="1961565"/>
            <a:ext cx="7331903" cy="1620879"/>
          </a:xfrm>
        </p:spPr>
        <p:txBody>
          <a:bodyPr/>
          <a:lstStyle/>
          <a:p>
            <a:r>
              <a:rPr lang="en-US" b="1" dirty="0"/>
              <a:t>Purpose:</a:t>
            </a:r>
          </a:p>
          <a:p>
            <a:r>
              <a:rPr lang="en-US" dirty="0"/>
              <a:t>RFE is a feature selection method that iteratively removes less important features based on the model's performance, identifying the most influential features for predicting the target variable.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4129" y="3429000"/>
            <a:ext cx="75197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Mathematical Basis: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Importance: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RFE uses an estimator (e.g., Logistic Regression, Random Forest, etc.) that provides feature importance, such as weights or coefficients.</a:t>
            </a:r>
          </a:p>
        </p:txBody>
      </p:sp>
    </p:spTree>
    <p:extLst>
      <p:ext uri="{BB962C8B-B14F-4D97-AF65-F5344CB8AC3E}">
        <p14:creationId xmlns:p14="http://schemas.microsoft.com/office/powerpoint/2010/main" val="70130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304" y="158663"/>
            <a:ext cx="6347713" cy="680581"/>
          </a:xfrm>
        </p:spPr>
        <p:txBody>
          <a:bodyPr/>
          <a:lstStyle/>
          <a:p>
            <a:r>
              <a:rPr lang="en-US" b="1" dirty="0"/>
              <a:t>Steps</a:t>
            </a:r>
            <a:r>
              <a:rPr lang="en-US" dirty="0"/>
              <a:t>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26304" y="932147"/>
            <a:ext cx="5981125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the model on the dataset.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 features based on their importance scores.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the least important feature(s).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until the desired number of features remains.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303" y="2960204"/>
            <a:ext cx="7289729" cy="336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Advantages: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Identifies the most critical features for the model.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improve model performance by eliminating redundant or irrelevant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Works well with small to medium datasets.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Disadvantages: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Computationally expensive for large datasets.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Performance depends on the chosen estimator.</a:t>
            </a:r>
          </a:p>
        </p:txBody>
      </p:sp>
    </p:spTree>
    <p:extLst>
      <p:ext uri="{BB962C8B-B14F-4D97-AF65-F5344CB8AC3E}">
        <p14:creationId xmlns:p14="http://schemas.microsoft.com/office/powerpoint/2010/main" val="418946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58" y="45929"/>
            <a:ext cx="6347713" cy="755737"/>
          </a:xfrm>
        </p:spPr>
        <p:txBody>
          <a:bodyPr/>
          <a:lstStyle/>
          <a:p>
            <a:r>
              <a:rPr lang="en-US" b="1" dirty="0"/>
              <a:t>Code Example</a:t>
            </a:r>
            <a:r>
              <a:rPr lang="en-US" dirty="0"/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58" y="706328"/>
            <a:ext cx="813356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sklearn.feature_selection</a:t>
            </a:r>
            <a:r>
              <a:rPr lang="en-US" dirty="0"/>
              <a:t> import RFE</a:t>
            </a:r>
          </a:p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LogisticRegression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sklearn.datasets</a:t>
            </a:r>
            <a:r>
              <a:rPr lang="en-US" dirty="0"/>
              <a:t> import </a:t>
            </a:r>
            <a:r>
              <a:rPr lang="en-US" dirty="0" err="1"/>
              <a:t>load_iris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Load dataset</a:t>
            </a:r>
          </a:p>
          <a:p>
            <a:r>
              <a:rPr lang="en-US" dirty="0"/>
              <a:t>data = </a:t>
            </a:r>
            <a:r>
              <a:rPr lang="en-US" dirty="0" err="1"/>
              <a:t>load_iris</a:t>
            </a:r>
            <a:r>
              <a:rPr lang="en-US" dirty="0"/>
              <a:t>()</a:t>
            </a:r>
          </a:p>
          <a:p>
            <a:r>
              <a:rPr lang="en-US" dirty="0"/>
              <a:t>X, y = </a:t>
            </a:r>
            <a:r>
              <a:rPr lang="en-US" dirty="0" err="1"/>
              <a:t>data.data</a:t>
            </a:r>
            <a:r>
              <a:rPr lang="en-US" dirty="0"/>
              <a:t>, </a:t>
            </a:r>
            <a:r>
              <a:rPr lang="en-US" dirty="0" err="1"/>
              <a:t>data.target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Train-test split</a:t>
            </a:r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=0.3,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endParaRPr lang="en-US" dirty="0"/>
          </a:p>
          <a:p>
            <a:r>
              <a:rPr lang="en-US" dirty="0"/>
              <a:t># Logistic Regression as estimator</a:t>
            </a:r>
          </a:p>
          <a:p>
            <a:r>
              <a:rPr lang="en-US" dirty="0" err="1"/>
              <a:t>logitR</a:t>
            </a:r>
            <a:r>
              <a:rPr lang="en-US" dirty="0"/>
              <a:t> = </a:t>
            </a:r>
            <a:r>
              <a:rPr lang="en-US" dirty="0" err="1"/>
              <a:t>LogisticRegression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Apply RFE to select top 2 features</a:t>
            </a:r>
          </a:p>
          <a:p>
            <a:r>
              <a:rPr lang="en-US" dirty="0"/>
              <a:t>selector = RFE(estimator=</a:t>
            </a:r>
            <a:r>
              <a:rPr lang="en-US" dirty="0" err="1"/>
              <a:t>logitR</a:t>
            </a:r>
            <a:r>
              <a:rPr lang="en-US" dirty="0"/>
              <a:t>, </a:t>
            </a:r>
            <a:r>
              <a:rPr lang="en-US" dirty="0" err="1"/>
              <a:t>n_features_to_select</a:t>
            </a:r>
            <a:r>
              <a:rPr lang="en-US" dirty="0"/>
              <a:t>=2, step=1)</a:t>
            </a:r>
          </a:p>
          <a:p>
            <a:r>
              <a:rPr lang="en-US" dirty="0" err="1"/>
              <a:t>selector.fit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Selected features</a:t>
            </a:r>
          </a:p>
          <a:p>
            <a:r>
              <a:rPr lang="en-US" dirty="0"/>
              <a:t>print("Selected Features:", </a:t>
            </a:r>
            <a:r>
              <a:rPr lang="en-US" dirty="0" err="1"/>
              <a:t>selector.support</a:t>
            </a:r>
            <a:r>
              <a:rPr lang="en-US" dirty="0"/>
              <a:t>_)</a:t>
            </a:r>
          </a:p>
          <a:p>
            <a:r>
              <a:rPr lang="en-US" dirty="0"/>
              <a:t>print("Feature Ranking:", </a:t>
            </a:r>
            <a:r>
              <a:rPr lang="en-US" dirty="0" err="1"/>
              <a:t>selector.ranking</a:t>
            </a:r>
            <a:r>
              <a:rPr lang="en-US" dirty="0"/>
              <a:t>_)</a:t>
            </a:r>
          </a:p>
        </p:txBody>
      </p:sp>
    </p:spTree>
    <p:extLst>
      <p:ext uri="{BB962C8B-B14F-4D97-AF65-F5344CB8AC3E}">
        <p14:creationId xmlns:p14="http://schemas.microsoft.com/office/powerpoint/2010/main" val="34790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52" y="413358"/>
            <a:ext cx="6898581" cy="520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5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" y="169591"/>
            <a:ext cx="6347713" cy="1320800"/>
          </a:xfrm>
        </p:spPr>
        <p:txBody>
          <a:bodyPr/>
          <a:lstStyle/>
          <a:p>
            <a:r>
              <a:rPr lang="en-US" b="1" dirty="0"/>
              <a:t>Embedded Methods</a:t>
            </a:r>
            <a:r>
              <a:rPr lang="en-US" dirty="0"/>
              <a:t> (Model with built-in selection)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3877899"/>
            <a:ext cx="6696076" cy="1584692"/>
          </a:xfrm>
        </p:spPr>
        <p:txBody>
          <a:bodyPr>
            <a:normAutofit/>
          </a:bodyPr>
          <a:lstStyle/>
          <a:p>
            <a:r>
              <a:rPr lang="en-US" b="1" dirty="0" smtClean="0"/>
              <a:t>Purpose</a:t>
            </a:r>
            <a:r>
              <a:rPr lang="en-US" b="1" dirty="0"/>
              <a:t>:</a:t>
            </a:r>
          </a:p>
          <a:p>
            <a:r>
              <a:rPr lang="en-US" dirty="0"/>
              <a:t>PCA is a dimensionality reduction technique that transforms the dataset into a lower-dimensional space while preserving as much variance as possible.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09575" y="1384930"/>
            <a:ext cx="850582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Lasso (L1 Regularization)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Trees / Random Forest feature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importance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PCA :Principal Component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01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180" y="581025"/>
            <a:ext cx="6743701" cy="73342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PCA:</a:t>
            </a:r>
            <a:r>
              <a:rPr lang="en-US" b="1" dirty="0"/>
              <a:t>Principal Component Analysis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791" y="2129356"/>
            <a:ext cx="5420481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7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9" y="496254"/>
            <a:ext cx="6494601" cy="494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7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7" y="1019675"/>
            <a:ext cx="6885765" cy="37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8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Differences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75" y="1771419"/>
            <a:ext cx="7124229" cy="291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0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18961</TotalTime>
  <Words>3322</Words>
  <Application>Microsoft Office PowerPoint</Application>
  <PresentationFormat>On-screen Show (4:3)</PresentationFormat>
  <Paragraphs>360</Paragraphs>
  <Slides>115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5" baseType="lpstr">
      <vt:lpstr>Arial Unicode MS</vt:lpstr>
      <vt:lpstr>Arial</vt:lpstr>
      <vt:lpstr>Calibri</vt:lpstr>
      <vt:lpstr>Söhne</vt:lpstr>
      <vt:lpstr>Söhne Mono</vt:lpstr>
      <vt:lpstr>Trebuchet MS</vt:lpstr>
      <vt:lpstr>var(--jp-code-font-family)</vt:lpstr>
      <vt:lpstr>Wingdings</vt:lpstr>
      <vt:lpstr>Wingdings 3</vt:lpstr>
      <vt:lpstr>Facet</vt:lpstr>
      <vt:lpstr>Data Preprocessing</vt:lpstr>
      <vt:lpstr>Introduction</vt:lpstr>
      <vt:lpstr>Basic Steps in Data Preprocessing</vt:lpstr>
      <vt:lpstr>PowerPoint Presentation</vt:lpstr>
      <vt:lpstr>Import Important Libraries</vt:lpstr>
      <vt:lpstr>Purpose of Libraries</vt:lpstr>
      <vt:lpstr>Importing Data</vt:lpstr>
      <vt:lpstr>Finding and Handling Duplicate</vt:lpstr>
      <vt:lpstr>Handling Duplicates</vt:lpstr>
      <vt:lpstr>Handling Missing Values</vt:lpstr>
      <vt:lpstr>Imputation Method </vt:lpstr>
      <vt:lpstr>PowerPoint Presentation</vt:lpstr>
      <vt:lpstr>PowerPoint Presentation</vt:lpstr>
      <vt:lpstr>PowerPoint Presentation</vt:lpstr>
      <vt:lpstr>Encoding Categorical Variables</vt:lpstr>
      <vt:lpstr>Label Encoding </vt:lpstr>
      <vt:lpstr>PowerPoint Presentation</vt:lpstr>
      <vt:lpstr>PowerPoint Presentation</vt:lpstr>
      <vt:lpstr>One-Hot Encoding</vt:lpstr>
      <vt:lpstr>PowerPoint Presentation</vt:lpstr>
      <vt:lpstr>PowerPoint Presentation</vt:lpstr>
      <vt:lpstr>Handling Outlier</vt:lpstr>
      <vt:lpstr>Approaches to Handle Outliers </vt:lpstr>
      <vt:lpstr>Finding Outliers Using IQR method</vt:lpstr>
      <vt:lpstr>PowerPoint Presentation</vt:lpstr>
      <vt:lpstr>PowerPoint Presentation</vt:lpstr>
      <vt:lpstr>Handling outlier using capping by IQR </vt:lpstr>
      <vt:lpstr>Distribution and box plot</vt:lpstr>
      <vt:lpstr>Handling outlier using capping by Z score: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visualize  the outliers by distribution plot and boxplot: </vt:lpstr>
      <vt:lpstr>Log Transformation</vt:lpstr>
      <vt:lpstr>PowerPoint Presentation</vt:lpstr>
      <vt:lpstr>Square Root Transform</vt:lpstr>
      <vt:lpstr>PowerPoint Presentation</vt:lpstr>
      <vt:lpstr>Box-Cox Transformation </vt:lpstr>
      <vt:lpstr>PowerPoint Presentation</vt:lpstr>
      <vt:lpstr>PowerPoint Presentation</vt:lpstr>
      <vt:lpstr>Winsorization: </vt:lpstr>
      <vt:lpstr>PowerPoint Presentation</vt:lpstr>
      <vt:lpstr>Feature Scaling</vt:lpstr>
      <vt:lpstr>Standardization:</vt:lpstr>
      <vt:lpstr>When to Use Standard Scaler </vt:lpstr>
      <vt:lpstr>PowerPoint Presentation</vt:lpstr>
      <vt:lpstr>When to Use Standard Scaler: </vt:lpstr>
      <vt:lpstr>Normalizer: </vt:lpstr>
      <vt:lpstr>When to Use Normalizer: </vt:lpstr>
      <vt:lpstr>PowerPoint Presentation</vt:lpstr>
      <vt:lpstr>PowerPoint Presentation</vt:lpstr>
      <vt:lpstr>Concept of fit_transform and transform:  When to Use</vt:lpstr>
      <vt:lpstr>PowerPoint Presentation</vt:lpstr>
      <vt:lpstr>Common Data Types and Their Handling</vt:lpstr>
      <vt:lpstr>Numerical Data: </vt:lpstr>
      <vt:lpstr>Categorical Data: </vt:lpstr>
      <vt:lpstr>PowerPoint Presentation</vt:lpstr>
      <vt:lpstr>PowerPoint Presentation</vt:lpstr>
      <vt:lpstr>Categorical Data: </vt:lpstr>
      <vt:lpstr>Datetime Data: </vt:lpstr>
      <vt:lpstr>Convert Data Types: </vt:lpstr>
      <vt:lpstr>Example</vt:lpstr>
      <vt:lpstr>pd.to_numeric(df['number'], errors='coerce', downcast='integer') </vt:lpstr>
      <vt:lpstr>PowerPoint Presentation</vt:lpstr>
      <vt:lpstr>np.where(df['num_numerical'].isnull(), df['number'], np.nan) </vt:lpstr>
      <vt:lpstr>Data Balancing</vt:lpstr>
      <vt:lpstr>RandomOverSampler</vt:lpstr>
      <vt:lpstr>SMOTE (Synthetic minority oversampling technique)</vt:lpstr>
      <vt:lpstr>Cross Tabs for Feature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Exploratory Data Analysis (EDA):</vt:lpstr>
      <vt:lpstr>What we can do in 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Visualization</vt:lpstr>
      <vt:lpstr>Visualization Techniques for EDA</vt:lpstr>
      <vt:lpstr>Histograms </vt:lpstr>
      <vt:lpstr>Box Plots</vt:lpstr>
      <vt:lpstr>Scatter Plots</vt:lpstr>
      <vt:lpstr>Pair Plots (Scatterplot Matrix)</vt:lpstr>
      <vt:lpstr>Correlation Matrix and Heatmaps </vt:lpstr>
      <vt:lpstr>Bar Plots</vt:lpstr>
      <vt:lpstr>Density plots</vt:lpstr>
      <vt:lpstr>Distribution plot</vt:lpstr>
      <vt:lpstr>PowerPoint Presentation</vt:lpstr>
      <vt:lpstr>Count Plots </vt:lpstr>
      <vt:lpstr>PowerPoint Presentation</vt:lpstr>
      <vt:lpstr>PowerPoint Presentation</vt:lpstr>
      <vt:lpstr>Pie Plot</vt:lpstr>
      <vt:lpstr>PowerPoint Presentation</vt:lpstr>
      <vt:lpstr>PowerPoint Presentation</vt:lpstr>
      <vt:lpstr>Feature Selection</vt:lpstr>
      <vt:lpstr>Filter Methods (Before model training)</vt:lpstr>
      <vt:lpstr>PowerPoint Presentation</vt:lpstr>
      <vt:lpstr>Wrapper Methods (Model + Evaluation)</vt:lpstr>
      <vt:lpstr>Recursive Feature Elimination (RFE)</vt:lpstr>
      <vt:lpstr>Steps:</vt:lpstr>
      <vt:lpstr>Code Example:</vt:lpstr>
      <vt:lpstr>PowerPoint Presentation</vt:lpstr>
      <vt:lpstr>Embedded Methods (Model with built-in selection)</vt:lpstr>
      <vt:lpstr>PCA:Principal Component Analysis </vt:lpstr>
      <vt:lpstr>PowerPoint Presentation</vt:lpstr>
      <vt:lpstr>PowerPoint Presentation</vt:lpstr>
      <vt:lpstr>Key Differences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</dc:title>
  <dc:subject/>
  <dc:creator>PANKAJ SHARMA</dc:creator>
  <cp:keywords/>
  <dc:description>generated using python-pptx</dc:description>
  <cp:lastModifiedBy>PANKAJ SHARMA</cp:lastModifiedBy>
  <cp:revision>65</cp:revision>
  <dcterms:created xsi:type="dcterms:W3CDTF">2013-01-27T09:14:16Z</dcterms:created>
  <dcterms:modified xsi:type="dcterms:W3CDTF">2025-06-27T08:04:44Z</dcterms:modified>
  <cp:category/>
</cp:coreProperties>
</file>