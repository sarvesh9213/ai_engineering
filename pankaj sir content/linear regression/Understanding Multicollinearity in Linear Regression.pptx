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Understanding Multicollinearity in Linear Regression</a:t>
            </a:r>
            <a:r>
              <a:rPr lang="en-US" sz="3200" b="1" dirty="0" smtClean="0"/>
              <a:t>: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Good or Bad?</a:t>
            </a:r>
          </a:p>
        </p:txBody>
      </p:sp>
    </p:spTree>
    <p:extLst>
      <p:ext uri="{BB962C8B-B14F-4D97-AF65-F5344CB8AC3E}">
        <p14:creationId xmlns:p14="http://schemas.microsoft.com/office/powerpoint/2010/main" val="83599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Understanding Multicollinearity in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In linear regression, we often check how well independent variables (predictors) explain the dependent variable (target</a:t>
            </a:r>
            <a:r>
              <a:rPr lang="en-US" dirty="0" smtClean="0"/>
              <a:t>).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But what happens when two independent variables are highly correlated with </a:t>
            </a:r>
            <a:r>
              <a:rPr lang="en-US" b="1" dirty="0"/>
              <a:t>each other</a:t>
            </a:r>
            <a:r>
              <a:rPr lang="en-US" dirty="0" smtClean="0"/>
              <a:t>?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Is it a problem?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Let’s </a:t>
            </a:r>
            <a:r>
              <a:rPr lang="en-US" dirty="0"/>
              <a:t>break it down!</a:t>
            </a:r>
          </a:p>
        </p:txBody>
      </p:sp>
    </p:spTree>
    <p:extLst>
      <p:ext uri="{BB962C8B-B14F-4D97-AF65-F5344CB8AC3E}">
        <p14:creationId xmlns:p14="http://schemas.microsoft.com/office/powerpoint/2010/main" val="426921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Good for a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9109"/>
            <a:ext cx="8596668" cy="388077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When independent variables (</a:t>
            </a:r>
            <a:r>
              <a:rPr lang="en-US" b="1" dirty="0"/>
              <a:t>X1, X2, ...</a:t>
            </a:r>
            <a:r>
              <a:rPr lang="en-US" dirty="0"/>
              <a:t>) have a </a:t>
            </a:r>
            <a:r>
              <a:rPr lang="en-US" b="1" dirty="0"/>
              <a:t>strong correlation with the dependent variable (Y)</a:t>
            </a:r>
            <a:r>
              <a:rPr lang="en-US" dirty="0"/>
              <a:t>, it means they provide useful information for prediction</a:t>
            </a:r>
            <a:r>
              <a:rPr lang="en-US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 </a:t>
            </a:r>
            <a:r>
              <a:rPr lang="en-US" b="1" dirty="0"/>
              <a:t>This improves the model's predictive power.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704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270" y="417576"/>
            <a:ext cx="9426786" cy="1320800"/>
          </a:xfrm>
        </p:spPr>
        <p:txBody>
          <a:bodyPr/>
          <a:lstStyle/>
          <a:p>
            <a:r>
              <a:rPr lang="en-US" b="1" dirty="0"/>
              <a:t>What Causes Problems? (Multicollinearity)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854" y="1630237"/>
            <a:ext cx="9445074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If two independent variables (</a:t>
            </a:r>
            <a:r>
              <a:rPr lang="en-US" b="1" dirty="0"/>
              <a:t>X1 and X2</a:t>
            </a:r>
            <a:r>
              <a:rPr lang="en-US" dirty="0"/>
              <a:t>) are </a:t>
            </a:r>
            <a:r>
              <a:rPr lang="en-US" b="1" dirty="0"/>
              <a:t>highly correlated with each other</a:t>
            </a:r>
            <a:r>
              <a:rPr lang="en-US" dirty="0"/>
              <a:t>, it leads to </a:t>
            </a:r>
            <a:r>
              <a:rPr lang="en-US" b="1" dirty="0"/>
              <a:t>multicollinearity</a:t>
            </a:r>
            <a:r>
              <a:rPr lang="en-US" dirty="0"/>
              <a:t>, which can cause: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Unstable Coefficients:</a:t>
            </a:r>
            <a:r>
              <a:rPr lang="en-US" dirty="0"/>
              <a:t> The model struggles to decide the contribution of each variable.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High Variance in Estimates:</a:t>
            </a:r>
            <a:r>
              <a:rPr lang="en-US" dirty="0"/>
              <a:t> Small changes in data can lead to big changes in regression coefficients.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Difficult Interpretation:</a:t>
            </a:r>
            <a:r>
              <a:rPr lang="en-US" dirty="0"/>
              <a:t> Hard to determine which predictor is more important.</a:t>
            </a:r>
          </a:p>
        </p:txBody>
      </p:sp>
    </p:spTree>
    <p:extLst>
      <p:ext uri="{BB962C8B-B14F-4D97-AF65-F5344CB8AC3E}">
        <p14:creationId xmlns:p14="http://schemas.microsoft.com/office/powerpoint/2010/main" val="7956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Detect Multicollinearity?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77334" y="1153472"/>
            <a:ext cx="1038297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Correlation Matrix: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two independent variables have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 &gt; 0.7, multicollinearity might exist.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 Inflation Factor (VIF):</a:t>
            </a:r>
          </a:p>
          <a:p>
            <a:pPr lvl="1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VIF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 5 or 10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signals multicollinearity.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93663" lvl="1" indent="-93663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b="1" dirty="0" smtClean="0"/>
              <a:t>   Drop </a:t>
            </a:r>
            <a:r>
              <a:rPr lang="en-US" b="1" dirty="0"/>
              <a:t>One Variable If Needed</a:t>
            </a:r>
            <a:r>
              <a:rPr lang="en-US" b="1" dirty="0" smtClean="0"/>
              <a:t>:</a:t>
            </a:r>
          </a:p>
          <a:p>
            <a:pPr marL="93663" lvl="1" indent="-93663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dirty="0" smtClean="0"/>
              <a:t> If </a:t>
            </a:r>
            <a:r>
              <a:rPr lang="en-US" dirty="0"/>
              <a:t>two independent variables are highly correlated and provide similar information, consider removing one.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94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General Rule: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5101"/>
            <a:ext cx="8596668" cy="388077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/>
              <a:t>Good:</a:t>
            </a:r>
            <a:r>
              <a:rPr lang="en-US" dirty="0"/>
              <a:t> Strong correlation between </a:t>
            </a:r>
            <a:r>
              <a:rPr lang="en-US" b="1" dirty="0"/>
              <a:t>independent variables and the dependent variable (Y)</a:t>
            </a:r>
            <a:r>
              <a:rPr lang="en-US" dirty="0"/>
              <a:t> (this improves the model</a:t>
            </a:r>
            <a:r>
              <a:rPr lang="en-US" dirty="0" smtClean="0"/>
              <a:t>).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❌ </a:t>
            </a:r>
            <a:r>
              <a:rPr lang="en-US" b="1" dirty="0"/>
              <a:t>Bad:</a:t>
            </a:r>
            <a:r>
              <a:rPr lang="en-US" dirty="0"/>
              <a:t> Strong correlation </a:t>
            </a:r>
            <a:r>
              <a:rPr lang="en-US" b="1" dirty="0"/>
              <a:t>between independent variables</a:t>
            </a:r>
            <a:r>
              <a:rPr lang="en-US" dirty="0"/>
              <a:t> (this creates multicollinearity issues).</a:t>
            </a:r>
          </a:p>
        </p:txBody>
      </p:sp>
    </p:spTree>
    <p:extLst>
      <p:ext uri="{BB962C8B-B14F-4D97-AF65-F5344CB8AC3E}">
        <p14:creationId xmlns:p14="http://schemas.microsoft.com/office/powerpoint/2010/main" val="216034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75373"/>
            <a:ext cx="8596668" cy="388077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/>
              <a:t>Predictors should be correlated with the target but not too much with each </a:t>
            </a:r>
            <a:r>
              <a:rPr lang="en-US" b="1" dirty="0" smtClean="0"/>
              <a:t>other!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b="1" dirty="0" smtClean="0"/>
              <a:t>Check </a:t>
            </a:r>
            <a:r>
              <a:rPr lang="en-US" b="1" dirty="0"/>
              <a:t>for multicollinearity and take action if necessary.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039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0872"/>
          </a:xfrm>
        </p:spPr>
        <p:txBody>
          <a:bodyPr/>
          <a:lstStyle/>
          <a:p>
            <a:r>
              <a:rPr lang="en-US" dirty="0" smtClean="0"/>
              <a:t>Example to detect Multi collinearity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05" y="1691247"/>
            <a:ext cx="7808807" cy="46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36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848"/>
          </a:xfrm>
        </p:spPr>
        <p:txBody>
          <a:bodyPr/>
          <a:lstStyle/>
          <a:p>
            <a:r>
              <a:rPr lang="en-US" b="1" dirty="0"/>
              <a:t>Step 1: Create Sample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00" y="1404973"/>
            <a:ext cx="6583352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94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Check Correlation Matrix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692" y="1777217"/>
            <a:ext cx="6953636" cy="2661564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31165" y="4687943"/>
            <a:ext cx="96337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If Bedrooms and Washrooms show high correlation (r &gt; 0.7), multicollinearity might exist. </a:t>
            </a:r>
          </a:p>
        </p:txBody>
      </p:sp>
    </p:spTree>
    <p:extLst>
      <p:ext uri="{BB962C8B-B14F-4D97-AF65-F5344CB8AC3E}">
        <p14:creationId xmlns:p14="http://schemas.microsoft.com/office/powerpoint/2010/main" val="338627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158" y="134112"/>
            <a:ext cx="8596668" cy="1320800"/>
          </a:xfrm>
        </p:spPr>
        <p:txBody>
          <a:bodyPr/>
          <a:lstStyle/>
          <a:p>
            <a:r>
              <a:rPr lang="en-US" b="1" dirty="0"/>
              <a:t>Step 3: Calculate Variance Inflation Factor (VIF)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158" y="4024696"/>
            <a:ext cx="8596668" cy="2016440"/>
          </a:xfrm>
        </p:spPr>
        <p:txBody>
          <a:bodyPr/>
          <a:lstStyle/>
          <a:p>
            <a:r>
              <a:rPr lang="en-US" b="1" dirty="0"/>
              <a:t>Interpretation of VIF Results</a:t>
            </a:r>
          </a:p>
          <a:p>
            <a:r>
              <a:rPr lang="en-US" b="1" dirty="0"/>
              <a:t>VIF &gt; 5 or 10:</a:t>
            </a:r>
            <a:r>
              <a:rPr lang="en-US" dirty="0"/>
              <a:t> High multicollinearity → Consider removing the variable.</a:t>
            </a:r>
          </a:p>
          <a:p>
            <a:r>
              <a:rPr lang="en-US" b="1" dirty="0"/>
              <a:t>VIF &lt; 5:</a:t>
            </a:r>
            <a:r>
              <a:rPr lang="en-US" dirty="0"/>
              <a:t> No serious multicollinearity → Keep the variable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58" y="1469456"/>
            <a:ext cx="9373995" cy="237204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12158" y="5367821"/>
            <a:ext cx="97321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Bedrooms and Washrooms have high correlation and high VIF, one of them can be removed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If removing one </a:t>
            </a:r>
            <a:r>
              <a:rPr lang="en-US" b="1" dirty="0"/>
              <a:t>reduces VIF and doesn't hurt Adjusted R²</a:t>
            </a:r>
            <a:r>
              <a:rPr lang="en-US" dirty="0"/>
              <a:t>, it's a good choice</a:t>
            </a:r>
            <a:r>
              <a:rPr lang="en-US" dirty="0" smtClean="0"/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Always check model performance before removing features.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3766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380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Trebuchet MS</vt:lpstr>
      <vt:lpstr>Wingdings</vt:lpstr>
      <vt:lpstr>Wingdings 3</vt:lpstr>
      <vt:lpstr>Facet</vt:lpstr>
      <vt:lpstr>Understanding Multicollinearity in Linear Regression:</vt:lpstr>
      <vt:lpstr>Understanding Multicollinearity in Linear Regression</vt:lpstr>
      <vt:lpstr>What is Good for a Model?</vt:lpstr>
      <vt:lpstr>What Causes Problems? (Multicollinearity)</vt:lpstr>
      <vt:lpstr>How to Detect Multicollinearity?</vt:lpstr>
      <vt:lpstr>General Rule:</vt:lpstr>
      <vt:lpstr>Key Takeaway:</vt:lpstr>
      <vt:lpstr>Example to detect Multi collinearity</vt:lpstr>
      <vt:lpstr>Step 1: Create Sample Data</vt:lpstr>
      <vt:lpstr>Step 2: Check Correlation Matrix</vt:lpstr>
      <vt:lpstr>Step 3: Calculate Variance Inflation Factor (VIF)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Multicollinearity in Linear Regression:</dc:title>
  <dc:creator>PANKAJ SHARMA</dc:creator>
  <cp:lastModifiedBy>PANKAJ SHARMA</cp:lastModifiedBy>
  <cp:revision>4</cp:revision>
  <dcterms:created xsi:type="dcterms:W3CDTF">2025-02-03T11:28:59Z</dcterms:created>
  <dcterms:modified xsi:type="dcterms:W3CDTF">2025-02-03T11:54:23Z</dcterms:modified>
</cp:coreProperties>
</file>