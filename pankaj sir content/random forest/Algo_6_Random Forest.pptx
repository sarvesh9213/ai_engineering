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1" r:id="rId3"/>
    <p:sldId id="262" r:id="rId4"/>
    <p:sldId id="263" r:id="rId5"/>
    <p:sldId id="259" r:id="rId6"/>
    <p:sldId id="264" r:id="rId7"/>
    <p:sldId id="260" r:id="rId8"/>
    <p:sldId id="265" r:id="rId9"/>
    <p:sldId id="266" r:id="rId10"/>
    <p:sldId id="267" r:id="rId11"/>
    <p:sldId id="268" r:id="rId12"/>
    <p:sldId id="257" r:id="rId13"/>
    <p:sldId id="269" r:id="rId14"/>
    <p:sldId id="270" r:id="rId15"/>
    <p:sldId id="271" r:id="rId16"/>
    <p:sldId id="272" r:id="rId17"/>
    <p:sldId id="276" r:id="rId18"/>
    <p:sldId id="273" r:id="rId19"/>
    <p:sldId id="275" r:id="rId20"/>
    <p:sldId id="277" r:id="rId21"/>
    <p:sldId id="278" r:id="rId22"/>
    <p:sldId id="27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9" y="7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6" y="1706265"/>
            <a:ext cx="7766936" cy="1646302"/>
          </a:xfrm>
        </p:spPr>
        <p:txBody>
          <a:bodyPr/>
          <a:lstStyle/>
          <a:p>
            <a:r>
              <a:rPr lang="en-US" b="1" dirty="0" smtClean="0"/>
              <a:t>Random Forest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4557" y="3352567"/>
            <a:ext cx="9136549" cy="16018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Random Forest is an ensemble learning algorithm that builds multiple decision trees using bootstrapped datasets and random feature selection, and combines their predictions to improve accuracy and reduce overfitting.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933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727" y="375764"/>
            <a:ext cx="8596668" cy="870065"/>
          </a:xfrm>
        </p:spPr>
        <p:txBody>
          <a:bodyPr/>
          <a:lstStyle/>
          <a:p>
            <a:r>
              <a:rPr lang="en-US" b="1" dirty="0" smtClean="0"/>
              <a:t>What are Ensembles 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376" y="1269382"/>
            <a:ext cx="8596668" cy="2444662"/>
          </a:xfrm>
        </p:spPr>
        <p:txBody>
          <a:bodyPr/>
          <a:lstStyle/>
          <a:p>
            <a:r>
              <a:rPr lang="en-US" dirty="0" smtClean="0"/>
              <a:t>The word “Ensemble” is taken from music background which means: Group of Musicians. </a:t>
            </a:r>
          </a:p>
          <a:p>
            <a:r>
              <a:rPr lang="en-US" dirty="0" smtClean="0"/>
              <a:t>Similarly, </a:t>
            </a:r>
            <a:r>
              <a:rPr lang="en-US" dirty="0"/>
              <a:t>In machine learning, ensemble modeling leverages the "wisdom of the crowd" by combining multiple models to make more accurate predictions, rather than relying on a single model.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approach harnesses the collective strength of diverse models to improve performance and reduce errors.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51" y="3934918"/>
            <a:ext cx="9127375" cy="2676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067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Types of Ensembles Models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61825"/>
            <a:ext cx="9430942" cy="211215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Bagging : Also called Bootstrap Aggregation: Random Forest</a:t>
            </a:r>
          </a:p>
          <a:p>
            <a:r>
              <a:rPr lang="en-US" sz="2400" dirty="0" smtClean="0"/>
              <a:t>Boosting : Ada boost, Gradient Boosting, XG Boost</a:t>
            </a:r>
          </a:p>
          <a:p>
            <a:r>
              <a:rPr lang="en-US" sz="2400" dirty="0" smtClean="0"/>
              <a:t>These are high performing model</a:t>
            </a:r>
          </a:p>
          <a:p>
            <a:r>
              <a:rPr lang="en-US" sz="2400" dirty="0" smtClean="0"/>
              <a:t>These models are very powerful and popular.</a:t>
            </a:r>
          </a:p>
        </p:txBody>
      </p:sp>
    </p:spTree>
    <p:extLst>
      <p:ext uri="{BB962C8B-B14F-4D97-AF65-F5344CB8AC3E}">
        <p14:creationId xmlns:p14="http://schemas.microsoft.com/office/powerpoint/2010/main" val="344093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952" y="227215"/>
            <a:ext cx="8596668" cy="770313"/>
          </a:xfrm>
        </p:spPr>
        <p:txBody>
          <a:bodyPr/>
          <a:lstStyle/>
          <a:p>
            <a:r>
              <a:rPr lang="en-US" b="1" dirty="0" smtClean="0"/>
              <a:t>Key Idea: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4947" y="1345942"/>
            <a:ext cx="9680325" cy="262754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 smtClean="0"/>
              <a:t>When different models are giving different level of accuracy than it would be better to combine them and make predictions.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83085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951" y="-1"/>
            <a:ext cx="8596668" cy="847898"/>
          </a:xfrm>
        </p:spPr>
        <p:txBody>
          <a:bodyPr/>
          <a:lstStyle/>
          <a:p>
            <a:r>
              <a:rPr lang="en-US" dirty="0" smtClean="0"/>
              <a:t>Bagging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322" y="847896"/>
            <a:ext cx="10494973" cy="37622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It is also called bootstrap aggregation: Means sampling with replacement.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If decision tree suffered from problem of </a:t>
            </a:r>
            <a:r>
              <a:rPr lang="en-US" sz="2000" b="1" dirty="0" smtClean="0"/>
              <a:t>overfitting</a:t>
            </a:r>
            <a:r>
              <a:rPr lang="en-US" sz="2000" dirty="0" smtClean="0"/>
              <a:t> we can use concept of bagging.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Where overfitting means your model have good training accuracy but poor testing accuracy, in general thumb rule if difference between training and testing accuracy is more than 10 % we can say it is over fitted.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Random Forest is the most popular implementation of Bagging used in real-world </a:t>
            </a:r>
            <a:r>
              <a:rPr lang="en-US" sz="2000" dirty="0" smtClean="0"/>
              <a:t>applications.</a:t>
            </a:r>
            <a:endParaRPr lang="en-US" sz="2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81" y="4893168"/>
            <a:ext cx="9047168" cy="125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829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46" y="-36002"/>
            <a:ext cx="8596668" cy="651144"/>
          </a:xfrm>
        </p:spPr>
        <p:txBody>
          <a:bodyPr/>
          <a:lstStyle/>
          <a:p>
            <a:pPr algn="ctr"/>
            <a:r>
              <a:rPr lang="en-US" b="1" dirty="0" smtClean="0"/>
              <a:t>Bagging Architecture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65760" y="2658713"/>
                <a:ext cx="1679171" cy="294270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Data Set (</a:t>
                </a:r>
                <a:r>
                  <a:rPr lang="en-US" dirty="0" err="1" smtClean="0"/>
                  <a:t>Dn</a:t>
                </a:r>
                <a:r>
                  <a:rPr lang="en-US" dirty="0" smtClean="0"/>
                  <a:t>)</a:t>
                </a:r>
              </a:p>
              <a:p>
                <a:pPr algn="ctr"/>
                <a:r>
                  <a:rPr lang="en-US" dirty="0" smtClean="0"/>
                  <a:t>Let it carries </a:t>
                </a:r>
              </a:p>
              <a:p>
                <a:pPr algn="ctr"/>
                <a:r>
                  <a:rPr lang="en-US" dirty="0" smtClean="0"/>
                  <a:t>10000 observation</a:t>
                </a:r>
              </a:p>
              <a:p>
                <a:pPr algn="ctr"/>
                <a:r>
                  <a:rPr lang="en-US" dirty="0" smtClean="0"/>
                  <a:t>Where</a:t>
                </a:r>
              </a:p>
              <a:p>
                <a:pPr algn="ctr"/>
                <a:r>
                  <a:rPr lang="en-US" dirty="0" smtClean="0"/>
                  <a:t> </a:t>
                </a:r>
                <a:r>
                  <a:rPr lang="en-US" sz="2400" dirty="0" err="1" smtClean="0"/>
                  <a:t>Dn</a:t>
                </a:r>
                <a:r>
                  <a:rPr lang="en-US" sz="2400" dirty="0" smtClean="0"/>
                  <a:t> </a:t>
                </a:r>
                <a:r>
                  <a:rPr lang="en-US" dirty="0" smtClean="0"/>
                  <a:t>&gt;&gt;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dirty="0" smtClean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2658713"/>
                <a:ext cx="1679171" cy="2942706"/>
              </a:xfrm>
              <a:prstGeom prst="rect">
                <a:avLst/>
              </a:prstGeom>
              <a:blipFill rotWithShape="0">
                <a:blip r:embed="rId2"/>
                <a:stretch>
                  <a:fillRect r="-7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312621" y="1979683"/>
                <a:ext cx="1479666" cy="5818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621" y="1979683"/>
                <a:ext cx="1479666" cy="58189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V="1">
            <a:off x="2044931" y="2467715"/>
            <a:ext cx="1228552" cy="12212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4" idx="3"/>
          </p:cNvCxnSpPr>
          <p:nvPr/>
        </p:nvCxnSpPr>
        <p:spPr>
          <a:xfrm flipV="1">
            <a:off x="2044931" y="3250321"/>
            <a:ext cx="1267690" cy="8797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098963" y="4279699"/>
            <a:ext cx="1307175" cy="484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2098963" y="4418217"/>
            <a:ext cx="1328651" cy="19479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181299" y="4678688"/>
            <a:ext cx="0" cy="1221972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3312621" y="3006304"/>
                <a:ext cx="1479666" cy="5818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621" y="3006304"/>
                <a:ext cx="1479666" cy="58189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3427614" y="3856991"/>
                <a:ext cx="1479666" cy="5818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7614" y="3856991"/>
                <a:ext cx="1479666" cy="58189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3481646" y="6075214"/>
                <a:ext cx="1479666" cy="5818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646" y="6075214"/>
                <a:ext cx="1479666" cy="58189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/>
          <p:cNvSpPr/>
          <p:nvPr/>
        </p:nvSpPr>
        <p:spPr>
          <a:xfrm>
            <a:off x="5919861" y="2020060"/>
            <a:ext cx="1346662" cy="581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M1</a:t>
            </a:r>
            <a:endParaRPr lang="en-US" dirty="0"/>
          </a:p>
        </p:txBody>
      </p:sp>
      <p:cxnSp>
        <p:nvCxnSpPr>
          <p:cNvPr id="37" name="Straight Arrow Connector 36"/>
          <p:cNvCxnSpPr>
            <a:stCxn id="6" idx="3"/>
          </p:cNvCxnSpPr>
          <p:nvPr/>
        </p:nvCxnSpPr>
        <p:spPr>
          <a:xfrm>
            <a:off x="4792287" y="2270628"/>
            <a:ext cx="1458885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4800252" y="3353322"/>
            <a:ext cx="1458885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4928756" y="4122814"/>
            <a:ext cx="1458885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4961312" y="6364768"/>
            <a:ext cx="1458885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5977719" y="2966015"/>
            <a:ext cx="1346662" cy="581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M2</a:t>
            </a:r>
            <a:endParaRPr lang="en-US" dirty="0"/>
          </a:p>
        </p:txBody>
      </p:sp>
      <p:sp>
        <p:nvSpPr>
          <p:cNvPr id="43" name="Rectangle 42"/>
          <p:cNvSpPr/>
          <p:nvPr/>
        </p:nvSpPr>
        <p:spPr>
          <a:xfrm>
            <a:off x="5980491" y="3856991"/>
            <a:ext cx="1346662" cy="581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M3</a:t>
            </a:r>
            <a:endParaRPr lang="en-US" dirty="0"/>
          </a:p>
        </p:txBody>
      </p:sp>
      <p:sp>
        <p:nvSpPr>
          <p:cNvPr id="44" name="Rectangle 43"/>
          <p:cNvSpPr/>
          <p:nvPr/>
        </p:nvSpPr>
        <p:spPr>
          <a:xfrm>
            <a:off x="6040655" y="6053467"/>
            <a:ext cx="1346662" cy="581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Mk</a:t>
            </a:r>
            <a:endParaRPr lang="en-US" dirty="0"/>
          </a:p>
        </p:txBody>
      </p:sp>
      <p:sp>
        <p:nvSpPr>
          <p:cNvPr id="46" name="Rectangle 45"/>
          <p:cNvSpPr/>
          <p:nvPr/>
        </p:nvSpPr>
        <p:spPr>
          <a:xfrm>
            <a:off x="1911928" y="913885"/>
            <a:ext cx="4172989" cy="471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Bootstrapping</a:t>
            </a:r>
            <a:endParaRPr lang="en-US" sz="2400" dirty="0"/>
          </a:p>
        </p:txBody>
      </p:sp>
      <p:sp>
        <p:nvSpPr>
          <p:cNvPr id="48" name="Freeform 47"/>
          <p:cNvSpPr/>
          <p:nvPr/>
        </p:nvSpPr>
        <p:spPr>
          <a:xfrm>
            <a:off x="1144146" y="1612669"/>
            <a:ext cx="5805332" cy="980902"/>
          </a:xfrm>
          <a:custGeom>
            <a:avLst/>
            <a:gdLst>
              <a:gd name="connsiteX0" fmla="*/ 152639 w 5805332"/>
              <a:gd name="connsiteY0" fmla="*/ 980902 h 980902"/>
              <a:gd name="connsiteX1" fmla="*/ 152639 w 5805332"/>
              <a:gd name="connsiteY1" fmla="*/ 980902 h 980902"/>
              <a:gd name="connsiteX2" fmla="*/ 19636 w 5805332"/>
              <a:gd name="connsiteY2" fmla="*/ 931026 h 980902"/>
              <a:gd name="connsiteX3" fmla="*/ 3010 w 5805332"/>
              <a:gd name="connsiteY3" fmla="*/ 781396 h 980902"/>
              <a:gd name="connsiteX4" fmla="*/ 36261 w 5805332"/>
              <a:gd name="connsiteY4" fmla="*/ 532015 h 980902"/>
              <a:gd name="connsiteX5" fmla="*/ 52887 w 5805332"/>
              <a:gd name="connsiteY5" fmla="*/ 365760 h 980902"/>
              <a:gd name="connsiteX6" fmla="*/ 69512 w 5805332"/>
              <a:gd name="connsiteY6" fmla="*/ 83127 h 980902"/>
              <a:gd name="connsiteX7" fmla="*/ 169265 w 5805332"/>
              <a:gd name="connsiteY7" fmla="*/ 33251 h 980902"/>
              <a:gd name="connsiteX8" fmla="*/ 219141 w 5805332"/>
              <a:gd name="connsiteY8" fmla="*/ 0 h 980902"/>
              <a:gd name="connsiteX9" fmla="*/ 3610734 w 5805332"/>
              <a:gd name="connsiteY9" fmla="*/ 16626 h 980902"/>
              <a:gd name="connsiteX10" fmla="*/ 3909992 w 5805332"/>
              <a:gd name="connsiteY10" fmla="*/ 33251 h 980902"/>
              <a:gd name="connsiteX11" fmla="*/ 5373032 w 5805332"/>
              <a:gd name="connsiteY11" fmla="*/ 16626 h 980902"/>
              <a:gd name="connsiteX12" fmla="*/ 5456159 w 5805332"/>
              <a:gd name="connsiteY12" fmla="*/ 0 h 980902"/>
              <a:gd name="connsiteX13" fmla="*/ 5772043 w 5805332"/>
              <a:gd name="connsiteY13" fmla="*/ 16626 h 980902"/>
              <a:gd name="connsiteX14" fmla="*/ 5788669 w 5805332"/>
              <a:gd name="connsiteY14" fmla="*/ 66502 h 980902"/>
              <a:gd name="connsiteX15" fmla="*/ 5805294 w 5805332"/>
              <a:gd name="connsiteY15" fmla="*/ 282633 h 980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805332" h="980902">
                <a:moveTo>
                  <a:pt x="152639" y="980902"/>
                </a:moveTo>
                <a:lnTo>
                  <a:pt x="152639" y="980902"/>
                </a:lnTo>
                <a:cubicBezTo>
                  <a:pt x="108305" y="964277"/>
                  <a:pt x="48045" y="968905"/>
                  <a:pt x="19636" y="931026"/>
                </a:cubicBezTo>
                <a:cubicBezTo>
                  <a:pt x="-10474" y="890879"/>
                  <a:pt x="3010" y="831580"/>
                  <a:pt x="3010" y="781396"/>
                </a:cubicBezTo>
                <a:cubicBezTo>
                  <a:pt x="3010" y="597080"/>
                  <a:pt x="18576" y="664653"/>
                  <a:pt x="36261" y="532015"/>
                </a:cubicBezTo>
                <a:cubicBezTo>
                  <a:pt x="43622" y="476809"/>
                  <a:pt x="48773" y="421303"/>
                  <a:pt x="52887" y="365760"/>
                </a:cubicBezTo>
                <a:cubicBezTo>
                  <a:pt x="59859" y="271644"/>
                  <a:pt x="50070" y="175476"/>
                  <a:pt x="69512" y="83127"/>
                </a:cubicBezTo>
                <a:cubicBezTo>
                  <a:pt x="74377" y="60019"/>
                  <a:pt x="152699" y="38773"/>
                  <a:pt x="169265" y="33251"/>
                </a:cubicBezTo>
                <a:cubicBezTo>
                  <a:pt x="185890" y="22167"/>
                  <a:pt x="199160" y="97"/>
                  <a:pt x="219141" y="0"/>
                </a:cubicBezTo>
                <a:lnTo>
                  <a:pt x="3610734" y="16626"/>
                </a:lnTo>
                <a:cubicBezTo>
                  <a:pt x="3710636" y="17526"/>
                  <a:pt x="3810239" y="27709"/>
                  <a:pt x="3909992" y="33251"/>
                </a:cubicBezTo>
                <a:lnTo>
                  <a:pt x="5373032" y="16626"/>
                </a:lnTo>
                <a:cubicBezTo>
                  <a:pt x="5401283" y="16018"/>
                  <a:pt x="5427901" y="0"/>
                  <a:pt x="5456159" y="0"/>
                </a:cubicBezTo>
                <a:cubicBezTo>
                  <a:pt x="5561599" y="0"/>
                  <a:pt x="5666748" y="11084"/>
                  <a:pt x="5772043" y="16626"/>
                </a:cubicBezTo>
                <a:cubicBezTo>
                  <a:pt x="5777585" y="33251"/>
                  <a:pt x="5786004" y="49181"/>
                  <a:pt x="5788669" y="66502"/>
                </a:cubicBezTo>
                <a:cubicBezTo>
                  <a:pt x="5806948" y="185316"/>
                  <a:pt x="5805294" y="196161"/>
                  <a:pt x="5805294" y="282633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8203300" y="3029246"/>
            <a:ext cx="1578377" cy="10612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M</a:t>
            </a:r>
            <a:endParaRPr lang="en-US" sz="3200" dirty="0"/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8904454" y="2219946"/>
            <a:ext cx="41570" cy="7963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7324381" y="3313704"/>
            <a:ext cx="939845" cy="1166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7325070" y="3762575"/>
            <a:ext cx="939156" cy="3279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V="1">
            <a:off x="7439891" y="4130066"/>
            <a:ext cx="1400802" cy="21774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8205453" y="1399464"/>
            <a:ext cx="1536986" cy="9825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Regression : Averaging</a:t>
            </a:r>
            <a:endParaRPr lang="en-US" dirty="0"/>
          </a:p>
        </p:txBody>
      </p:sp>
      <p:sp>
        <p:nvSpPr>
          <p:cNvPr id="59" name="Rectangle 58"/>
          <p:cNvSpPr/>
          <p:nvPr/>
        </p:nvSpPr>
        <p:spPr>
          <a:xfrm>
            <a:off x="8539497" y="4952293"/>
            <a:ext cx="1586603" cy="8797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Classification: Voting</a:t>
            </a:r>
            <a:endParaRPr lang="en-US" dirty="0"/>
          </a:p>
        </p:txBody>
      </p:sp>
      <p:cxnSp>
        <p:nvCxnSpPr>
          <p:cNvPr id="62" name="Straight Arrow Connector 61"/>
          <p:cNvCxnSpPr/>
          <p:nvPr/>
        </p:nvCxnSpPr>
        <p:spPr>
          <a:xfrm flipH="1" flipV="1">
            <a:off x="9069253" y="4039869"/>
            <a:ext cx="2726" cy="8728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724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076" y="227214"/>
            <a:ext cx="8596668" cy="703811"/>
          </a:xfrm>
        </p:spPr>
        <p:txBody>
          <a:bodyPr/>
          <a:lstStyle/>
          <a:p>
            <a:r>
              <a:rPr lang="en-US" b="1" dirty="0" smtClean="0"/>
              <a:t>Bootstrapping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130" y="931026"/>
            <a:ext cx="10307781" cy="1246910"/>
          </a:xfrm>
        </p:spPr>
        <p:txBody>
          <a:bodyPr/>
          <a:lstStyle/>
          <a:p>
            <a:r>
              <a:rPr lang="en-US" dirty="0" smtClean="0"/>
              <a:t>Bootstrapping means taking multiple random samples from data </a:t>
            </a:r>
            <a:r>
              <a:rPr lang="en-US" b="1" dirty="0" smtClean="0"/>
              <a:t>with replacement</a:t>
            </a:r>
            <a:r>
              <a:rPr lang="en-US" dirty="0" smtClean="0"/>
              <a:t>.</a:t>
            </a:r>
          </a:p>
          <a:p>
            <a:r>
              <a:rPr lang="en-US" dirty="0" smtClean="0"/>
              <a:t>Train separate model on each sample.</a:t>
            </a:r>
          </a:p>
          <a:p>
            <a:r>
              <a:rPr lang="en-US" dirty="0" smtClean="0"/>
              <a:t>This whole approach is called bootstrapping.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78076" y="2491047"/>
            <a:ext cx="8596668" cy="703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/>
              <a:t>Aggregation</a:t>
            </a:r>
            <a:endParaRPr lang="en-US" b="1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78076" y="3351413"/>
            <a:ext cx="10307781" cy="1246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Now aggregate the results as model M.</a:t>
            </a:r>
          </a:p>
          <a:p>
            <a:r>
              <a:rPr lang="en-US" dirty="0" smtClean="0"/>
              <a:t>For regression model take the average.</a:t>
            </a:r>
          </a:p>
          <a:p>
            <a:r>
              <a:rPr lang="en-US" dirty="0" smtClean="0"/>
              <a:t>For classification model go for voting.</a:t>
            </a:r>
            <a:endParaRPr 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49380" y="4754878"/>
            <a:ext cx="1034226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Bagging is especially effective for reducing variance in high-variance, low-bias models (e.g., deep decision trees).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does not inherently address bias, so if the base model is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underfitting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bagging won't help much.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 smtClean="0"/>
              <a:t>So Bagging </a:t>
            </a:r>
            <a:r>
              <a:rPr lang="en-US" dirty="0"/>
              <a:t>reduces variance without impacting the </a:t>
            </a:r>
            <a:r>
              <a:rPr lang="en-US" b="1" dirty="0"/>
              <a:t>bias(under fitting).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91617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781396"/>
          </a:xfrm>
        </p:spPr>
        <p:txBody>
          <a:bodyPr/>
          <a:lstStyle/>
          <a:p>
            <a:r>
              <a:rPr lang="en-US" b="1" dirty="0"/>
              <a:t>General Error Decomposition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20" y="1279443"/>
            <a:ext cx="9635519" cy="404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236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724" y="187220"/>
            <a:ext cx="8596668" cy="993187"/>
          </a:xfrm>
        </p:spPr>
        <p:txBody>
          <a:bodyPr/>
          <a:lstStyle/>
          <a:p>
            <a:r>
              <a:rPr lang="en-US" b="1" dirty="0"/>
              <a:t>Bagging and Model Error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24" y="982287"/>
            <a:ext cx="9754916" cy="4839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53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87" y="796648"/>
            <a:ext cx="10390909" cy="365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015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599"/>
            <a:ext cx="8815801" cy="399565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 smtClean="0"/>
              <a:t>So to handle low Bias and high Variance problem we have popular Bagging model..</a:t>
            </a:r>
            <a:br>
              <a:rPr lang="en-US" sz="4000" b="1" dirty="0" smtClean="0"/>
            </a:br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sz="4000" b="1" dirty="0" smtClean="0">
                <a:solidFill>
                  <a:schemeClr val="tx1"/>
                </a:solidFill>
              </a:rPr>
              <a:t>Random Forest</a:t>
            </a:r>
            <a:br>
              <a:rPr lang="en-US" sz="4000" b="1" dirty="0" smtClean="0">
                <a:solidFill>
                  <a:schemeClr val="tx1"/>
                </a:solidFill>
              </a:rPr>
            </a:br>
            <a:r>
              <a:rPr lang="en-US" sz="4000" b="1" dirty="0">
                <a:solidFill>
                  <a:schemeClr val="tx1"/>
                </a:solidFill>
              </a:rPr>
              <a:t/>
            </a:r>
            <a:br>
              <a:rPr lang="en-US" sz="4000" b="1" dirty="0">
                <a:solidFill>
                  <a:schemeClr val="tx1"/>
                </a:solidFill>
              </a:rPr>
            </a:br>
            <a:r>
              <a:rPr lang="en-US" sz="4000" b="1" dirty="0" smtClean="0">
                <a:solidFill>
                  <a:schemeClr val="tx1"/>
                </a:solidFill>
              </a:rPr>
              <a:t>let us discuss it now……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554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5582" y="227141"/>
            <a:ext cx="8596668" cy="60413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Introduction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075" y="1148930"/>
            <a:ext cx="9716070" cy="510224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Random Forest is a supervised machine learning algorithm used for classification and regression tasks.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It is a bagging model but differ in a way that it essentially combine only multiple decision trees as base model while in bagging can take any classification model.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It is also called Random Bootstrap sampling.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It </a:t>
            </a:r>
            <a:r>
              <a:rPr lang="en-US" dirty="0"/>
              <a:t>operates by constructing multiple decision trees during training and </a:t>
            </a:r>
            <a:r>
              <a:rPr lang="en-US" dirty="0" smtClean="0"/>
              <a:t>voting </a:t>
            </a:r>
            <a:r>
              <a:rPr lang="en-US" dirty="0"/>
              <a:t>the class (for classification) or mean/average prediction (for regression) of the individual trees.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Random </a:t>
            </a:r>
            <a:r>
              <a:rPr lang="en-US" dirty="0"/>
              <a:t>Forest reduces overfitting and improves accuracy compared to individual decision trees.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736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697" y="243840"/>
            <a:ext cx="8596668" cy="737062"/>
          </a:xfrm>
        </p:spPr>
        <p:txBody>
          <a:bodyPr/>
          <a:lstStyle/>
          <a:p>
            <a:r>
              <a:rPr lang="en-US" b="1" dirty="0" smtClean="0"/>
              <a:t>Random Forest Architecture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261697" y="1512916"/>
            <a:ext cx="1932863" cy="897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Decision Tree</a:t>
            </a:r>
            <a:endParaRPr lang="en-US" sz="3200" dirty="0"/>
          </a:p>
        </p:txBody>
      </p:sp>
      <p:sp>
        <p:nvSpPr>
          <p:cNvPr id="5" name="Plus 4"/>
          <p:cNvSpPr/>
          <p:nvPr/>
        </p:nvSpPr>
        <p:spPr>
          <a:xfrm>
            <a:off x="2593571" y="1745673"/>
            <a:ext cx="798022" cy="515389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593599" y="1512915"/>
            <a:ext cx="1932863" cy="897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Bagging</a:t>
            </a:r>
            <a:endParaRPr lang="en-US" sz="3200" dirty="0"/>
          </a:p>
        </p:txBody>
      </p:sp>
      <p:sp>
        <p:nvSpPr>
          <p:cNvPr id="7" name="Plus 6"/>
          <p:cNvSpPr/>
          <p:nvPr/>
        </p:nvSpPr>
        <p:spPr>
          <a:xfrm>
            <a:off x="6127479" y="1704107"/>
            <a:ext cx="798022" cy="515389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526518" y="1512915"/>
            <a:ext cx="2432129" cy="897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Feature Sampling</a:t>
            </a:r>
            <a:endParaRPr lang="en-US" sz="3200" dirty="0"/>
          </a:p>
        </p:txBody>
      </p:sp>
      <p:sp>
        <p:nvSpPr>
          <p:cNvPr id="10" name="Rectangle 9"/>
          <p:cNvSpPr/>
          <p:nvPr/>
        </p:nvSpPr>
        <p:spPr>
          <a:xfrm>
            <a:off x="1911927" y="3225335"/>
            <a:ext cx="5419898" cy="1130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Bootstrap + Aggregation</a:t>
            </a:r>
          </a:p>
          <a:p>
            <a:pPr algn="ctr"/>
            <a:r>
              <a:rPr lang="en-US" sz="3200" dirty="0" smtClean="0"/>
              <a:t>(Random row sampling)</a:t>
            </a:r>
            <a:endParaRPr lang="en-US" sz="3200" dirty="0"/>
          </a:p>
        </p:txBody>
      </p:sp>
      <p:sp>
        <p:nvSpPr>
          <p:cNvPr id="11" name="Up Arrow 10"/>
          <p:cNvSpPr/>
          <p:nvPr/>
        </p:nvSpPr>
        <p:spPr>
          <a:xfrm>
            <a:off x="4202583" y="2427314"/>
            <a:ext cx="714894" cy="78139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77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950423" y="1263534"/>
                <a:ext cx="2028305" cy="242731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423" y="1263534"/>
                <a:ext cx="2028305" cy="242731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>
            <a:off x="950423" y="3871947"/>
            <a:ext cx="20283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631856" y="1263534"/>
            <a:ext cx="30480" cy="242731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536377" y="3968133"/>
            <a:ext cx="1040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Column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 rot="16200000">
            <a:off x="134593" y="2292526"/>
            <a:ext cx="604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Row</a:t>
            </a:r>
            <a:endParaRPr lang="en-US" dirty="0"/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2978728" y="1729047"/>
            <a:ext cx="1892530" cy="1662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266815" y="1263534"/>
            <a:ext cx="1105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BS + FS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871258" y="1263534"/>
                <a:ext cx="1064029" cy="7449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𝐷𝑇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1258" y="1263534"/>
                <a:ext cx="1064029" cy="74494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937759" y="2259650"/>
                <a:ext cx="1064029" cy="7449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𝐷𝑇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759" y="2259650"/>
                <a:ext cx="1064029" cy="74494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5037511" y="4505132"/>
                <a:ext cx="1064029" cy="7449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𝐷𝑇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7511" y="4505132"/>
                <a:ext cx="1064029" cy="74494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/>
          <p:cNvCxnSpPr>
            <a:stCxn id="16" idx="2"/>
          </p:cNvCxnSpPr>
          <p:nvPr/>
        </p:nvCxnSpPr>
        <p:spPr>
          <a:xfrm flipH="1">
            <a:off x="5469773" y="3004598"/>
            <a:ext cx="1" cy="1500534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2978728" y="2580515"/>
            <a:ext cx="1892530" cy="1662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3027308" y="3110533"/>
            <a:ext cx="1992282" cy="171520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279241" y="2198410"/>
            <a:ext cx="1105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BS + FS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 rot="2273750">
            <a:off x="3372153" y="3514526"/>
            <a:ext cx="1105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BS + FS</a:t>
            </a:r>
            <a:endParaRPr lang="en-US" b="1" dirty="0"/>
          </a:p>
        </p:txBody>
      </p:sp>
      <p:sp>
        <p:nvSpPr>
          <p:cNvPr id="25" name="Rectangle 24"/>
          <p:cNvSpPr/>
          <p:nvPr/>
        </p:nvSpPr>
        <p:spPr>
          <a:xfrm>
            <a:off x="7154486" y="1341921"/>
            <a:ext cx="1346662" cy="581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M1</a:t>
            </a:r>
            <a:endParaRPr lang="en-US" sz="2800" dirty="0"/>
          </a:p>
        </p:txBody>
      </p:sp>
      <p:cxnSp>
        <p:nvCxnSpPr>
          <p:cNvPr id="26" name="Straight Arrow Connector 25"/>
          <p:cNvCxnSpPr>
            <a:endCxn id="25" idx="1"/>
          </p:cNvCxnSpPr>
          <p:nvPr/>
        </p:nvCxnSpPr>
        <p:spPr>
          <a:xfrm>
            <a:off x="5935286" y="1632866"/>
            <a:ext cx="12192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6001788" y="2620109"/>
            <a:ext cx="12192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220988" y="2259650"/>
            <a:ext cx="1346662" cy="581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M2</a:t>
            </a:r>
            <a:endParaRPr lang="en-US" sz="2800" dirty="0"/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6101540" y="4877606"/>
            <a:ext cx="12192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384562" y="4586661"/>
            <a:ext cx="1346662" cy="581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Mk</a:t>
            </a:r>
            <a:endParaRPr lang="en-US" sz="2800" dirty="0"/>
          </a:p>
        </p:txBody>
      </p:sp>
      <p:cxnSp>
        <p:nvCxnSpPr>
          <p:cNvPr id="33" name="Straight Connector 32"/>
          <p:cNvCxnSpPr/>
          <p:nvPr/>
        </p:nvCxnSpPr>
        <p:spPr>
          <a:xfrm flipH="1">
            <a:off x="7827904" y="2918665"/>
            <a:ext cx="1" cy="1500534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816400" y="2008482"/>
            <a:ext cx="831273" cy="16224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M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8534727" y="1574238"/>
            <a:ext cx="1252123" cy="70246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8606105" y="2635694"/>
            <a:ext cx="1227429" cy="33452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8731224" y="3469768"/>
            <a:ext cx="1105674" cy="14043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567649" y="674574"/>
            <a:ext cx="1640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Aggregate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88754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581889" y="5627990"/>
            <a:ext cx="89611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OOB : Out of Bag : Means we keep some data hide and not used in training and </a:t>
            </a:r>
          </a:p>
          <a:p>
            <a:r>
              <a:rPr lang="en-US" b="1" dirty="0" smtClean="0"/>
              <a:t>will be used for model validation</a:t>
            </a:r>
            <a:endParaRPr lang="en-US" b="1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89" y="679722"/>
            <a:ext cx="9094126" cy="4590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871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Out-of-Bag (OOB)?</a:t>
            </a:r>
          </a:p>
        </p:txBody>
      </p:sp>
      <p:sp>
        <p:nvSpPr>
          <p:cNvPr id="4" name="Rectangle 3"/>
          <p:cNvSpPr/>
          <p:nvPr/>
        </p:nvSpPr>
        <p:spPr>
          <a:xfrm>
            <a:off x="354676" y="1526968"/>
            <a:ext cx="9570719" cy="4196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 </a:t>
            </a:r>
            <a:r>
              <a:rPr lang="en-US" b="1" dirty="0"/>
              <a:t>Bagging (Bootstrap Aggregating)</a:t>
            </a:r>
            <a:r>
              <a:rPr lang="en-US" dirty="0"/>
              <a:t>, each base model is trained on a random subset of the training data, drawn with replacement. This means that some data points will not be included in the training subset for a particular base model. These excluded data points are referred to as </a:t>
            </a:r>
            <a:r>
              <a:rPr lang="en-US" b="1" dirty="0"/>
              <a:t>Out-of-Bag (OOB)</a:t>
            </a:r>
            <a:r>
              <a:rPr lang="en-US" dirty="0"/>
              <a:t> samples.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Key Features of OOB: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Not Used in Training</a:t>
            </a:r>
            <a:r>
              <a:rPr lang="en-US" dirty="0"/>
              <a:t>: For a given base model, the OOB samples are not used during training.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Used for Validation</a:t>
            </a:r>
            <a:r>
              <a:rPr lang="en-US" dirty="0"/>
              <a:t>: The OOB samples act as a validation set for evaluating the performance of the base model. Essentially, they provide an estimate of how well the model performs on unseen data without the need for a separate validation dataset.</a:t>
            </a:r>
          </a:p>
        </p:txBody>
      </p:sp>
    </p:spTree>
    <p:extLst>
      <p:ext uri="{BB962C8B-B14F-4D97-AF65-F5344CB8AC3E}">
        <p14:creationId xmlns:p14="http://schemas.microsoft.com/office/powerpoint/2010/main" val="290559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Differences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6224"/>
              </p:ext>
            </p:extLst>
          </p:nvPr>
        </p:nvGraphicFramePr>
        <p:xfrm>
          <a:off x="677334" y="1733010"/>
          <a:ext cx="8596311" cy="2377440"/>
        </p:xfrm>
        <a:graphic>
          <a:graphicData uri="http://schemas.openxmlformats.org/drawingml/2006/table">
            <a:tbl>
              <a:tblPr/>
              <a:tblGrid>
                <a:gridCol w="2865437"/>
                <a:gridCol w="2865437"/>
                <a:gridCol w="2865437"/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OOB Samples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Testing Samples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Part of training set (left out)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Completely separate from training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Internal validation (during training)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Final model evaluation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Automatically 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Yes (in Random Forest)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(provided by user)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Used when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During training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 training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8468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670560"/>
          </a:xfrm>
        </p:spPr>
        <p:txBody>
          <a:bodyPr/>
          <a:lstStyle/>
          <a:p>
            <a:r>
              <a:rPr lang="en-US" b="1" dirty="0" smtClean="0"/>
              <a:t>In nutshell what RF is doing…..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943" y="1079934"/>
            <a:ext cx="10295468" cy="52044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/>
              <a:t>Step1: Take decision tree of reasonable depth as base learner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Step 2 :  Row sampling with replacement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Step 3 : Column Sampling with replacement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Step 4 : Model Building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Step 5 : Aggregation( Based on Majority) : For classification problem Majority voting and for Regression problem based on mean or median.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We are using Random Forest for handling overfitting problem.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727339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621349"/>
            <a:ext cx="8596668" cy="3880773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Random forest does not require any outlier treatment.</a:t>
            </a:r>
          </a:p>
          <a:p>
            <a:r>
              <a:rPr lang="en-US" sz="2400" b="1" dirty="0" smtClean="0"/>
              <a:t>Data balancing required.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884579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09600"/>
            <a:ext cx="9921240" cy="1320800"/>
          </a:xfrm>
        </p:spPr>
        <p:txBody>
          <a:bodyPr/>
          <a:lstStyle/>
          <a:p>
            <a:r>
              <a:rPr lang="en-US" b="1" dirty="0"/>
              <a:t>Important Random Forest </a:t>
            </a:r>
            <a:r>
              <a:rPr lang="en-US" b="1" dirty="0" smtClean="0"/>
              <a:t>Hyper parameters</a:t>
            </a:r>
            <a:endParaRPr lang="en-US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09881"/>
              </p:ext>
            </p:extLst>
          </p:nvPr>
        </p:nvGraphicFramePr>
        <p:xfrm>
          <a:off x="434021" y="1463040"/>
          <a:ext cx="8953819" cy="4922519"/>
        </p:xfrm>
        <a:graphic>
          <a:graphicData uri="http://schemas.openxmlformats.org/drawingml/2006/table">
            <a:tbl>
              <a:tblPr/>
              <a:tblGrid>
                <a:gridCol w="3079176"/>
                <a:gridCol w="5874643"/>
              </a:tblGrid>
              <a:tr h="573929">
                <a:tc>
                  <a:txBody>
                    <a:bodyPr/>
                    <a:lstStyle/>
                    <a:p>
                      <a:r>
                        <a:rPr lang="en-US" sz="2400" b="1" dirty="0"/>
                        <a:t>Parameter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183">
                <a:tc>
                  <a:txBody>
                    <a:bodyPr/>
                    <a:lstStyle/>
                    <a:p>
                      <a:r>
                        <a:rPr lang="en-US" sz="2400" dirty="0" err="1"/>
                        <a:t>n_estimators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Number of trees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183">
                <a:tc>
                  <a:txBody>
                    <a:bodyPr/>
                    <a:lstStyle/>
                    <a:p>
                      <a:r>
                        <a:rPr lang="en-US" sz="2400" dirty="0" err="1"/>
                        <a:t>max_depth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Maximum tree 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9929">
                <a:tc>
                  <a:txBody>
                    <a:bodyPr/>
                    <a:lstStyle/>
                    <a:p>
                      <a:r>
                        <a:rPr lang="en-US" sz="2400" dirty="0" err="1"/>
                        <a:t>max_features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Number of features considered at split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9929">
                <a:tc>
                  <a:txBody>
                    <a:bodyPr/>
                    <a:lstStyle/>
                    <a:p>
                      <a:r>
                        <a:rPr lang="en-US" sz="2400"/>
                        <a:t>min_samples_split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Minimum samples to split node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183">
                <a:tc>
                  <a:txBody>
                    <a:bodyPr/>
                    <a:lstStyle/>
                    <a:p>
                      <a:r>
                        <a:rPr lang="en-US" sz="2400"/>
                        <a:t>min_samples_leaf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Minimum samples at leaf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183">
                <a:tc>
                  <a:txBody>
                    <a:bodyPr/>
                    <a:lstStyle/>
                    <a:p>
                      <a:r>
                        <a:rPr lang="en-US" sz="2400"/>
                        <a:t>oob_score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Enable OOB validation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034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Advantages/Limitations</a:t>
            </a:r>
            <a:endParaRPr lang="en-US" b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75743" y="1642269"/>
            <a:ext cx="4185623" cy="576262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Advantages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sz="half" idx="2"/>
          </p:nvPr>
        </p:nvSpPr>
        <p:spPr bwMode="auto">
          <a:xfrm>
            <a:off x="317413" y="2467773"/>
            <a:ext cx="465825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H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andles non-linear data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with large datasets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Robust to noise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overfitting compared to single tree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high dimensional data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5926583" y="1669479"/>
            <a:ext cx="4185618" cy="576262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Limitations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5654040" y="2561083"/>
            <a:ext cx="4458161" cy="3304117"/>
          </a:xfrm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Slower training than single tree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Less interpretable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Large memory usage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Not ideal for real-time prediction if many trees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373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71144"/>
          </a:xfrm>
        </p:spPr>
        <p:txBody>
          <a:bodyPr/>
          <a:lstStyle/>
          <a:p>
            <a:r>
              <a:rPr lang="en-US" b="1" dirty="0" smtClean="0"/>
              <a:t>Case study: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00201"/>
            <a:ext cx="8596668" cy="4441162"/>
          </a:xfrm>
        </p:spPr>
        <p:txBody>
          <a:bodyPr/>
          <a:lstStyle/>
          <a:p>
            <a:r>
              <a:rPr lang="en-US" dirty="0" smtClean="0"/>
              <a:t>Data set: Breast cancer </a:t>
            </a:r>
            <a:r>
              <a:rPr lang="en-US" dirty="0" err="1" smtClean="0"/>
              <a:t>Kaggle</a:t>
            </a:r>
            <a:r>
              <a:rPr lang="en-US" dirty="0" smtClean="0"/>
              <a:t> </a:t>
            </a:r>
            <a:r>
              <a:rPr lang="en-US" dirty="0" err="1" smtClean="0"/>
              <a:t>uci</a:t>
            </a:r>
            <a:r>
              <a:rPr lang="en-US" dirty="0" smtClean="0"/>
              <a:t> : https</a:t>
            </a:r>
            <a:r>
              <a:rPr lang="en-US" dirty="0"/>
              <a:t>://www.kaggle.com/datasets/uciml/breast-cancer-wisconsin-data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044" y="2715767"/>
            <a:ext cx="6268043" cy="310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12307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2452</TotalTime>
  <Words>910</Words>
  <Application>Microsoft Office PowerPoint</Application>
  <PresentationFormat>Widescreen</PresentationFormat>
  <Paragraphs>140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Cambria Math</vt:lpstr>
      <vt:lpstr>Trebuchet MS</vt:lpstr>
      <vt:lpstr>Wingdings</vt:lpstr>
      <vt:lpstr>Wingdings 3</vt:lpstr>
      <vt:lpstr>Facet</vt:lpstr>
      <vt:lpstr>Random Forest</vt:lpstr>
      <vt:lpstr>What are Ensembles ?</vt:lpstr>
      <vt:lpstr>Types of Ensembles Models</vt:lpstr>
      <vt:lpstr>Key Idea:</vt:lpstr>
      <vt:lpstr>Bagging</vt:lpstr>
      <vt:lpstr>Bagging Architecture</vt:lpstr>
      <vt:lpstr>Bootstrapping</vt:lpstr>
      <vt:lpstr>General Error Decomposition</vt:lpstr>
      <vt:lpstr>Bagging and Model Error</vt:lpstr>
      <vt:lpstr>PowerPoint Presentation</vt:lpstr>
      <vt:lpstr>So to handle low Bias and high Variance problem we have popular Bagging model..  Random Forest  let us discuss it now……</vt:lpstr>
      <vt:lpstr>Introduction </vt:lpstr>
      <vt:lpstr>Random Forest Architecture</vt:lpstr>
      <vt:lpstr>PowerPoint Presentation</vt:lpstr>
      <vt:lpstr>PowerPoint Presentation</vt:lpstr>
      <vt:lpstr>What is Out-of-Bag (OOB)?</vt:lpstr>
      <vt:lpstr>Key Differences Table</vt:lpstr>
      <vt:lpstr>In nutshell what RF is doing…..</vt:lpstr>
      <vt:lpstr>PowerPoint Presentation</vt:lpstr>
      <vt:lpstr>Important Random Forest Hyper parameters</vt:lpstr>
      <vt:lpstr>Advantages/Limitations</vt:lpstr>
      <vt:lpstr>Case study: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 Forest</dc:title>
  <dc:creator>PANKAJ SHARMA</dc:creator>
  <cp:lastModifiedBy>Microsoft account</cp:lastModifiedBy>
  <cp:revision>42</cp:revision>
  <dcterms:created xsi:type="dcterms:W3CDTF">2025-01-07T10:05:10Z</dcterms:created>
  <dcterms:modified xsi:type="dcterms:W3CDTF">2026-03-08T13:49:18Z</dcterms:modified>
</cp:coreProperties>
</file>