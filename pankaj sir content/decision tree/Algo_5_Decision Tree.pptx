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sldIdLst>
    <p:sldId id="256" r:id="rId2"/>
    <p:sldId id="387" r:id="rId3"/>
    <p:sldId id="388" r:id="rId4"/>
    <p:sldId id="389" r:id="rId5"/>
    <p:sldId id="257" r:id="rId6"/>
    <p:sldId id="391" r:id="rId7"/>
    <p:sldId id="392" r:id="rId8"/>
    <p:sldId id="400" r:id="rId9"/>
    <p:sldId id="357" r:id="rId10"/>
    <p:sldId id="393" r:id="rId11"/>
    <p:sldId id="395" r:id="rId12"/>
    <p:sldId id="396" r:id="rId13"/>
    <p:sldId id="397" r:id="rId14"/>
    <p:sldId id="359" r:id="rId15"/>
    <p:sldId id="386" r:id="rId16"/>
    <p:sldId id="398" r:id="rId17"/>
    <p:sldId id="288" r:id="rId18"/>
    <p:sldId id="276" r:id="rId19"/>
    <p:sldId id="399" r:id="rId20"/>
    <p:sldId id="277" r:id="rId21"/>
    <p:sldId id="279" r:id="rId22"/>
    <p:sldId id="289" r:id="rId23"/>
    <p:sldId id="290" r:id="rId24"/>
    <p:sldId id="291" r:id="rId25"/>
    <p:sldId id="403" r:id="rId26"/>
    <p:sldId id="404" r:id="rId27"/>
    <p:sldId id="408" r:id="rId28"/>
    <p:sldId id="292" r:id="rId29"/>
    <p:sldId id="402" r:id="rId30"/>
    <p:sldId id="362" r:id="rId31"/>
    <p:sldId id="363" r:id="rId32"/>
    <p:sldId id="269" r:id="rId33"/>
    <p:sldId id="286" r:id="rId34"/>
    <p:sldId id="259" r:id="rId35"/>
    <p:sldId id="411" r:id="rId36"/>
    <p:sldId id="412" r:id="rId37"/>
    <p:sldId id="364" r:id="rId38"/>
    <p:sldId id="365" r:id="rId39"/>
    <p:sldId id="366" r:id="rId40"/>
    <p:sldId id="367" r:id="rId41"/>
    <p:sldId id="368" r:id="rId42"/>
    <p:sldId id="369" r:id="rId43"/>
    <p:sldId id="371" r:id="rId44"/>
    <p:sldId id="372" r:id="rId45"/>
    <p:sldId id="373" r:id="rId46"/>
    <p:sldId id="374" r:id="rId47"/>
    <p:sldId id="375" r:id="rId48"/>
    <p:sldId id="376" r:id="rId49"/>
    <p:sldId id="337" r:id="rId50"/>
    <p:sldId id="413" r:id="rId51"/>
    <p:sldId id="378" r:id="rId52"/>
    <p:sldId id="383" r:id="rId53"/>
    <p:sldId id="296" r:id="rId54"/>
    <p:sldId id="297" r:id="rId55"/>
    <p:sldId id="301" r:id="rId56"/>
    <p:sldId id="302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298" r:id="rId75"/>
    <p:sldId id="299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3" r:id="rId88"/>
    <p:sldId id="334" r:id="rId89"/>
    <p:sldId id="335" r:id="rId90"/>
    <p:sldId id="336" r:id="rId91"/>
    <p:sldId id="414" r:id="rId92"/>
    <p:sldId id="415" r:id="rId93"/>
    <p:sldId id="416" r:id="rId94"/>
    <p:sldId id="424" r:id="rId95"/>
    <p:sldId id="417" r:id="rId96"/>
    <p:sldId id="344" r:id="rId97"/>
    <p:sldId id="294" r:id="rId98"/>
    <p:sldId id="347" r:id="rId99"/>
    <p:sldId id="348" r:id="rId100"/>
    <p:sldId id="419" r:id="rId101"/>
    <p:sldId id="420" r:id="rId102"/>
    <p:sldId id="421" r:id="rId103"/>
    <p:sldId id="423" r:id="rId104"/>
    <p:sldId id="385" r:id="rId105"/>
    <p:sldId id="425" r:id="rId10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3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810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8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64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948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183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356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045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03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15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14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97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763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1464267"/>
            <a:ext cx="9966960" cy="2060329"/>
          </a:xfrm>
        </p:spPr>
        <p:txBody>
          <a:bodyPr/>
          <a:lstStyle/>
          <a:p>
            <a:r>
              <a:rPr lang="en-US" b="1" dirty="0" smtClean="0"/>
              <a:t>Decision Tree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908" y="4002639"/>
            <a:ext cx="9911663" cy="52364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 supervised machine learning </a:t>
            </a:r>
            <a:r>
              <a:rPr lang="en-US" dirty="0" smtClean="0"/>
              <a:t>algorithm used </a:t>
            </a:r>
            <a:r>
              <a:rPr lang="en-US" dirty="0"/>
              <a:t>for classification and regression.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3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613" y="476597"/>
            <a:ext cx="10586258" cy="135636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Suppose a bank wants to decide whether to approve a loan.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985" y="2090650"/>
            <a:ext cx="9872871" cy="332924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Income &gt; 50k</a:t>
            </a:r>
          </a:p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approve loan</a:t>
            </a:r>
          </a:p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</a:p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exactly what a Decision Tree learns.</a:t>
            </a:r>
          </a:p>
        </p:txBody>
      </p:sp>
    </p:spTree>
    <p:extLst>
      <p:ext uri="{BB962C8B-B14F-4D97-AF65-F5344CB8AC3E}">
        <p14:creationId xmlns:p14="http://schemas.microsoft.com/office/powerpoint/2010/main" val="2318232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745" y="310342"/>
            <a:ext cx="9875520" cy="1356360"/>
          </a:xfrm>
        </p:spPr>
        <p:txBody>
          <a:bodyPr/>
          <a:lstStyle/>
          <a:p>
            <a:r>
              <a:rPr lang="en-US" b="1" dirty="0"/>
              <a:t>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734" y="1321723"/>
            <a:ext cx="10810702" cy="4038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supervised machine learning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 used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 and  Regression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idea:</a:t>
            </a:r>
            <a:b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model learns a set of decision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rules in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form of IF–ELSE conditions.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Easy to understand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Highly interpretable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Handles non-linear data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Works with numerical and categorical data</a:t>
            </a:r>
          </a:p>
        </p:txBody>
      </p:sp>
    </p:spTree>
    <p:extLst>
      <p:ext uri="{BB962C8B-B14F-4D97-AF65-F5344CB8AC3E}">
        <p14:creationId xmlns:p14="http://schemas.microsoft.com/office/powerpoint/2010/main" val="185416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91855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humans can understand them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95337"/>
            <a:ext cx="9759403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do companies like decision trees?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08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671" y="1479666"/>
            <a:ext cx="11210698" cy="3108959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buClrTx/>
              <a:buFont typeface="Wingdings" panose="05000000000000000000" pitchFamily="2" charset="2"/>
              <a:buChar char="Ø"/>
            </a:pPr>
            <a:r>
              <a:rPr lang="en-US" sz="3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ID3 </a:t>
            </a:r>
            <a:r>
              <a:rPr lang="en-US" sz="3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Uses </a:t>
            </a:r>
            <a:r>
              <a:rPr lang="en-US" sz="3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</a:t>
            </a:r>
          </a:p>
          <a:p>
            <a:pPr>
              <a:lnSpc>
                <a:spcPct val="160000"/>
              </a:lnSpc>
              <a:buClrTx/>
              <a:buFont typeface="Wingdings" panose="05000000000000000000" pitchFamily="2" charset="2"/>
              <a:buChar char="Ø"/>
            </a:pPr>
            <a:r>
              <a:rPr lang="en-US" sz="3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C4.5 </a:t>
            </a:r>
            <a:r>
              <a:rPr lang="en-US" sz="3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Uses Gain </a:t>
            </a:r>
            <a:r>
              <a:rPr lang="en-US" sz="3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Ratio</a:t>
            </a:r>
          </a:p>
          <a:p>
            <a:pPr>
              <a:lnSpc>
                <a:spcPct val="160000"/>
              </a:lnSpc>
              <a:buClrTx/>
              <a:buFont typeface="Wingdings" panose="05000000000000000000" pitchFamily="2" charset="2"/>
              <a:buChar char="Ø"/>
            </a:pPr>
            <a:r>
              <a:rPr lang="en-US" sz="3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 </a:t>
            </a:r>
            <a:r>
              <a:rPr lang="en-US" sz="3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Uses Gini </a:t>
            </a:r>
            <a:r>
              <a:rPr lang="en-US" sz="3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  <a:r>
              <a:rPr lang="en-US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and Regression Tree).</a:t>
            </a:r>
          </a:p>
          <a:p>
            <a:pPr>
              <a:lnSpc>
                <a:spcPct val="160000"/>
              </a:lnSpc>
            </a:pP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12648" y="371856"/>
            <a:ext cx="9875520" cy="843486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Decision Tree Algorithm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11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1177" y="524084"/>
            <a:ext cx="1080100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Approach in Decision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Tree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Algorithm: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1: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Start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the entire dataset at the root node.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 :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Evaluate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features to find the best split.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3: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Split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dataset based on the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feature that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gives maximum information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gain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 minimum impurity).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4: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Repeat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process recursively for each branch.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5: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Stop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splitting when a stopping condition is met.</a:t>
            </a:r>
          </a:p>
        </p:txBody>
      </p:sp>
    </p:spTree>
    <p:extLst>
      <p:ext uri="{BB962C8B-B14F-4D97-AF65-F5344CB8AC3E}">
        <p14:creationId xmlns:p14="http://schemas.microsoft.com/office/powerpoint/2010/main" val="2045804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14" y="368531"/>
            <a:ext cx="9875520" cy="1356360"/>
          </a:xfrm>
        </p:spPr>
        <p:txBody>
          <a:bodyPr/>
          <a:lstStyle/>
          <a:p>
            <a:r>
              <a:rPr lang="en-US" b="1" dirty="0"/>
              <a:t>Example: Loan Approval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614" y="1724891"/>
            <a:ext cx="9872871" cy="284710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 node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: Income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50k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YES → Approve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NO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Check credit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decision tree keeps asking questions about features until it can make a decision.</a:t>
            </a:r>
          </a:p>
        </p:txBody>
      </p:sp>
    </p:spTree>
    <p:extLst>
      <p:ext uri="{BB962C8B-B14F-4D97-AF65-F5344CB8AC3E}">
        <p14:creationId xmlns:p14="http://schemas.microsoft.com/office/powerpoint/2010/main" val="3566670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989" y="215423"/>
            <a:ext cx="9875520" cy="1356360"/>
          </a:xfrm>
        </p:spPr>
        <p:txBody>
          <a:bodyPr/>
          <a:lstStyle/>
          <a:p>
            <a:r>
              <a:rPr lang="en-US" b="1" dirty="0"/>
              <a:t>Suppose we want to predict whether a student plays cricket.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28105" y="1127541"/>
            <a:ext cx="1076082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Target= Play Cricket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Students = 30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: 15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15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Which question should we ask first?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Gender?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Height?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Class?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Decision Tree checks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options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chooses the best one.</a:t>
            </a:r>
          </a:p>
        </p:txBody>
      </p:sp>
    </p:spTree>
    <p:extLst>
      <p:ext uri="{BB962C8B-B14F-4D97-AF65-F5344CB8AC3E}">
        <p14:creationId xmlns:p14="http://schemas.microsoft.com/office/powerpoint/2010/main" val="24119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371863"/>
            <a:ext cx="11288684" cy="597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841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139" y="2006139"/>
            <a:ext cx="11388436" cy="1356360"/>
          </a:xfrm>
        </p:spPr>
        <p:txBody>
          <a:bodyPr>
            <a:normAutofit fontScale="90000"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Decision Tree selects the </a:t>
            </a:r>
            <a:r>
              <a:rPr lang="en-US" b="1" dirty="0" smtClean="0">
                <a:solidFill>
                  <a:schemeClr val="tx1"/>
                </a:solidFill>
              </a:rPr>
              <a:t>feature that </a:t>
            </a:r>
            <a:r>
              <a:rPr lang="en-US" b="1" dirty="0">
                <a:solidFill>
                  <a:schemeClr val="tx1"/>
                </a:solidFill>
              </a:rPr>
              <a:t>gives the BEST </a:t>
            </a:r>
            <a:r>
              <a:rPr lang="en-US" b="1" dirty="0" smtClean="0">
                <a:solidFill>
                  <a:schemeClr val="tx1"/>
                </a:solidFill>
              </a:rPr>
              <a:t>split : using </a:t>
            </a:r>
            <a:r>
              <a:rPr lang="en-US" b="1" dirty="0">
                <a:solidFill>
                  <a:schemeClr val="tx1"/>
                </a:solidFill>
              </a:rPr>
              <a:t>Gini or </a:t>
            </a:r>
            <a:r>
              <a:rPr lang="en-US" b="1" dirty="0" smtClean="0">
                <a:solidFill>
                  <a:schemeClr val="tx1"/>
                </a:solidFill>
              </a:rPr>
              <a:t>Entropy.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4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779" y="277091"/>
            <a:ext cx="9875520" cy="1003069"/>
          </a:xfrm>
        </p:spPr>
        <p:txBody>
          <a:bodyPr/>
          <a:lstStyle/>
          <a:p>
            <a:r>
              <a:rPr lang="en-US" b="1" dirty="0"/>
              <a:t>Structure of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79" y="1088968"/>
            <a:ext cx="5303520" cy="5639949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of the tree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entire dataset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where the dataset is split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Based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a feature condition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 of the decision rule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Leaf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predicted class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448" y="277091"/>
            <a:ext cx="5080868" cy="632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71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84712" y="634413"/>
            <a:ext cx="8107680" cy="5148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Income &gt; 50k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/       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\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YES          NO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Approve      Credit Score &gt; 700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/          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YES           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NO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Approve     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Reject</a:t>
            </a:r>
          </a:p>
        </p:txBody>
      </p:sp>
    </p:spTree>
    <p:extLst>
      <p:ext uri="{BB962C8B-B14F-4D97-AF65-F5344CB8AC3E}">
        <p14:creationId xmlns:p14="http://schemas.microsoft.com/office/powerpoint/2010/main" val="2562827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317" y="277091"/>
            <a:ext cx="9875520" cy="1356360"/>
          </a:xfrm>
        </p:spPr>
        <p:txBody>
          <a:bodyPr/>
          <a:lstStyle/>
          <a:p>
            <a:r>
              <a:rPr lang="en-US" b="1" dirty="0"/>
              <a:t>Impurity Measures in Decision Trees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305" y="1471353"/>
            <a:ext cx="988660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Gini Index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Gini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1 − (p² + q²)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→ probability of class 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 → probability of class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4305" y="397049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Entropy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Entropy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− p log₂(p) − q log₂(q)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305" y="5183538"/>
            <a:ext cx="1058487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Information Gain</a:t>
            </a:r>
          </a:p>
          <a:p>
            <a:endParaRPr lang="en-US" dirty="0"/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Information Gain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=  Entropy(parent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− Weighted Entropy(children)</a:t>
            </a:r>
          </a:p>
        </p:txBody>
      </p:sp>
    </p:spTree>
    <p:extLst>
      <p:ext uri="{BB962C8B-B14F-4D97-AF65-F5344CB8AC3E}">
        <p14:creationId xmlns:p14="http://schemas.microsoft.com/office/powerpoint/2010/main" val="4078682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207" y="308658"/>
            <a:ext cx="9875520" cy="135636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How does tree decide where to split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586" y="1559688"/>
            <a:ext cx="10946231" cy="24470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Gini → Better split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</a:rPr>
              <a:t>Entropy Index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uncertainty in the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494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862" y="426720"/>
            <a:ext cx="9875520" cy="1356360"/>
          </a:xfrm>
        </p:spPr>
        <p:txBody>
          <a:bodyPr/>
          <a:lstStyle/>
          <a:p>
            <a:r>
              <a:rPr lang="en-US" b="1" dirty="0"/>
              <a:t>Gini Interpretation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9043424"/>
              </p:ext>
            </p:extLst>
          </p:nvPr>
        </p:nvGraphicFramePr>
        <p:xfrm>
          <a:off x="1143000" y="1783080"/>
          <a:ext cx="7099906" cy="1758141"/>
        </p:xfrm>
        <a:graphic>
          <a:graphicData uri="http://schemas.openxmlformats.org/drawingml/2006/table">
            <a:tbl>
              <a:tblPr/>
              <a:tblGrid>
                <a:gridCol w="3549953"/>
                <a:gridCol w="3549953"/>
              </a:tblGrid>
              <a:tr h="586047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Gini</a:t>
                      </a:r>
                    </a:p>
                  </a:txBody>
                  <a:tcPr marL="79089" marR="79089" marT="39545" marB="395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marL="79089" marR="79089" marT="39545" marB="395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04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9089" marR="79089" marT="39545" marB="395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Pure node</a:t>
                      </a:r>
                    </a:p>
                  </a:txBody>
                  <a:tcPr marL="79089" marR="79089" marT="39545" marB="395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04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79089" marR="79089" marT="39545" marB="395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Impure</a:t>
                      </a:r>
                    </a:p>
                  </a:txBody>
                  <a:tcPr marL="79089" marR="79089" marT="39545" marB="395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85702" y="4251250"/>
            <a:ext cx="6096000" cy="11406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Lower Gini → better split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Higher Gini → more impurity</a:t>
            </a:r>
          </a:p>
        </p:txBody>
      </p:sp>
    </p:spTree>
    <p:extLst>
      <p:ext uri="{BB962C8B-B14F-4D97-AF65-F5344CB8AC3E}">
        <p14:creationId xmlns:p14="http://schemas.microsoft.com/office/powerpoint/2010/main" val="166990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15487"/>
            <a:ext cx="9875520" cy="936567"/>
          </a:xfrm>
        </p:spPr>
        <p:txBody>
          <a:bodyPr/>
          <a:lstStyle/>
          <a:p>
            <a:r>
              <a:rPr lang="en-US" b="1" dirty="0" smtClean="0"/>
              <a:t>Example</a:t>
            </a:r>
            <a:r>
              <a:rPr lang="en-US" b="1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483" y="1190679"/>
            <a:ext cx="9872871" cy="4038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: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 =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Yes, 2  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Probability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453" y="1577904"/>
            <a:ext cx="2921291" cy="1757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81" y="3148500"/>
            <a:ext cx="5286863" cy="254289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76929"/>
              </p:ext>
            </p:extLst>
          </p:nvPr>
        </p:nvGraphicFramePr>
        <p:xfrm>
          <a:off x="6400800" y="1754786"/>
          <a:ext cx="5340096" cy="3523079"/>
        </p:xfrm>
        <a:graphic>
          <a:graphicData uri="http://schemas.openxmlformats.org/drawingml/2006/table">
            <a:tbl>
              <a:tblPr/>
              <a:tblGrid>
                <a:gridCol w="1225296"/>
                <a:gridCol w="1664409"/>
                <a:gridCol w="1210552"/>
                <a:gridCol w="1239839"/>
              </a:tblGrid>
              <a:tr h="666528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52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Pure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Yes, 0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Perfect certainty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7839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Yes, 5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uncertainty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184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Almost pure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Yes, 2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 impurity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5518806"/>
            <a:ext cx="114391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Entropy is lower than the maximum value (1), indicating some class dominance, but the node is not perfectly pure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Entropy is moderate because one class dominates but both classes are still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present.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94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229" y="1610565"/>
            <a:ext cx="8898928" cy="1320800"/>
          </a:xfrm>
        </p:spPr>
        <p:txBody>
          <a:bodyPr>
            <a:normAutofit fontScale="90000"/>
          </a:bodyPr>
          <a:lstStyle/>
          <a:p>
            <a:pPr algn="ctr">
              <a:lnSpc>
                <a:spcPct val="200000"/>
              </a:lnSpc>
            </a:pPr>
            <a:r>
              <a:rPr lang="en-US" b="1" dirty="0" smtClean="0">
                <a:solidFill>
                  <a:schemeClr val="tx1"/>
                </a:solidFill>
              </a:rPr>
              <a:t>Let </a:t>
            </a:r>
            <a:r>
              <a:rPr lang="en-US" b="1" dirty="0">
                <a:solidFill>
                  <a:schemeClr val="tx1"/>
                </a:solidFill>
              </a:rPr>
              <a:t>us </a:t>
            </a:r>
            <a:r>
              <a:rPr lang="en-US" b="1" dirty="0" smtClean="0">
                <a:solidFill>
                  <a:schemeClr val="tx1"/>
                </a:solidFill>
              </a:rPr>
              <a:t>understand the </a:t>
            </a:r>
            <a:r>
              <a:rPr lang="en-US" b="1" dirty="0">
                <a:solidFill>
                  <a:schemeClr val="tx1"/>
                </a:solidFill>
              </a:rPr>
              <a:t>algorithm: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203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007" y="260466"/>
            <a:ext cx="10690168" cy="7370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Iris dataset</a:t>
            </a:r>
            <a:r>
              <a:rPr lang="en-US" dirty="0"/>
              <a:t> </a:t>
            </a:r>
            <a:r>
              <a:rPr lang="en-US" dirty="0" smtClean="0"/>
              <a:t>: </a:t>
            </a:r>
            <a:r>
              <a:rPr lang="en-US" b="1" dirty="0"/>
              <a:t>Each class contains 50 samples</a:t>
            </a:r>
            <a:r>
              <a:rPr lang="en-US" dirty="0"/>
              <a:t>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70" y="997528"/>
            <a:ext cx="10705485" cy="54198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Samples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150 </a:t>
            </a: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4 </a:t>
            </a: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Sepal Length (cm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Sepal Width (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cm)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Petal Length (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cm)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Petal Width (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cm)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514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738" y="3552305"/>
            <a:ext cx="9875520" cy="1356360"/>
          </a:xfrm>
        </p:spPr>
        <p:txBody>
          <a:bodyPr>
            <a:normAutofit fontScale="90000"/>
          </a:bodyPr>
          <a:lstStyle/>
          <a:p>
            <a:pPr>
              <a:lnSpc>
                <a:spcPct val="200000"/>
              </a:lnSpc>
            </a:pP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easily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separable</a:t>
            </a:r>
            <a:b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Versicolor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Virginica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overlap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0807" y="49014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Target Classes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3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Versicolor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Virginica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0217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77" y="750014"/>
            <a:ext cx="10611101" cy="488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90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50" y="803432"/>
            <a:ext cx="10221728" cy="461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894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962" y="958734"/>
            <a:ext cx="8596668" cy="4112029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4400" b="1" dirty="0" smtClean="0">
                <a:solidFill>
                  <a:schemeClr val="tx1"/>
                </a:solidFill>
              </a:rPr>
              <a:t>Let us use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b="1" dirty="0" smtClean="0">
                <a:solidFill>
                  <a:schemeClr val="tx1"/>
                </a:solidFill>
              </a:rPr>
              <a:t>to make model:</a:t>
            </a:r>
            <a:br>
              <a:rPr lang="en-US" sz="4400" b="1" dirty="0" smtClean="0">
                <a:solidFill>
                  <a:schemeClr val="tx1"/>
                </a:solidFill>
              </a:rPr>
            </a:br>
            <a:r>
              <a:rPr lang="en-US" sz="4400" b="1" dirty="0" smtClean="0">
                <a:solidFill>
                  <a:schemeClr val="tx1"/>
                </a:solidFill>
              </a:rPr>
              <a:t> Nested if else method:</a:t>
            </a:r>
            <a:br>
              <a:rPr lang="en-US" sz="4400" b="1" dirty="0" smtClean="0">
                <a:solidFill>
                  <a:schemeClr val="tx1"/>
                </a:solidFill>
              </a:rPr>
            </a:br>
            <a:r>
              <a:rPr lang="en-US" sz="4400" b="1" dirty="0" smtClean="0">
                <a:solidFill>
                  <a:schemeClr val="tx1"/>
                </a:solidFill>
              </a:rPr>
              <a:t>where xi = {SL,SW,PL,PW}</a:t>
            </a:r>
            <a:endParaRPr lang="en-US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758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075" y="665018"/>
            <a:ext cx="9164936" cy="5735782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tx1"/>
                </a:solidFill>
              </a:rPr>
              <a:t>If  Petal Length(PL) &lt; a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chemeClr val="tx1"/>
                </a:solidFill>
              </a:rPr>
              <a:t>		Yi = 1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chemeClr val="tx1"/>
                </a:solidFill>
              </a:rPr>
              <a:t>Else </a:t>
            </a:r>
          </a:p>
          <a:p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smtClean="0">
                <a:solidFill>
                  <a:schemeClr val="tx1"/>
                </a:solidFill>
              </a:rPr>
              <a:t>if Sepal Length(SL) &lt; b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chemeClr val="tx1"/>
                </a:solidFill>
              </a:rPr>
              <a:t>		Yi = 2</a:t>
            </a:r>
          </a:p>
          <a:p>
            <a:pPr marL="0" indent="0">
              <a:buNone/>
            </a:pPr>
            <a:r>
              <a:rPr lang="en-US" sz="3200" dirty="0" smtClean="0">
                <a:solidFill>
                  <a:schemeClr val="tx1"/>
                </a:solidFill>
              </a:rPr>
              <a:t>Else  </a:t>
            </a:r>
          </a:p>
          <a:p>
            <a:pPr marL="457200" lvl="1" indent="0">
              <a:buNone/>
            </a:pPr>
            <a:r>
              <a:rPr lang="en-US" sz="3200" dirty="0" smtClean="0">
                <a:solidFill>
                  <a:schemeClr val="tx1"/>
                </a:solidFill>
              </a:rPr>
              <a:t>	Yi </a:t>
            </a:r>
            <a:r>
              <a:rPr lang="en-US" sz="3200" dirty="0">
                <a:solidFill>
                  <a:schemeClr val="tx1"/>
                </a:solidFill>
              </a:rPr>
              <a:t>= </a:t>
            </a:r>
            <a:r>
              <a:rPr lang="en-US" sz="3200" dirty="0" smtClean="0">
                <a:solidFill>
                  <a:schemeClr val="tx1"/>
                </a:solidFill>
              </a:rPr>
              <a:t>3</a:t>
            </a:r>
            <a:endParaRPr lang="en-US" sz="3200" dirty="0">
              <a:solidFill>
                <a:schemeClr val="tx1"/>
              </a:solidFill>
            </a:endParaRPr>
          </a:p>
          <a:p>
            <a:endParaRPr lang="en-US" sz="4400" dirty="0" smtClean="0"/>
          </a:p>
          <a:p>
            <a:endParaRPr lang="en-US" sz="4400" dirty="0"/>
          </a:p>
        </p:txBody>
      </p:sp>
      <p:sp>
        <p:nvSpPr>
          <p:cNvPr id="4" name="Right Bracket 3"/>
          <p:cNvSpPr/>
          <p:nvPr/>
        </p:nvSpPr>
        <p:spPr>
          <a:xfrm>
            <a:off x="4910463" y="665018"/>
            <a:ext cx="847898" cy="4296380"/>
          </a:xfrm>
          <a:prstGeom prst="rightBracket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77210" y="1904085"/>
            <a:ext cx="4007935" cy="2103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 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 as Nested IF-ELSE Rules</a:t>
            </a:r>
          </a:p>
        </p:txBody>
      </p:sp>
      <p:sp>
        <p:nvSpPr>
          <p:cNvPr id="6" name="Left Arrow 5"/>
          <p:cNvSpPr/>
          <p:nvPr/>
        </p:nvSpPr>
        <p:spPr>
          <a:xfrm>
            <a:off x="5902037" y="2534732"/>
            <a:ext cx="1121672" cy="5569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01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523007" y="365760"/>
            <a:ext cx="8352513" cy="12469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 </a:t>
            </a:r>
            <a:r>
              <a:rPr lang="en-US" sz="3200" b="1" dirty="0" smtClean="0">
                <a:solidFill>
                  <a:schemeClr val="tx1"/>
                </a:solidFill>
              </a:rPr>
              <a:t>Decision Tree Representation of  Nested if else condition</a:t>
            </a:r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2" y="1791018"/>
            <a:ext cx="9715800" cy="470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98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633" y="1510092"/>
            <a:ext cx="11223966" cy="417581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Root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Node: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Sepal 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Length ≤ 5.5,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left. Else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go right.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Child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(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left child corresponds to the true or yes branch of a decision split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Petal Length ≤ 3.0,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left. Else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go right.</a:t>
            </a:r>
          </a:p>
          <a:p>
            <a:pPr marL="45720" indent="0">
              <a:lnSpc>
                <a:spcPct val="200000"/>
              </a:lnSpc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itle 5"/>
          <p:cNvSpPr>
            <a:spLocks noGrp="1"/>
          </p:cNvSpPr>
          <p:nvPr>
            <p:ph type="title"/>
          </p:nvPr>
        </p:nvSpPr>
        <p:spPr>
          <a:xfrm>
            <a:off x="732681" y="661160"/>
            <a:ext cx="8596668" cy="6206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Structure of the Tree</a:t>
            </a:r>
          </a:p>
        </p:txBody>
      </p:sp>
    </p:spTree>
    <p:extLst>
      <p:ext uri="{BB962C8B-B14F-4D97-AF65-F5344CB8AC3E}">
        <p14:creationId xmlns:p14="http://schemas.microsoft.com/office/powerpoint/2010/main" val="628766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426" y="135038"/>
            <a:ext cx="9875520" cy="1356360"/>
          </a:xfrm>
        </p:spPr>
        <p:txBody>
          <a:bodyPr/>
          <a:lstStyle/>
          <a:p>
            <a:r>
              <a:rPr lang="en-US" b="1" dirty="0"/>
              <a:t>Graphical view of a Decision Tree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786" y="1491398"/>
            <a:ext cx="9559636" cy="44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37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9134" y="165595"/>
            <a:ext cx="9094123" cy="655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total number of samples (data points) at that node.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The root node has 40 samples.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count of samples from each class at that node.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At the root node, value=[33,6,1]:</a:t>
            </a:r>
          </a:p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 smtClean="0">
                <a:latin typeface="Arial" panose="020B0604020202020204" pitchFamily="34" charset="0"/>
              </a:rPr>
              <a:t>33 </a:t>
            </a:r>
            <a:r>
              <a:rPr lang="en-US" altLang="en-US" sz="2200" dirty="0">
                <a:latin typeface="Arial" panose="020B0604020202020204" pitchFamily="34" charset="0"/>
              </a:rPr>
              <a:t>samples belong to class </a:t>
            </a:r>
            <a:r>
              <a:rPr lang="en-US" altLang="en-US" sz="2200" dirty="0" err="1">
                <a:latin typeface="Arial" panose="020B0604020202020204" pitchFamily="34" charset="0"/>
              </a:rPr>
              <a:t>setosa</a:t>
            </a:r>
            <a:r>
              <a:rPr lang="en-US" altLang="en-US" sz="2200" dirty="0">
                <a:latin typeface="Arial" panose="020B0604020202020204" pitchFamily="34" charset="0"/>
              </a:rPr>
              <a:t>,</a:t>
            </a:r>
          </a:p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 smtClean="0">
                <a:latin typeface="Arial" panose="020B0604020202020204" pitchFamily="34" charset="0"/>
              </a:rPr>
              <a:t>6 </a:t>
            </a:r>
            <a:r>
              <a:rPr lang="en-US" altLang="en-US" sz="2200" dirty="0">
                <a:latin typeface="Arial" panose="020B0604020202020204" pitchFamily="34" charset="0"/>
              </a:rPr>
              <a:t>to versicolor,</a:t>
            </a:r>
          </a:p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 smtClean="0">
                <a:latin typeface="Arial" panose="020B0604020202020204" pitchFamily="34" charset="0"/>
              </a:rPr>
              <a:t>1 to </a:t>
            </a:r>
            <a:r>
              <a:rPr lang="en-US" altLang="en-US" sz="2200" dirty="0" err="1">
                <a:latin typeface="Arial" panose="020B0604020202020204" pitchFamily="34" charset="0"/>
              </a:rPr>
              <a:t>virginica</a:t>
            </a:r>
            <a:r>
              <a:rPr lang="en-US" altLang="en-US" sz="2200" dirty="0"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majority class at that node.</a:t>
            </a:r>
          </a:p>
          <a:p>
            <a:pPr marR="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instance, the </a:t>
            </a:r>
            <a:r>
              <a:rPr lang="en-US" altLang="en-US" sz="2200" dirty="0">
                <a:latin typeface="Arial" panose="020B0604020202020204" pitchFamily="34" charset="0"/>
              </a:rPr>
              <a:t>root node predicts </a:t>
            </a:r>
            <a:r>
              <a:rPr lang="en-US" altLang="en-US" sz="2200" dirty="0" err="1">
                <a:latin typeface="Arial" panose="020B0604020202020204" pitchFamily="34" charset="0"/>
              </a:rPr>
              <a:t>setosa</a:t>
            </a:r>
            <a:r>
              <a:rPr lang="en-US" altLang="en-US" sz="2200" dirty="0">
                <a:latin typeface="Arial" panose="020B0604020202020204" pitchFamily="34" charset="0"/>
              </a:rPr>
              <a:t> as the majority class.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301" y="2206872"/>
            <a:ext cx="3943912" cy="21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89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868" y="366489"/>
            <a:ext cx="12108474" cy="60277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Geometrical Intuition of Decision Trees</a:t>
            </a:r>
            <a:br>
              <a:rPr lang="en-US" b="1" dirty="0"/>
            </a:br>
            <a:r>
              <a:rPr lang="en-US" b="1" dirty="0"/>
              <a:t>Axis-Parallel Splits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93868" y="1593333"/>
            <a:ext cx="1091144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decision tree splits data using only one feature at 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time.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split creates a boundary that 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parallel to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of the feature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axes.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Iris Dataset: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Sepal Length (SL) along x axis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Petal Length(PL) along y axis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Split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Sepal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Length ≤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5.5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creates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vertical line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feature space.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498" y="2881045"/>
            <a:ext cx="4208811" cy="350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630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4403" y="144261"/>
            <a:ext cx="1025889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Next split: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Petal Width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≤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2.5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This creates a horizontal line</a:t>
            </a:r>
            <a:r>
              <a:rPr lang="en-US" sz="2400" dirty="0"/>
              <a:t>.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240" y="506238"/>
            <a:ext cx="5120722" cy="373325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0173" y="2534542"/>
            <a:ext cx="6377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Therefore boundaries are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parallel to axes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8196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86" y="897775"/>
            <a:ext cx="5493661" cy="44057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926" y="813905"/>
            <a:ext cx="5120638" cy="457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74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91435" y="548637"/>
            <a:ext cx="11379387" cy="47340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trees cannot draw diagonal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boundaries</a:t>
            </a:r>
            <a:r>
              <a:rPr lang="en-US" sz="2400" dirty="0"/>
              <a:t>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Decision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 splits create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axis-parallel decision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boundaries in feature space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trees approximate complex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boundaries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multiple rectangular regions.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So: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Decision tree is an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axis parallel model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a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nested if else condition.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666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007" y="609600"/>
            <a:ext cx="11297102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Differences Between Axis-Parallel and If-Else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859" y="2371079"/>
            <a:ext cx="8671781" cy="38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1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to decide root node: Decision Tree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30299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 1: Criterion = Gini Index : By default in model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 2 : Criterion = Entropy or Information gain</a:t>
            </a:r>
          </a:p>
        </p:txBody>
      </p:sp>
    </p:spTree>
    <p:extLst>
      <p:ext uri="{BB962C8B-B14F-4D97-AF65-F5344CB8AC3E}">
        <p14:creationId xmlns:p14="http://schemas.microsoft.com/office/powerpoint/2010/main" val="5910243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9134" y="830526"/>
            <a:ext cx="1168769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Start at the root node, which contains the entire dataset.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Find the feature that best splits the dataset into groups based on the target variable.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"best split" is often calculated using metrics like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Gini Index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Gain (Entropy)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or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 Reduction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09514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393469"/>
            <a:ext cx="9875520" cy="886691"/>
          </a:xfrm>
        </p:spPr>
        <p:txBody>
          <a:bodyPr/>
          <a:lstStyle/>
          <a:p>
            <a:pPr algn="ctr"/>
            <a:r>
              <a:rPr lang="en-US" b="1" dirty="0"/>
              <a:t>Gini Index vs Entropy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60862" y="1610412"/>
            <a:ext cx="4754880" cy="77724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Gini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44731" y="2406952"/>
            <a:ext cx="4754880" cy="338328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= 1 − Σ (p_i²)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impurity of a node.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0 → Pure node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→ More impurity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545700"/>
            <a:ext cx="4754880" cy="77724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Entropy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7880" y="2588480"/>
            <a:ext cx="5785659" cy="338328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 = − </a:t>
            </a:r>
            <a:r>
              <a:rPr lang="el-GR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p_i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log₂(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p_i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 in the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 = 0 → Pure node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 = 1 → Maximum uncertainty</a:t>
            </a:r>
          </a:p>
        </p:txBody>
      </p:sp>
    </p:spTree>
    <p:extLst>
      <p:ext uri="{BB962C8B-B14F-4D97-AF65-F5344CB8AC3E}">
        <p14:creationId xmlns:p14="http://schemas.microsoft.com/office/powerpoint/2010/main" val="1462600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Difference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690920"/>
              </p:ext>
            </p:extLst>
          </p:nvPr>
        </p:nvGraphicFramePr>
        <p:xfrm>
          <a:off x="694113" y="2131522"/>
          <a:ext cx="9872664" cy="2639984"/>
        </p:xfrm>
        <a:graphic>
          <a:graphicData uri="http://schemas.openxmlformats.org/drawingml/2006/table">
            <a:tbl>
              <a:tblPr/>
              <a:tblGrid>
                <a:gridCol w="2630978"/>
                <a:gridCol w="2693324"/>
                <a:gridCol w="4548362"/>
              </a:tblGrid>
              <a:tr h="65999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9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Used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ID3 / C4.5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96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Slightly slower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96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uncertainty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2533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320" y="331808"/>
            <a:ext cx="9875520" cy="135636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Gini Index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976" y="1346661"/>
            <a:ext cx="10772893" cy="467175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variable: Success or Failure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 decision trees typically use binary splits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 node variable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the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Index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we calculate the Gini Impurity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and after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each split and select the split that gives the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 reduction in impurity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(also known as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Gain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Lower Gini → More pure node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Gini → More impurity</a:t>
            </a:r>
          </a:p>
        </p:txBody>
      </p:sp>
    </p:spTree>
    <p:extLst>
      <p:ext uri="{BB962C8B-B14F-4D97-AF65-F5344CB8AC3E}">
        <p14:creationId xmlns:p14="http://schemas.microsoft.com/office/powerpoint/2010/main" val="20491689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88" y="509083"/>
            <a:ext cx="9686522" cy="554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770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35" y="1216773"/>
            <a:ext cx="10862713" cy="51840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13" y="309965"/>
            <a:ext cx="6134549" cy="106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4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59" y="579919"/>
            <a:ext cx="10957976" cy="565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920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40" y="520685"/>
            <a:ext cx="11026897" cy="576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41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5" y="536063"/>
            <a:ext cx="10557162" cy="3936184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11618" y="5474224"/>
            <a:ext cx="10138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Root Node Should Split on: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Gender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(Highest Gini Gain =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0.09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875213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266" y="331808"/>
            <a:ext cx="9875520" cy="135636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Entropy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266" y="1844903"/>
            <a:ext cx="9807986" cy="370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21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10" y="2011681"/>
            <a:ext cx="9768406" cy="3175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14" y="649665"/>
            <a:ext cx="6920556" cy="104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82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60" y="1180408"/>
            <a:ext cx="10026951" cy="53474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60" y="235481"/>
            <a:ext cx="5328334" cy="94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7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78" y="446818"/>
            <a:ext cx="9932587" cy="575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13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78" y="382799"/>
            <a:ext cx="10031378" cy="590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726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84" y="379497"/>
            <a:ext cx="9795250" cy="31118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85" y="3724102"/>
            <a:ext cx="10683560" cy="207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174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70" y="0"/>
            <a:ext cx="8596668" cy="1047404"/>
          </a:xfrm>
        </p:spPr>
        <p:txBody>
          <a:bodyPr/>
          <a:lstStyle/>
          <a:p>
            <a:r>
              <a:rPr lang="en-US" b="1" dirty="0" smtClean="0"/>
              <a:t>Properties of Entropy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77" y="880430"/>
            <a:ext cx="10278841" cy="197914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Case 1: for p = 0 or 1 , Entropy is close to zero = Perfect certainty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Case 2: For p = 0.5  , Entropy is almost 1. = Maximum Uncertainty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697" y="2161309"/>
            <a:ext cx="8160190" cy="372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560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Which node is easier to classify?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1799705" cy="4038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Yes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No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24452" y="196596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Node B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No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74172" y="461778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Node A → lower entropy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Node B → higher entropy</a:t>
            </a:r>
          </a:p>
        </p:txBody>
      </p:sp>
    </p:spTree>
    <p:extLst>
      <p:ext uri="{BB962C8B-B14F-4D97-AF65-F5344CB8AC3E}">
        <p14:creationId xmlns:p14="http://schemas.microsoft.com/office/powerpoint/2010/main" val="21920157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184" y="158187"/>
            <a:ext cx="9875520" cy="98770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When to Use Which?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465107"/>
              </p:ext>
            </p:extLst>
          </p:nvPr>
        </p:nvGraphicFramePr>
        <p:xfrm>
          <a:off x="784184" y="1145894"/>
          <a:ext cx="9157838" cy="5168673"/>
        </p:xfrm>
        <a:graphic>
          <a:graphicData uri="http://schemas.openxmlformats.org/drawingml/2006/table">
            <a:tbl>
              <a:tblPr/>
              <a:tblGrid>
                <a:gridCol w="4516690"/>
                <a:gridCol w="4641148"/>
              </a:tblGrid>
              <a:tr h="60362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Recommended 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6997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 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Gini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85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When interpretability matters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Entropy</a:t>
                      </a:r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9877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CART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Gini</a:t>
                      </a:r>
                      <a:endParaRPr 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332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you use </a:t>
                      </a:r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ID3 or C4.5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Entropy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6669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06056" y="502918"/>
            <a:ext cx="11007524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Gini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Thinks in terms of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"how likely is it to be wrong?"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(error-based).(Categorical Variables)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Entropy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Thinks in terms of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"how much information is needed to describe the system?"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(uncertainty-based).(for</a:t>
            </a:r>
            <a:r>
              <a:rPr kumimoji="0" lang="en-US" alt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</a:t>
            </a:r>
            <a:r>
              <a:rPr kumimoji="0" lang="en-US" altLang="en-US" sz="2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variables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638708"/>
              </p:ext>
            </p:extLst>
          </p:nvPr>
        </p:nvGraphicFramePr>
        <p:xfrm>
          <a:off x="529122" y="4082488"/>
          <a:ext cx="11184458" cy="2103120"/>
        </p:xfrm>
        <a:graphic>
          <a:graphicData uri="http://schemas.openxmlformats.org/drawingml/2006/table">
            <a:tbl>
              <a:tblPr/>
              <a:tblGrid>
                <a:gridCol w="2734281"/>
                <a:gridCol w="8450177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Gini Index / Entropy Handling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Categorical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Directly compute </a:t>
                      </a:r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impurity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each </a:t>
                      </a:r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category-based split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(e.g., Gender)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Numerical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 a </a:t>
                      </a:r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threshold-based split</a:t>
                      </a:r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(e.g., Height &lt; 5.5, Age &gt; 30)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7266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59224" y="892232"/>
            <a:ext cx="9214811" cy="4328160"/>
          </a:xfrm>
        </p:spPr>
        <p:txBody>
          <a:bodyPr>
            <a:normAutofit fontScale="90000"/>
          </a:bodyPr>
          <a:lstStyle/>
          <a:p>
            <a:pPr algn="ctr">
              <a:lnSpc>
                <a:spcPct val="250000"/>
              </a:lnSpc>
            </a:pPr>
            <a:r>
              <a:rPr lang="en-US" b="1" dirty="0" smtClean="0">
                <a:solidFill>
                  <a:schemeClr val="tx1"/>
                </a:solidFill>
              </a:rPr>
              <a:t>Example to understand Entropy and Gini concept for selecting root node in Decision Tree.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4349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3" y="405382"/>
            <a:ext cx="11415036" cy="1207287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chemeClr val="tx1"/>
                </a:solidFill>
              </a:rPr>
              <a:t>Problem Statement: T</a:t>
            </a:r>
            <a:r>
              <a:rPr lang="en-US" sz="3200" dirty="0" smtClean="0">
                <a:solidFill>
                  <a:schemeClr val="tx1"/>
                </a:solidFill>
              </a:rPr>
              <a:t>o </a:t>
            </a:r>
            <a:r>
              <a:rPr lang="en-US" sz="3200" dirty="0">
                <a:solidFill>
                  <a:schemeClr val="tx1"/>
                </a:solidFill>
              </a:rPr>
              <a:t>determine whether or not to play tennis based on weather conditions</a:t>
            </a:r>
            <a:r>
              <a:rPr lang="en-US" sz="3200" dirty="0"/>
              <a:t>. </a:t>
            </a:r>
            <a:endParaRPr lang="en-US" sz="3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035" y="1754586"/>
            <a:ext cx="7478961" cy="468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698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7899069"/>
              </p:ext>
            </p:extLst>
          </p:nvPr>
        </p:nvGraphicFramePr>
        <p:xfrm>
          <a:off x="528231" y="581891"/>
          <a:ext cx="10910081" cy="5785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6358"/>
                <a:gridCol w="2887308"/>
                <a:gridCol w="2502811"/>
                <a:gridCol w="2533604"/>
              </a:tblGrid>
              <a:tr h="875688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=14</a:t>
                      </a:r>
                    </a:p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Yes = 9</a:t>
                      </a:r>
                    </a:p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 = 5</a:t>
                      </a:r>
                    </a:p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486493">
                <a:tc rowSpan="3"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 Look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Sunny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864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 Cast = 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864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Rainy = 5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86493">
                <a:tc rowSpan="3"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Hot = 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4864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Cold = 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4864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Mild = 6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497752">
                <a:tc rowSpan="2"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Humidity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= 7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497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 = 7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497752">
                <a:tc rowSpan="2"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Weak= 8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97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= 6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5374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" y="144087"/>
            <a:ext cx="11924761" cy="1320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Calculate the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Index 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the Target (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PlayTennis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326" y="1464887"/>
            <a:ext cx="9563947" cy="51520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= 1-[ P(Yes)**2+P(No)**2]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= 1 – [(9/14)**2 + (5/14)**2]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= 1 – [(0.64)**2 + (0.36)**2]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= 1 –[0.41+0.13]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= 1- 0.54 ---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0.46</a:t>
            </a:r>
            <a:endParaRPr lang="en-U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719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451" y="243840"/>
            <a:ext cx="8596668" cy="85344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Calculate Gini for each feature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94" y="1097280"/>
            <a:ext cx="11143364" cy="8645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Feature: Outlook , Sub Feature: Sunny , Overcast, Rainy</a:t>
            </a:r>
          </a:p>
          <a:p>
            <a:endParaRPr lang="en-US" sz="3600" b="1" dirty="0"/>
          </a:p>
        </p:txBody>
      </p:sp>
      <p:sp>
        <p:nvSpPr>
          <p:cNvPr id="4" name="Rectangle 3"/>
          <p:cNvSpPr/>
          <p:nvPr/>
        </p:nvSpPr>
        <p:spPr>
          <a:xfrm>
            <a:off x="572694" y="1950720"/>
            <a:ext cx="971846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Sunny ---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yes = 2 ,No = 3 , Total = 5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Gini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1-[ P(Yes)**2+P(No)**2]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[(2/5)**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(3/5)**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= 1 – [(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0.4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)**2 + (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0.6)**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–[.16 +.36]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= 1-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0.52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0.48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6351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0683" y="640048"/>
            <a:ext cx="817418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Overcast ---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  yes = 4 ,No = 0 , Total = 4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Gini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 1-[ P(Yes)**2+P(No)**2]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[(4/4)**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(0/4)**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[(1)**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0.0)**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–[1+ 0]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1- 1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8931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86690" y="507044"/>
            <a:ext cx="817418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Rainy ---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yes = 3 ,No = 2 , Total = 5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Gini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= 1-[ P(Yes)**2+P(No)**2]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[(3/5)**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(2/5)**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[(0.6)**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(0.4)**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–[.36+ .16]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1-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0.52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0.48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2432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629" y="0"/>
            <a:ext cx="8596668" cy="86452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Gini for Outlook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884" y="864524"/>
            <a:ext cx="11335192" cy="570253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I(outlook) = (No of yes for Sunny/total)*(Gini calculated for Sunny)</a:t>
            </a:r>
          </a:p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of yes for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Overcast/total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)*(Gini calculated for Overcast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 of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for Rainy/total)*(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calculated for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Rainy)</a:t>
            </a:r>
          </a:p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(5/14)*(0.48) +(4/14)*0 + (5/14)*(.48)</a:t>
            </a:r>
          </a:p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(0.357)*(0.48) +0 + (0.357)*(0.48)</a:t>
            </a:r>
          </a:p>
          <a:p>
            <a:pPr marL="457200" indent="-4572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0.171 + 0 + 0.171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0.343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an Weighted Gini which will be used for Information gain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496682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212" y="722821"/>
            <a:ext cx="12125320" cy="78693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Feature: </a:t>
            </a:r>
            <a:r>
              <a:rPr lang="en-US" b="1" dirty="0" smtClean="0">
                <a:solidFill>
                  <a:schemeClr val="tx1"/>
                </a:solidFill>
              </a:rPr>
              <a:t>Temperature </a:t>
            </a:r>
            <a:r>
              <a:rPr lang="en-US" b="1" dirty="0">
                <a:solidFill>
                  <a:schemeClr val="tx1"/>
                </a:solidFill>
              </a:rPr>
              <a:t>, Sub Feature: </a:t>
            </a:r>
            <a:r>
              <a:rPr lang="en-US" b="1" dirty="0" smtClean="0">
                <a:solidFill>
                  <a:schemeClr val="tx1"/>
                </a:solidFill>
              </a:rPr>
              <a:t>Hot, Cold, Mild</a:t>
            </a:r>
            <a:r>
              <a:rPr lang="en-US" b="1" dirty="0">
                <a:solidFill>
                  <a:schemeClr val="tx1"/>
                </a:solidFill>
              </a:rPr>
              <a:t/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212" y="1670244"/>
            <a:ext cx="8596668" cy="3880773"/>
          </a:xfrm>
        </p:spPr>
        <p:txBody>
          <a:bodyPr>
            <a:normAutofit/>
          </a:bodyPr>
          <a:lstStyle/>
          <a:p>
            <a:pPr fontAlgn="t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= 4, Yes = 2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632381" y="2373094"/>
            <a:ext cx="953746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Gini  = 1-[ P(Yes)**2+P(No)**2]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[(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2/4)**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(2/4)**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[(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–[.25 +.25]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1-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0.5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5389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325" y="948193"/>
            <a:ext cx="8596668" cy="3880773"/>
          </a:xfrm>
        </p:spPr>
        <p:txBody>
          <a:bodyPr/>
          <a:lstStyle/>
          <a:p>
            <a:pPr fontAlgn="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Cold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= 4, Yes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0795" y="1829505"/>
            <a:ext cx="953746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Gini  = 1-[ P(Yes)**2+P(No)**2]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[(3/4)**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(1/4)**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[(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0.75)**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0.25)**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–[.56 +.06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1-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0.62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0.38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3710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509" y="775503"/>
            <a:ext cx="8596668" cy="3880773"/>
          </a:xfrm>
        </p:spPr>
        <p:txBody>
          <a:bodyPr/>
          <a:lstStyle/>
          <a:p>
            <a:pPr fontAlgn="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Mild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4201" y="1784260"/>
            <a:ext cx="95042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Gini  = 1-[ P(Yes)**2+P(No)**2]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[(4/6)**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(2/6)**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[(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0.67)**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0.33)**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–[0.45 +0.11]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1-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0.56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0.44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9891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571" y="104173"/>
            <a:ext cx="8596668" cy="86452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Gini for Temperature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458" y="864524"/>
            <a:ext cx="11323618" cy="570253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I(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(No of yes for Hot/total)*(Gini calculated for Hot)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of yes for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Cold/total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)*(Gini calculated for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Cold)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 of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for Mild/total)*(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calculated for </a:t>
            </a:r>
            <a:r>
              <a:rPr lang="en-US" sz="28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MIld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(4/14)*(0.5) +(4/14)*0.38 + (6/14)*(0.44)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(0.29)*(0.5) +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(0.29)*(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0.38) + (0.43)*(0.44)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0.145 + 0.11 + 0.189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0.444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an Weighted Gini which will be used for Information gain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5834851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198" y="193964"/>
            <a:ext cx="11119164" cy="1320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Feature: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Humidity 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Sub Feature: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High, Normal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458" y="1503853"/>
            <a:ext cx="8596668" cy="732240"/>
          </a:xfrm>
        </p:spPr>
        <p:txBody>
          <a:bodyPr>
            <a:normAutofit/>
          </a:bodyPr>
          <a:lstStyle/>
          <a:p>
            <a:pPr fontAlgn="t"/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= 7, Yes = 3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No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2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1032572" y="2374989"/>
            <a:ext cx="953746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Gini  = 1-[ P(Yes)**2+P(No)**2]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[(3/7)**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(4/7)**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[(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0.43)**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0.57)**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–[0.18 +0.33]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1-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0.51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0.49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2249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01" y="349136"/>
            <a:ext cx="9081808" cy="914400"/>
          </a:xfrm>
        </p:spPr>
        <p:txBody>
          <a:bodyPr>
            <a:normAutofit/>
          </a:bodyPr>
          <a:lstStyle/>
          <a:p>
            <a:pPr fontAlgn="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7,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843589" y="1537824"/>
            <a:ext cx="953746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Gini  = 1-[ P(Yes)**2+P(No)**2]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[(6/7)**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(1/7)**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[(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0.86)**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0.14)**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–[0.74 +0.02]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1-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0.76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0.24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3687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372" y="266008"/>
            <a:ext cx="8596668" cy="86452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Gini for Humidity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372" y="1147157"/>
            <a:ext cx="11219446" cy="5137265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I(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Humidity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(No of yes for High/total)*(Gini calculated for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of yes for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Normal/total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)*(Gini calculated for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(7/14)*(0.49) +(7/14)*.24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(0.5)*(0.49) +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0.5)*(0.24)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0.245 + 0.120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0.365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an Weighted Gini which will be used for Information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982312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8198" y="193964"/>
            <a:ext cx="10494972" cy="75368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Feature: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 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Sub Feature: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,Weak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11078" y="1076687"/>
            <a:ext cx="8596668" cy="732240"/>
          </a:xfrm>
        </p:spPr>
        <p:txBody>
          <a:bodyPr>
            <a:normAutofit/>
          </a:bodyPr>
          <a:lstStyle/>
          <a:p>
            <a:pPr fontAlgn="t"/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==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= 6, Yes = 3 , No = 3</a:t>
            </a:r>
          </a:p>
          <a:p>
            <a:pPr fontAlgn="t"/>
            <a:endParaRPr lang="en-US" sz="2800" dirty="0" smtClean="0"/>
          </a:p>
          <a:p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627457" y="1937961"/>
            <a:ext cx="826716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Gini  = 1-[ P(Yes)**2+P(No)**2]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[(3/6)**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(3/6)**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[(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–[.25 +.25]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1-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0.5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0.5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4203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164" y="621998"/>
            <a:ext cx="8632922" cy="748865"/>
          </a:xfrm>
        </p:spPr>
        <p:txBody>
          <a:bodyPr/>
          <a:lstStyle/>
          <a:p>
            <a:pPr fontAlgn="t"/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==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8,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69051" y="1887874"/>
            <a:ext cx="868279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Gini  = 1-[ P(Yes)**2+P(No)**2]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[(6/8)**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(2/8)**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– [(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0.75)**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 + (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0.25)**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2]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–[.562 +.0625]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= 1-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0.623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---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0.37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299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629" y="0"/>
            <a:ext cx="8596668" cy="86452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Gini for Wind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6608" y="864524"/>
            <a:ext cx="11300468" cy="5702531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I(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(No of yes for Strong/total)*(Gini calculated for Strong)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of yes for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Weak/total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)*(Gini calculated for 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(6/14)*(0.5) +(8/14)*(.37)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(0.43)*(0.5) +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0.57)*(0.37)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0.214 + 0.211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0.425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an Weighted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Gini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will be used for Information gain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883110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4828803"/>
              </p:ext>
            </p:extLst>
          </p:nvPr>
        </p:nvGraphicFramePr>
        <p:xfrm>
          <a:off x="823702" y="551248"/>
          <a:ext cx="9426259" cy="574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745"/>
                <a:gridCol w="2402580"/>
                <a:gridCol w="4368934"/>
              </a:tblGrid>
              <a:tr h="906307"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Weighted Gini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Information Gain</a:t>
                      </a:r>
                    </a:p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(Parent</a:t>
                      </a:r>
                      <a:r>
                        <a:rPr lang="en-US" sz="2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Weighted)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857312"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Outlook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0.343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0.46 – 0.343 = 0.117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57312"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Temperature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0.44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0.46 – 0.44 = 0.02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5731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Humidity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0.37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0.46 – 0.37 = 0.09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57312"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Wind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0.425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0.46 – 0.425 = 0.036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315608">
                <a:tc gridSpan="3"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 So now we see that OUTLOOK has maximum Information gain So it will be taken as root node for splitting based on Gini criterion.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25283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9880" y="975359"/>
            <a:ext cx="5407582" cy="3829397"/>
          </a:xfrm>
        </p:spPr>
        <p:txBody>
          <a:bodyPr>
            <a:noAutofit/>
          </a:bodyPr>
          <a:lstStyle/>
          <a:p>
            <a:pPr algn="ctr">
              <a:lnSpc>
                <a:spcPct val="250000"/>
              </a:lnSpc>
            </a:pPr>
            <a:r>
              <a:rPr lang="en-US" b="1" dirty="0" smtClean="0">
                <a:solidFill>
                  <a:schemeClr val="tx1"/>
                </a:solidFill>
              </a:rPr>
              <a:t>Let us do all this 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with </a:t>
            </a:r>
            <a:br>
              <a:rPr lang="en-US" b="1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Entropy Approach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7999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4071088"/>
              </p:ext>
            </p:extLst>
          </p:nvPr>
        </p:nvGraphicFramePr>
        <p:xfrm>
          <a:off x="411854" y="515386"/>
          <a:ext cx="10810327" cy="5702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053"/>
                <a:gridCol w="2860908"/>
                <a:gridCol w="2479927"/>
                <a:gridCol w="2510439"/>
              </a:tblGrid>
              <a:tr h="859244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=14</a:t>
                      </a:r>
                    </a:p>
                    <a:p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Yes = 9</a:t>
                      </a:r>
                    </a:p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 = 5</a:t>
                      </a:r>
                    </a:p>
                    <a:p>
                      <a:pPr algn="ctr"/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460561">
                <a:tc rowSpan="3"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 Look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Sunny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867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 Cast = 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60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Rainy = 5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60561">
                <a:tc rowSpan="3"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Hot = 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460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Cold = 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4605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Mild = 6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13442">
                <a:tc rowSpan="2"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Humidity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= 7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134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 = 7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513442">
                <a:tc rowSpan="2"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Weak= 8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51344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= 6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6774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4" y="243840"/>
            <a:ext cx="11459248" cy="1320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Calculate the Entropy of the Target (</a:t>
            </a:r>
            <a:r>
              <a:rPr lang="en-US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PlayTennis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0875" y="4738254"/>
            <a:ext cx="7433820" cy="1766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en-US" sz="3200" dirty="0"/>
              <a:t>=  </a:t>
            </a:r>
            <a:r>
              <a:rPr lang="en-US" sz="3200" dirty="0" smtClean="0"/>
              <a:t>-[(0.64)*(-0.637) +(0.357)*(-1.485)]</a:t>
            </a:r>
          </a:p>
          <a:p>
            <a:pPr>
              <a:lnSpc>
                <a:spcPct val="170000"/>
              </a:lnSpc>
            </a:pPr>
            <a:r>
              <a:rPr lang="en-US" sz="3200" dirty="0" smtClean="0"/>
              <a:t> = -[-0.407-0.53] =  [0.937]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865" y="1690481"/>
            <a:ext cx="7122495" cy="27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774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56" y="177338"/>
            <a:ext cx="11553363" cy="1320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2: Calculate Information Gain for Each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086" y="1233055"/>
            <a:ext cx="10489334" cy="111205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each attribute (Outlook, Temperature, Humidity, Wind), calculate the weighted entropy for each value, then subtract it from the entropy of the target.</a:t>
            </a:r>
          </a:p>
        </p:txBody>
      </p:sp>
    </p:spTree>
    <p:extLst>
      <p:ext uri="{BB962C8B-B14F-4D97-AF65-F5344CB8AC3E}">
        <p14:creationId xmlns:p14="http://schemas.microsoft.com/office/powerpoint/2010/main" val="37535222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071" y="332510"/>
            <a:ext cx="11791757" cy="864523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Feature: Outlook , Sub Feature: Sunny , Overcast, Rainy</a:t>
            </a:r>
          </a:p>
          <a:p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63728" y="1197033"/>
                <a:ext cx="11015247" cy="4632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Sunny ---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&gt;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yes = 2 ,No = 3 , Total = 5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Entropy 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 of Yes/Total No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-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No/Total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No/Total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-(2/5)*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(2/5) -(3/5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(3/5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-(0.4)*(-1.322) -(0.6)*(-0.737)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0.5288 + 0.4434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0.9722</a:t>
                </a: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28" y="1197033"/>
                <a:ext cx="11015247" cy="4632230"/>
              </a:xfrm>
              <a:prstGeom prst="rect">
                <a:avLst/>
              </a:prstGeom>
              <a:blipFill rotWithShape="0">
                <a:blip r:embed="rId2"/>
                <a:stretch>
                  <a:fillRect l="-830" t="-921" r="-941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5906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78733" y="330815"/>
                <a:ext cx="11258591" cy="46322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Overcast ---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&gt;  yes = 4 ,No = 0 , Total = 4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  = 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Yes/Total No) - (No of No/Total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No/Total No)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-(4/4)*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(4/4) -(0/4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(0/4)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-(1)*(0.0)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0)*(0.0)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0.0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0.0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0.0</a:t>
                </a: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33" y="330815"/>
                <a:ext cx="11258591" cy="4632230"/>
              </a:xfrm>
              <a:prstGeom prst="rect">
                <a:avLst/>
              </a:prstGeom>
              <a:blipFill rotWithShape="0">
                <a:blip r:embed="rId2"/>
                <a:stretch>
                  <a:fillRect l="-866" t="-921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2871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99011" y="232724"/>
                <a:ext cx="11792989" cy="48537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Rainy ---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&gt;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yes = 3 ,No = 2 , Total = 5</a:t>
                </a:r>
              </a:p>
              <a:p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  = 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Yes/Total No) - (No of No/Total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No/Total No)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-(3/5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(3/5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-(2/5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(2/5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-(0.6)*(-0.737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-(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0.4)*(-1.322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0.4434 + 0.5288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0.9722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011" y="232724"/>
                <a:ext cx="11792989" cy="4853701"/>
              </a:xfrm>
              <a:prstGeom prst="rect">
                <a:avLst/>
              </a:prstGeom>
              <a:blipFill rotWithShape="0">
                <a:blip r:embed="rId2"/>
                <a:stretch>
                  <a:fillRect l="-775" t="-879" b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8996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007" y="149629"/>
            <a:ext cx="8596668" cy="86452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Entropy for Outlook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562" y="864524"/>
            <a:ext cx="11462514" cy="5702531"/>
          </a:xfrm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</a:pP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I(outlook) = (No of yes for Sunny/total)*(Entropy calculated for Sunny)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of yes for </a:t>
            </a: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Overcast/total)*(</a:t>
            </a: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 calculated for Overcast</a:t>
            </a: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</a:t>
            </a: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 of </a:t>
            </a: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for Rainy/total)*(</a:t>
            </a: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</a:t>
            </a: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calculated for </a:t>
            </a: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Rainy)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(5/14)*(0.9722) +(4/14)*0 + (5/14)*(.9722)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(0.357)*(0.9722) + 0 + (0.357)*(0.9722)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0.347 + 0 + 0.347 = </a:t>
            </a:r>
            <a:r>
              <a:rPr lang="en-US" sz="2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0.694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an Weighted Entropy which will be used for Information gain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1102951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054" y="583966"/>
            <a:ext cx="10445095" cy="78693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Feature: </a:t>
            </a:r>
            <a:r>
              <a:rPr lang="en-US" sz="3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 </a:t>
            </a:r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Sub Feature: </a:t>
            </a:r>
            <a:r>
              <a:rPr lang="en-US" sz="3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Hot, Cold, Mild</a:t>
            </a:r>
            <a:r>
              <a:rPr lang="en-US" b="1" dirty="0">
                <a:solidFill>
                  <a:schemeClr val="tx1"/>
                </a:solidFill>
              </a:rPr>
              <a:t/>
            </a:r>
            <a:br>
              <a:rPr lang="en-US" b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4" y="1127285"/>
            <a:ext cx="8596668" cy="3880773"/>
          </a:xfrm>
        </p:spPr>
        <p:txBody>
          <a:bodyPr>
            <a:normAutofit/>
          </a:bodyPr>
          <a:lstStyle/>
          <a:p>
            <a:pPr fontAlgn="t"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Hot ==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= 4, Yes = 2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71054" y="1886958"/>
                <a:ext cx="11432771" cy="35098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= 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Yes/Total No) - (No of No/Total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No/Total No)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-(2/4)*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(2/4)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2/4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2/4)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0.5)*(-1)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0.5)*(-1)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1.0</a:t>
                </a: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54" y="1886958"/>
                <a:ext cx="11432771" cy="3509807"/>
              </a:xfrm>
              <a:prstGeom prst="rect">
                <a:avLst/>
              </a:prstGeom>
              <a:blipFill rotWithShape="0">
                <a:blip r:embed="rId2"/>
                <a:stretch>
                  <a:fillRect l="-800" b="-3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3646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78" y="579277"/>
            <a:ext cx="8596668" cy="3880773"/>
          </a:xfrm>
        </p:spPr>
        <p:txBody>
          <a:bodyPr/>
          <a:lstStyle/>
          <a:p>
            <a:pPr fontAlgn="t"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Cold ==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= 4, Yes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44577" y="1022433"/>
                <a:ext cx="11342869" cy="47401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= 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Yes/Total No) - (No of No/Total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No/Total No)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-(3/4)*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(3/4) -(1/4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(1/4)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0.75)*(-0.411)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0.25)*(-2.0)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0.308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0.8308</a:t>
                </a: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77" y="1022433"/>
                <a:ext cx="11342869" cy="4740144"/>
              </a:xfrm>
              <a:prstGeom prst="rect">
                <a:avLst/>
              </a:prstGeom>
              <a:blipFill rotWithShape="0">
                <a:blip r:embed="rId2"/>
                <a:stretch>
                  <a:fillRect l="-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7770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79" y="532435"/>
            <a:ext cx="8596668" cy="3880773"/>
          </a:xfrm>
        </p:spPr>
        <p:txBody>
          <a:bodyPr/>
          <a:lstStyle/>
          <a:p>
            <a:pPr fontAlgn="t"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Mild ==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87679" y="1221940"/>
                <a:ext cx="11266517" cy="47401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= 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Yes/Total No) - (No of No/Total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No/Total No)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-(4/6)*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(4/6)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2/6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2/6)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0.66)*(-0.585)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0.33)*(-1.585)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0.39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0.5283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0.91</a:t>
                </a: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79" y="1221940"/>
                <a:ext cx="11266517" cy="4740144"/>
              </a:xfrm>
              <a:prstGeom prst="rect">
                <a:avLst/>
              </a:prstGeom>
              <a:blipFill rotWithShape="0"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72348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96" y="127321"/>
            <a:ext cx="8596668" cy="86452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Entropy for Temperature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884" y="864524"/>
            <a:ext cx="11335192" cy="5702531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6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(No of yes for Hot/total)*(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ntropy calculated for Hot)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of yes for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Cold/total)*(Entropy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calculated for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Cold)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(No of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for Mild/total)*(Entropy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calculated for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Mild)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(4/14)*(1) +(3/14)*0.8308 + (4/14)*(0.91)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(0.285)*(1) +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0.214)*(0.8308) + (0.285)*(0.91)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0.285 + 0.177 + 0.26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0.722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an Weighted Entropy which will be used for Information gain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117492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198" y="193964"/>
            <a:ext cx="10494972" cy="13208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Feature: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Humidity 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Sub Feature: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High, Normal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27" y="1514764"/>
            <a:ext cx="8596668" cy="732240"/>
          </a:xfrm>
        </p:spPr>
        <p:txBody>
          <a:bodyPr>
            <a:normAutofit/>
          </a:bodyPr>
          <a:lstStyle/>
          <a:p>
            <a:pPr fontAlgn="t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High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= 7, Yes = 3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No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28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2800" dirty="0" smtClean="0"/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77827" y="2119715"/>
                <a:ext cx="11359497" cy="3561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Yes/Total No) - (No of No/Total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No/Total No)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-(3/7)*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(3/7) -(4/7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(4/7)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0.428)*(-1.222)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0.571)*(-0.807)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0.523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0.4607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0.9837</a:t>
                </a: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27" y="2119715"/>
                <a:ext cx="11359497" cy="3561039"/>
              </a:xfrm>
              <a:prstGeom prst="rect">
                <a:avLst/>
              </a:prstGeom>
              <a:blipFill rotWithShape="0">
                <a:blip r:embed="rId2"/>
                <a:stretch>
                  <a:fillRect l="-805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18914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01" y="349136"/>
            <a:ext cx="9081808" cy="914400"/>
          </a:xfrm>
        </p:spPr>
        <p:txBody>
          <a:bodyPr>
            <a:normAutofit/>
          </a:bodyPr>
          <a:lstStyle/>
          <a:p>
            <a:pPr fontAlgn="t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7,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1</a:t>
            </a:r>
          </a:p>
          <a:p>
            <a:pPr fontAlgn="t"/>
            <a:endParaRPr lang="en-US" sz="2800" dirty="0"/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94701" y="1263536"/>
                <a:ext cx="11459248" cy="3561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= 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(No of Yes/Total No) - (No of No/Total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(No of No/Total No)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-(6/7)*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(6/7) -(1/7 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(1/7) 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= -(</a:t>
                </a:r>
                <a:r>
                  <a:rPr 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0.857)*(-0.222) 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0.1428)*(-2.807)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0.19 </a:t>
                </a: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0.4008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0.59</a:t>
                </a:r>
                <a:endParaRPr lang="en-US" sz="2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01" y="1263536"/>
                <a:ext cx="11459248" cy="3561039"/>
              </a:xfrm>
              <a:prstGeom prst="rect">
                <a:avLst/>
              </a:prstGeom>
              <a:blipFill rotWithShape="0">
                <a:blip r:embed="rId2"/>
                <a:stretch>
                  <a:fillRect l="-851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597623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883" y="232756"/>
            <a:ext cx="8596668" cy="86452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Entropy for Humidity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883" y="1097280"/>
            <a:ext cx="11462514" cy="5702531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I(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Humidity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(No of yes for High/total)*(Entropy calculated for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+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of yes for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Normal/total)*(Entropy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calculated for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=  (7/14)*(0.9837) +(7/14)*(0.59)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=  (0.5)*(0.9837) +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0.5)*(0.59)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=  0.4918 + 0.295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0.7868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an Weighted Entropy which will be used for Information gain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55677388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28198" y="193964"/>
            <a:ext cx="10494972" cy="75368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Feature: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 </a:t>
            </a:r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Sub Feature: </a:t>
            </a:r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,Weak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11078" y="1076687"/>
            <a:ext cx="8596668" cy="732240"/>
          </a:xfrm>
        </p:spPr>
        <p:txBody>
          <a:bodyPr>
            <a:normAutofit/>
          </a:bodyPr>
          <a:lstStyle/>
          <a:p>
            <a:pPr fontAlgn="t"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= 6, Yes = 3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No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2800" dirty="0" smtClean="0"/>
          </a:p>
          <a:p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11078" y="1808927"/>
                <a:ext cx="11226493" cy="3561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  = 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Yes/Total No) - (No of No/Total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No/Total No)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-(3/6)*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(3/6) -(3/6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(3/6)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0.5)*(-1)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0.5)*(-1)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1.0</a:t>
                </a: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78" y="1808927"/>
                <a:ext cx="11226493" cy="3561039"/>
              </a:xfrm>
              <a:prstGeom prst="rect">
                <a:avLst/>
              </a:prstGeom>
              <a:blipFill rotWithShape="0">
                <a:blip r:embed="rId2"/>
                <a:stretch>
                  <a:fillRect l="-869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2745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01" y="598848"/>
            <a:ext cx="8632922" cy="748865"/>
          </a:xfrm>
        </p:spPr>
        <p:txBody>
          <a:bodyPr/>
          <a:lstStyle/>
          <a:p>
            <a:pPr fontAlgn="t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Weak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&gt;&gt;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8, </a:t>
            </a: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2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 = </a:t>
            </a:r>
            <a:r>
              <a:rPr lang="en-US" sz="28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94701" y="1263536"/>
                <a:ext cx="11459248" cy="3561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= -(No of Yes/Total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Yes/Total No) - (No of No/Total No)*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(No of No/Total No)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  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-(6/8)*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(6/8) -(2/8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(2/8) 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0.75)*(-0.415)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-(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0.25)*(-2.0)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0.311 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+ </a:t>
                </a:r>
                <a:r>
                  <a:rPr lang="en-US" sz="24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0.5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= </a:t>
                </a:r>
                <a:r>
                  <a:rPr lang="en-US" sz="24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0.811</a:t>
                </a:r>
                <a:endParaRPr 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01" y="1263536"/>
                <a:ext cx="11459248" cy="3561039"/>
              </a:xfrm>
              <a:prstGeom prst="rect">
                <a:avLst/>
              </a:prstGeom>
              <a:blipFill rotWithShape="0">
                <a:blip r:embed="rId2"/>
                <a:stretch>
                  <a:fillRect l="-851" b="-1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3808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629" y="0"/>
            <a:ext cx="8596668" cy="86452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Entropy for Wind</a:t>
            </a:r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010" y="1030779"/>
            <a:ext cx="10785922" cy="492113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I(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(No of yes for Strong/total)*(Entropy calculated for Strong)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of yes for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Weak/total)*(Entropy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calculated for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(6/14)*(1.0) +(8/14)*(.811)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(0.43)*(1.0) +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0.57)*(0.811)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0.43 + 0.462 =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0.892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an Weighted Entropy which will be used for Information gain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155232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705819"/>
              </p:ext>
            </p:extLst>
          </p:nvPr>
        </p:nvGraphicFramePr>
        <p:xfrm>
          <a:off x="982801" y="602598"/>
          <a:ext cx="9181035" cy="5891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682"/>
                <a:gridCol w="2340077"/>
                <a:gridCol w="4255276"/>
              </a:tblGrid>
              <a:tr h="893799"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Weighted Entropy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Information Gain</a:t>
                      </a:r>
                    </a:p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(Parent</a:t>
                      </a:r>
                      <a:r>
                        <a:rPr lang="en-US" sz="2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– Weighted)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893799"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Outlook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0.694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0.937 – 0.694 = 0.243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93799"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Temperature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0.722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0.937 – 0.722 = 0.215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93799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Humidity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0.7868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0.937 – 0.7868 = 0.1502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93799"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Wind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0.892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0.937 – 0.892 = 0.045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93799">
                <a:tc gridSpan="3"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 So now we see that OUTLOOK has maximum Information gain So it will be taken as root node for splitting based on Entropy criterion.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sz="3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9493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2" y="1749830"/>
            <a:ext cx="10153996" cy="45013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trees can easily overfit the training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as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the depth of the tree 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increases.</a:t>
            </a: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Overfitting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occurs when the tree learns: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Patterns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Noise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Outliers</a:t>
            </a:r>
            <a:b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leads to very high training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but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 test accuracy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 Tree → Overfitting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Shallow Tree →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fitting</a:t>
            </a:r>
          </a:p>
          <a:p>
            <a:pPr marL="45720" indent="0">
              <a:buNone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60367" y="393470"/>
            <a:ext cx="9875520" cy="1356360"/>
          </a:xfrm>
        </p:spPr>
        <p:txBody>
          <a:bodyPr>
            <a:normAutofit/>
          </a:bodyPr>
          <a:lstStyle/>
          <a:p>
            <a:r>
              <a:rPr lang="en-US" b="1" dirty="0" smtClean="0"/>
              <a:t>Over Fitting in Decision Tree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8861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93716"/>
            <a:ext cx="9875520" cy="919942"/>
          </a:xfrm>
        </p:spPr>
        <p:txBody>
          <a:bodyPr/>
          <a:lstStyle/>
          <a:p>
            <a:r>
              <a:rPr lang="en-US" b="1" dirty="0"/>
              <a:t>How to Control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13658"/>
            <a:ext cx="11492345" cy="50042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 to Prevent Overfitting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 Tree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Depth (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max_depth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Samples Required to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(</a:t>
            </a:r>
            <a:r>
              <a:rPr lang="en-US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min_samples_split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Samples per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Leaf (</a:t>
            </a:r>
            <a:r>
              <a:rPr lang="en-US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min_samples_leaf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 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As a rule of thumb, keep the depth equal to or slightly greater than the number of features.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40063070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9875520" cy="1356360"/>
          </a:xfrm>
        </p:spPr>
        <p:txBody>
          <a:bodyPr/>
          <a:lstStyle/>
          <a:p>
            <a:r>
              <a:rPr lang="en-US" b="1" dirty="0" smtClean="0"/>
              <a:t>Pruning in Decision Trees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289" y="1082040"/>
            <a:ext cx="11076831" cy="5242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Pruning reduces the size of the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 by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 unnecessary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Goal: Improve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Types: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Pre-Pruning (Early stopping) :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 tree growth during training.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Examples: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Max_depth</a:t>
            </a: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Min_sample_split</a:t>
            </a: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Min_samples_leaf</a:t>
            </a: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Post-Pruning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 the full tree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 then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 weak branches.</a:t>
            </a: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90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13360"/>
            <a:ext cx="9875520" cy="1356360"/>
          </a:xfrm>
        </p:spPr>
        <p:txBody>
          <a:bodyPr/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in Decision Trees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8160" y="1676400"/>
            <a:ext cx="11109960" cy="4038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tuning helps find the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combination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model parameters.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GridSearchCV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tries multiple parameter </a:t>
            </a: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 and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selects the best one using cross-validation.</a:t>
            </a:r>
          </a:p>
        </p:txBody>
      </p:sp>
    </p:spTree>
    <p:extLst>
      <p:ext uri="{BB962C8B-B14F-4D97-AF65-F5344CB8AC3E}">
        <p14:creationId xmlns:p14="http://schemas.microsoft.com/office/powerpoint/2010/main" val="271043945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609600"/>
            <a:ext cx="10835640" cy="1356360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Important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in Decision Trees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639383"/>
              </p:ext>
            </p:extLst>
          </p:nvPr>
        </p:nvGraphicFramePr>
        <p:xfrm>
          <a:off x="664369" y="2613660"/>
          <a:ext cx="9872662" cy="3147060"/>
        </p:xfrm>
        <a:graphic>
          <a:graphicData uri="http://schemas.openxmlformats.org/drawingml/2006/table">
            <a:tbl>
              <a:tblPr/>
              <a:tblGrid>
                <a:gridCol w="3480911"/>
                <a:gridCol w="6391751"/>
              </a:tblGrid>
              <a:tr h="78676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max_depth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depth of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min_samples_split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Minimum samples needed to split a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765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min_samples_leaf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Minimum samples in a leaf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1264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76" y="536100"/>
            <a:ext cx="7640403" cy="59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0009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84" y="787912"/>
            <a:ext cx="8403548" cy="53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2931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709" y="161474"/>
            <a:ext cx="9884781" cy="802802"/>
          </a:xfrm>
        </p:spPr>
        <p:txBody>
          <a:bodyPr>
            <a:normAutofit/>
          </a:bodyPr>
          <a:lstStyle/>
          <a:p>
            <a:r>
              <a:rPr lang="en-US" b="1" dirty="0" err="1" smtClean="0"/>
              <a:t>min_samples_split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709" y="1071884"/>
            <a:ext cx="10900423" cy="505552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every split number of samples also get reduce for analysis.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 for higher depth problem of overfitting may occur.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It controls the minimum number of data points a node must have before it can be split further.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If the number of samples in a node is less than this value, the node becomes a leaf and is not split further.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Smaller </a:t>
            </a:r>
            <a:r>
              <a:rPr lang="en-US" altLang="en-US" sz="24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values: The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tree can grow deeper, as nodes with fewer samples can still be 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split., May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lead to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overfitting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, as the model captures noise in the data.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Larger </a:t>
            </a:r>
            <a:r>
              <a:rPr lang="en-US" altLang="en-US" sz="24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values: The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tree grows shallower because it requires more samples to 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split., Can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help prevent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overfitting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but might result in </a:t>
            </a:r>
            <a:r>
              <a:rPr lang="en-US" altLang="en-US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underfitting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if the value is too high.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05298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16" y="342936"/>
            <a:ext cx="10405705" cy="29946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98" y="3901206"/>
            <a:ext cx="10383122" cy="172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539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480" y="350520"/>
            <a:ext cx="9875520" cy="617316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Rule for Decision tree modeling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528" y="1267637"/>
            <a:ext cx="11157675" cy="4323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1 :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trees do not require feature scaling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2: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Categorical variables can be encoded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Label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3 : Check the train test accuracy as there are chance of overfitting or under fitting.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4 : Treat imbalance data 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5: Use feature importance method for model simplification.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6:  Use hyper parameter tuning for deciding </a:t>
            </a:r>
            <a:r>
              <a:rPr lang="en-US" alt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max_depth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min_samples_split, or min_samples_leaf 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Outlier treatment because if depth is high may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cause issue.</a:t>
            </a:r>
          </a:p>
          <a:p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38793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8552" y="473383"/>
            <a:ext cx="1063092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Feature Importance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 Decision Trees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 importance is calculated based on the reduction in impurity (e.g., Gini Impurity or Entropy) brought by each feature during splits. A higher reduction indicates a more important feature.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example: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Gini Impurity before the split = 0.5.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Gini Impurity after the split using Feature A = 0.3.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Reduction in Gini Impurity = 0.5 - 0.3 = 0.2 (Feature A's contribution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Features that reduce impurity more are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more important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04007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4625" y="458224"/>
            <a:ext cx="110422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Outlier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Prune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tree by limiting the maximum depth.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 a minimum number of samples required to split a node.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Analyze feature distributions and handle extreme outliers to improve tree interpretability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313831743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08" y="323898"/>
            <a:ext cx="7237531" cy="615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3504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Application of Decision tree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580763"/>
            <a:ext cx="408432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risk modeling.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segmentation.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detection.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maintenance. 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Loan approval prediction</a:t>
            </a:r>
            <a:endParaRPr lang="en-US" altLang="en-US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23434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828800"/>
            <a:ext cx="9872871" cy="40386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/>
              <a:t> 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Trees learn IF–ELSE rules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 data using Gini or Entropy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Splits create axis-parallel boundaries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interpret but prone to overfitting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Controlled using pruning and </a:t>
            </a:r>
            <a:r>
              <a:rPr lang="en-US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28897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13803</TotalTime>
  <Words>3945</Words>
  <Application>Microsoft Office PowerPoint</Application>
  <PresentationFormat>Widescreen</PresentationFormat>
  <Paragraphs>683</Paragraphs>
  <Slides>105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1" baseType="lpstr">
      <vt:lpstr>Arial Unicode MS</vt:lpstr>
      <vt:lpstr>Arial</vt:lpstr>
      <vt:lpstr>Cambria Math</vt:lpstr>
      <vt:lpstr>Corbel</vt:lpstr>
      <vt:lpstr>Wingdings</vt:lpstr>
      <vt:lpstr>Basis</vt:lpstr>
      <vt:lpstr>Decision Tree</vt:lpstr>
      <vt:lpstr>Suppose a bank wants to decide whether to approve a loan.</vt:lpstr>
      <vt:lpstr>Decision Tree</vt:lpstr>
      <vt:lpstr>Why do companies like decision trees? </vt:lpstr>
      <vt:lpstr>Decision Tree Algorithm</vt:lpstr>
      <vt:lpstr>PowerPoint Presentation</vt:lpstr>
      <vt:lpstr>Example: Loan Approval</vt:lpstr>
      <vt:lpstr>Suppose we want to predict whether a student plays cricket.</vt:lpstr>
      <vt:lpstr>PowerPoint Presentation</vt:lpstr>
      <vt:lpstr>Decision Tree selects the feature that gives the BEST split : using Gini or Entropy.</vt:lpstr>
      <vt:lpstr>Structure of Decision Tree</vt:lpstr>
      <vt:lpstr>PowerPoint Presentation</vt:lpstr>
      <vt:lpstr>Impurity Measures in Decision Trees</vt:lpstr>
      <vt:lpstr>How does tree decide where to split</vt:lpstr>
      <vt:lpstr>Gini Interpretation</vt:lpstr>
      <vt:lpstr>Example:</vt:lpstr>
      <vt:lpstr>Let us understand the algorithm: </vt:lpstr>
      <vt:lpstr>Iris dataset : Each class contains 50 samples.</vt:lpstr>
      <vt:lpstr>Setosa → easily separable Versicolor &amp; Virginica → overlap</vt:lpstr>
      <vt:lpstr>PowerPoint Presentation</vt:lpstr>
      <vt:lpstr>PowerPoint Presentation</vt:lpstr>
      <vt:lpstr>Let us use to make model:  Nested if else method: where xi = {SL,SW,PL,PW}</vt:lpstr>
      <vt:lpstr>PowerPoint Presentation</vt:lpstr>
      <vt:lpstr>PowerPoint Presentation</vt:lpstr>
      <vt:lpstr>Structure of the Tree</vt:lpstr>
      <vt:lpstr>Graphical view of a Decision Tree</vt:lpstr>
      <vt:lpstr>PowerPoint Presentation</vt:lpstr>
      <vt:lpstr> Geometrical Intuition of Decision Trees Axis-Parallel Splits</vt:lpstr>
      <vt:lpstr>PowerPoint Presentation</vt:lpstr>
      <vt:lpstr>PowerPoint Presentation</vt:lpstr>
      <vt:lpstr>PowerPoint Presentation</vt:lpstr>
      <vt:lpstr>Differences Between Axis-Parallel and If-Else</vt:lpstr>
      <vt:lpstr>How to decide root node: Decision Tree</vt:lpstr>
      <vt:lpstr>PowerPoint Presentation</vt:lpstr>
      <vt:lpstr>Gini Index vs Entropy</vt:lpstr>
      <vt:lpstr>Key Difference</vt:lpstr>
      <vt:lpstr>Gini 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Entropy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Properties of Entropy</vt:lpstr>
      <vt:lpstr>Which node is easier to classify?</vt:lpstr>
      <vt:lpstr>When to Use Which?</vt:lpstr>
      <vt:lpstr>PowerPoint Presentation</vt:lpstr>
      <vt:lpstr>Example to understand Entropy and Gini concept for selecting root node in Decision Tree.</vt:lpstr>
      <vt:lpstr>Problem Statement: To determine whether or not to play tennis based on weather conditions. </vt:lpstr>
      <vt:lpstr>PowerPoint Presentation</vt:lpstr>
      <vt:lpstr>Step 1: Calculate the Gini Index of the Target (PlayTennis):</vt:lpstr>
      <vt:lpstr>Step 2: Calculate Gini for each feature</vt:lpstr>
      <vt:lpstr>PowerPoint Presentation</vt:lpstr>
      <vt:lpstr>PowerPoint Presentation</vt:lpstr>
      <vt:lpstr>Weighted Gini for Outlook</vt:lpstr>
      <vt:lpstr>Feature: Temperature , Sub Feature: Hot, Cold, Mild </vt:lpstr>
      <vt:lpstr>PowerPoint Presentation</vt:lpstr>
      <vt:lpstr>PowerPoint Presentation</vt:lpstr>
      <vt:lpstr>Weighted Gini for Temperature</vt:lpstr>
      <vt:lpstr>Feature: Humidity , Sub Feature: High, Normal</vt:lpstr>
      <vt:lpstr>PowerPoint Presentation</vt:lpstr>
      <vt:lpstr>Weighted Gini for Humidity</vt:lpstr>
      <vt:lpstr>Feature: Wind , Sub Feature: Strong ,Weak</vt:lpstr>
      <vt:lpstr>PowerPoint Presentation</vt:lpstr>
      <vt:lpstr>Weighted Gini for Wind</vt:lpstr>
      <vt:lpstr>PowerPoint Presentation</vt:lpstr>
      <vt:lpstr>Let us do all this  with  Entropy Approach</vt:lpstr>
      <vt:lpstr>PowerPoint Presentation</vt:lpstr>
      <vt:lpstr>Step 1: Calculate the Entropy of the Target (PlayTennis)</vt:lpstr>
      <vt:lpstr>Step 2: Calculate Information Gain for Each Feature</vt:lpstr>
      <vt:lpstr>PowerPoint Presentation</vt:lpstr>
      <vt:lpstr>PowerPoint Presentation</vt:lpstr>
      <vt:lpstr>PowerPoint Presentation</vt:lpstr>
      <vt:lpstr>Weighted Entropy for Outlook</vt:lpstr>
      <vt:lpstr>Feature: Temperature , Sub Feature: Hot, Cold, Mild </vt:lpstr>
      <vt:lpstr>PowerPoint Presentation</vt:lpstr>
      <vt:lpstr>PowerPoint Presentation</vt:lpstr>
      <vt:lpstr>Weighted Entropy for Temperature</vt:lpstr>
      <vt:lpstr>Feature: Humidity , Sub Feature: High, Normal</vt:lpstr>
      <vt:lpstr>PowerPoint Presentation</vt:lpstr>
      <vt:lpstr>Weighted Entropy for Humidity</vt:lpstr>
      <vt:lpstr>Feature: Wind , Sub Feature: Strong ,Weak</vt:lpstr>
      <vt:lpstr>PowerPoint Presentation</vt:lpstr>
      <vt:lpstr>Weighted Entropy for Wind</vt:lpstr>
      <vt:lpstr>PowerPoint Presentation</vt:lpstr>
      <vt:lpstr>Over Fitting in Decision Tree</vt:lpstr>
      <vt:lpstr>How to Control Overfitting</vt:lpstr>
      <vt:lpstr>Pruning in Decision Trees</vt:lpstr>
      <vt:lpstr>Hyperparameters in Decision Trees</vt:lpstr>
      <vt:lpstr>Important Hyperparameters in Decision Trees</vt:lpstr>
      <vt:lpstr>PowerPoint Presentation</vt:lpstr>
      <vt:lpstr>PowerPoint Presentation</vt:lpstr>
      <vt:lpstr>min_samples_split</vt:lpstr>
      <vt:lpstr>PowerPoint Presentation</vt:lpstr>
      <vt:lpstr>Rule for Decision tree modeling</vt:lpstr>
      <vt:lpstr>PowerPoint Presentation</vt:lpstr>
      <vt:lpstr>PowerPoint Presentation</vt:lpstr>
      <vt:lpstr>PowerPoint Presentation</vt:lpstr>
      <vt:lpstr>Application of Decision tree</vt:lpstr>
      <vt:lpstr>Key Takeaways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</dc:title>
  <dc:creator>PANKAJ SHARMA</dc:creator>
  <cp:lastModifiedBy>Microsoft account</cp:lastModifiedBy>
  <cp:revision>126</cp:revision>
  <dcterms:created xsi:type="dcterms:W3CDTF">2024-12-23T05:49:28Z</dcterms:created>
  <dcterms:modified xsi:type="dcterms:W3CDTF">2026-03-15T03:21:05Z</dcterms:modified>
</cp:coreProperties>
</file>