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4"/>
  </p:notesMasterIdLst>
  <p:sldIdLst>
    <p:sldId id="256" r:id="rId2"/>
    <p:sldId id="257" r:id="rId3"/>
    <p:sldId id="360" r:id="rId4"/>
    <p:sldId id="259" r:id="rId5"/>
    <p:sldId id="262" r:id="rId6"/>
    <p:sldId id="362" r:id="rId7"/>
    <p:sldId id="361" r:id="rId8"/>
    <p:sldId id="261" r:id="rId9"/>
    <p:sldId id="363" r:id="rId10"/>
    <p:sldId id="265" r:id="rId11"/>
    <p:sldId id="364" r:id="rId12"/>
    <p:sldId id="263" r:id="rId13"/>
    <p:sldId id="297" r:id="rId14"/>
    <p:sldId id="264" r:id="rId15"/>
    <p:sldId id="267" r:id="rId16"/>
    <p:sldId id="268" r:id="rId17"/>
    <p:sldId id="370" r:id="rId18"/>
    <p:sldId id="272" r:id="rId19"/>
    <p:sldId id="273" r:id="rId20"/>
    <p:sldId id="274" r:id="rId21"/>
    <p:sldId id="276" r:id="rId22"/>
    <p:sldId id="275" r:id="rId23"/>
    <p:sldId id="371" r:id="rId24"/>
    <p:sldId id="365" r:id="rId25"/>
    <p:sldId id="293" r:id="rId26"/>
    <p:sldId id="369" r:id="rId27"/>
    <p:sldId id="372" r:id="rId28"/>
    <p:sldId id="366" r:id="rId29"/>
    <p:sldId id="367" r:id="rId30"/>
    <p:sldId id="270" r:id="rId31"/>
    <p:sldId id="282" r:id="rId32"/>
    <p:sldId id="368" r:id="rId33"/>
    <p:sldId id="279" r:id="rId34"/>
    <p:sldId id="373" r:id="rId35"/>
    <p:sldId id="335" r:id="rId36"/>
    <p:sldId id="374" r:id="rId37"/>
    <p:sldId id="375" r:id="rId38"/>
    <p:sldId id="336" r:id="rId39"/>
    <p:sldId id="340" r:id="rId40"/>
    <p:sldId id="376" r:id="rId41"/>
    <p:sldId id="343" r:id="rId42"/>
    <p:sldId id="344" r:id="rId43"/>
    <p:sldId id="345" r:id="rId44"/>
    <p:sldId id="318" r:id="rId45"/>
    <p:sldId id="334" r:id="rId46"/>
    <p:sldId id="333" r:id="rId47"/>
    <p:sldId id="303" r:id="rId48"/>
    <p:sldId id="346" r:id="rId49"/>
    <p:sldId id="347" r:id="rId50"/>
    <p:sldId id="348" r:id="rId51"/>
    <p:sldId id="349" r:id="rId52"/>
    <p:sldId id="355" r:id="rId53"/>
    <p:sldId id="356" r:id="rId54"/>
    <p:sldId id="357" r:id="rId55"/>
    <p:sldId id="354" r:id="rId56"/>
    <p:sldId id="350" r:id="rId57"/>
    <p:sldId id="353" r:id="rId58"/>
    <p:sldId id="351" r:id="rId59"/>
    <p:sldId id="352" r:id="rId60"/>
    <p:sldId id="304" r:id="rId61"/>
    <p:sldId id="305" r:id="rId62"/>
    <p:sldId id="309" r:id="rId63"/>
    <p:sldId id="311" r:id="rId64"/>
    <p:sldId id="312" r:id="rId65"/>
    <p:sldId id="313" r:id="rId66"/>
    <p:sldId id="314" r:id="rId67"/>
    <p:sldId id="315" r:id="rId68"/>
    <p:sldId id="316" r:id="rId69"/>
    <p:sldId id="325" r:id="rId70"/>
    <p:sldId id="326" r:id="rId71"/>
    <p:sldId id="331" r:id="rId72"/>
    <p:sldId id="332" r:id="rId7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145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6361AE-6649-4D35-88B2-1E27D773EA5B}" type="datetimeFigureOut">
              <a:rPr lang="en-US" smtClean="0"/>
              <a:t>3/21/2026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E874F7-F2DC-423C-B3ED-847247F51468}" type="slidenum">
              <a:rPr lang="en-US" smtClean="0"/>
              <a:t>‹#›</a:t>
            </a:fld>
            <a:endParaRPr lang="en-US"/>
          </a:p>
        </p:txBody>
      </p:sp>
    </p:spTree>
    <p:extLst>
      <p:ext uri="{BB962C8B-B14F-4D97-AF65-F5344CB8AC3E}">
        <p14:creationId xmlns:p14="http://schemas.microsoft.com/office/powerpoint/2010/main" val="1883717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EE874F7-F2DC-423C-B3ED-847247F51468}" type="slidenum">
              <a:rPr lang="en-US" smtClean="0"/>
              <a:t>59</a:t>
            </a:fld>
            <a:endParaRPr lang="en-US"/>
          </a:p>
        </p:txBody>
      </p:sp>
    </p:spTree>
    <p:extLst>
      <p:ext uri="{BB962C8B-B14F-4D97-AF65-F5344CB8AC3E}">
        <p14:creationId xmlns:p14="http://schemas.microsoft.com/office/powerpoint/2010/main" val="3758839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49331E86-B3B0-43DD-BD2A-A11A274A0300}" type="datetimeFigureOut">
              <a:rPr lang="en-US" smtClean="0"/>
              <a:t>3/21/2026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4EDBD0F2-74E8-4C44-A783-77B006169376}"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9331E86-B3B0-43DD-BD2A-A11A274A0300}"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BD0F2-74E8-4C44-A783-77B00616937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49331E86-B3B0-43DD-BD2A-A11A274A0300}"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BD0F2-74E8-4C44-A783-77B006169376}"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9331E86-B3B0-43DD-BD2A-A11A274A0300}"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BD0F2-74E8-4C44-A783-77B00616937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49331E86-B3B0-43DD-BD2A-A11A274A0300}" type="datetimeFigureOut">
              <a:rPr lang="en-US" smtClean="0"/>
              <a:t>3/21/2026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DBD0F2-74E8-4C44-A783-77B00616937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49331E86-B3B0-43DD-BD2A-A11A274A0300}" type="datetimeFigureOut">
              <a:rPr lang="en-US" smtClean="0"/>
              <a:t>3/21/2026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DBD0F2-74E8-4C44-A783-77B00616937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331E86-B3B0-43DD-BD2A-A11A274A0300}" type="datetimeFigureOut">
              <a:rPr lang="en-US" smtClean="0"/>
              <a:t>3/21/2026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DBD0F2-74E8-4C44-A783-77B00616937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49331E86-B3B0-43DD-BD2A-A11A274A0300}"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DBD0F2-74E8-4C44-A783-77B00616937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49331E86-B3B0-43DD-BD2A-A11A274A0300}" type="datetimeFigureOut">
              <a:rPr lang="en-US" smtClean="0"/>
              <a:t>3/21/2026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4EDBD0F2-74E8-4C44-A783-77B006169376}"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9331E86-B3B0-43DD-BD2A-A11A274A0300}"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BD0F2-74E8-4C44-A783-77B00616937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9331E86-B3B0-43DD-BD2A-A11A274A0300}" type="datetimeFigureOut">
              <a:rPr lang="en-US" smtClean="0"/>
              <a:t>3/21/2026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DBD0F2-74E8-4C44-A783-77B00616937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49331E86-B3B0-43DD-BD2A-A11A274A0300}" type="datetimeFigureOut">
              <a:rPr lang="en-US" smtClean="0"/>
              <a:t>3/21/2026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4EDBD0F2-74E8-4C44-A783-77B006169376}"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6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Boosting</a:t>
            </a:r>
            <a:endParaRPr lang="en-US" dirty="0"/>
          </a:p>
        </p:txBody>
      </p:sp>
      <p:sp>
        <p:nvSpPr>
          <p:cNvPr id="3" name="Subtitle 2"/>
          <p:cNvSpPr>
            <a:spLocks noGrp="1"/>
          </p:cNvSpPr>
          <p:nvPr>
            <p:ph type="subTitle" idx="1"/>
          </p:nvPr>
        </p:nvSpPr>
        <p:spPr/>
        <p:txBody>
          <a:bodyPr/>
          <a:lstStyle/>
          <a:p>
            <a:r>
              <a:rPr lang="en-US" dirty="0" smtClean="0"/>
              <a:t>Let us handle biasing</a:t>
            </a:r>
            <a:endParaRPr lang="en-US" dirty="0"/>
          </a:p>
        </p:txBody>
      </p:sp>
    </p:spTree>
    <p:extLst>
      <p:ext uri="{BB962C8B-B14F-4D97-AF65-F5344CB8AC3E}">
        <p14:creationId xmlns:p14="http://schemas.microsoft.com/office/powerpoint/2010/main" val="12724914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16632"/>
            <a:ext cx="8229600" cy="1008112"/>
          </a:xfrm>
        </p:spPr>
        <p:txBody>
          <a:bodyPr/>
          <a:lstStyle/>
          <a:p>
            <a:pPr algn="ctr"/>
            <a:r>
              <a:rPr lang="en-US" b="1" dirty="0" smtClean="0"/>
              <a:t>Boosting(HBLV)</a:t>
            </a:r>
            <a:endParaRPr lang="en-US" b="1" dirty="0"/>
          </a:p>
        </p:txBody>
      </p:sp>
      <p:sp>
        <p:nvSpPr>
          <p:cNvPr id="3" name="Content Placeholder 2"/>
          <p:cNvSpPr>
            <a:spLocks noGrp="1"/>
          </p:cNvSpPr>
          <p:nvPr>
            <p:ph idx="1"/>
          </p:nvPr>
        </p:nvSpPr>
        <p:spPr>
          <a:xfrm>
            <a:off x="179512" y="1772816"/>
            <a:ext cx="8784976" cy="3885064"/>
          </a:xfrm>
        </p:spPr>
        <p:txBody>
          <a:bodyPr>
            <a:noAutofit/>
          </a:bodyPr>
          <a:lstStyle/>
          <a:p>
            <a:pPr>
              <a:lnSpc>
                <a:spcPct val="150000"/>
              </a:lnSpc>
              <a:buFont typeface="Wingdings" panose="05000000000000000000" pitchFamily="2" charset="2"/>
              <a:buChar char="Ø"/>
            </a:pPr>
            <a:r>
              <a:rPr lang="en-US" sz="2400" dirty="0">
                <a:latin typeface="Arial" panose="020B0604020202020204" pitchFamily="34" charset="0"/>
                <a:cs typeface="Arial" panose="020B0604020202020204" pitchFamily="34" charset="0"/>
              </a:rPr>
              <a:t>Boosting is a machine learning ensemble technique that combines the predictions of </a:t>
            </a:r>
            <a:r>
              <a:rPr lang="en-US" sz="2400" b="1" dirty="0">
                <a:latin typeface="Arial" panose="020B0604020202020204" pitchFamily="34" charset="0"/>
                <a:cs typeface="Arial" panose="020B0604020202020204" pitchFamily="34" charset="0"/>
              </a:rPr>
              <a:t>multiple weak learners </a:t>
            </a:r>
            <a:r>
              <a:rPr lang="en-US" sz="2400" dirty="0">
                <a:latin typeface="Arial" panose="020B0604020202020204" pitchFamily="34" charset="0"/>
                <a:cs typeface="Arial" panose="020B0604020202020204" pitchFamily="34" charset="0"/>
              </a:rPr>
              <a:t>to create a </a:t>
            </a:r>
            <a:r>
              <a:rPr lang="en-US" sz="2400" b="1" dirty="0">
                <a:latin typeface="Arial" panose="020B0604020202020204" pitchFamily="34" charset="0"/>
                <a:cs typeface="Arial" panose="020B0604020202020204" pitchFamily="34" charset="0"/>
              </a:rPr>
              <a:t>strong learner</a:t>
            </a:r>
            <a:r>
              <a:rPr lang="en-US" sz="2400" dirty="0">
                <a:latin typeface="Arial" panose="020B0604020202020204" pitchFamily="34" charset="0"/>
                <a:cs typeface="Arial" panose="020B0604020202020204" pitchFamily="34" charset="0"/>
              </a:rPr>
              <a:t>. </a:t>
            </a:r>
            <a:endParaRPr lang="en-US" sz="2400" dirty="0" smtClean="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r>
              <a:rPr lang="en-US" sz="2400" b="1" dirty="0" smtClean="0">
                <a:latin typeface="Arial" panose="020B0604020202020204" pitchFamily="34" charset="0"/>
                <a:cs typeface="Arial" panose="020B0604020202020204" pitchFamily="34" charset="0"/>
              </a:rPr>
              <a:t>Weak </a:t>
            </a:r>
            <a:r>
              <a:rPr lang="en-US" sz="2400" b="1" dirty="0">
                <a:latin typeface="Arial" panose="020B0604020202020204" pitchFamily="34" charset="0"/>
                <a:cs typeface="Arial" panose="020B0604020202020204" pitchFamily="34" charset="0"/>
              </a:rPr>
              <a:t>learners </a:t>
            </a:r>
            <a:r>
              <a:rPr lang="en-US" sz="2400" dirty="0">
                <a:latin typeface="Arial" panose="020B0604020202020204" pitchFamily="34" charset="0"/>
                <a:cs typeface="Arial" panose="020B0604020202020204" pitchFamily="34" charset="0"/>
              </a:rPr>
              <a:t>are models that perform slightly better than random chance</a:t>
            </a:r>
            <a:r>
              <a:rPr lang="en-US" sz="2400" dirty="0" smtClean="0">
                <a:latin typeface="Arial" panose="020B0604020202020204" pitchFamily="34" charset="0"/>
                <a:cs typeface="Arial" panose="020B0604020202020204" pitchFamily="34" charset="0"/>
              </a:rPr>
              <a:t>.</a:t>
            </a:r>
            <a:endParaRPr lang="en-US" sz="2400" dirty="0" smtClean="0">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2"/>
          <a:stretch>
            <a:fillRect/>
          </a:stretch>
        </p:blipFill>
        <p:spPr>
          <a:xfrm>
            <a:off x="238518" y="4941168"/>
            <a:ext cx="8666964" cy="1224136"/>
          </a:xfrm>
          <a:prstGeom prst="rect">
            <a:avLst/>
          </a:prstGeom>
        </p:spPr>
      </p:pic>
    </p:spTree>
    <p:extLst>
      <p:ext uri="{BB962C8B-B14F-4D97-AF65-F5344CB8AC3E}">
        <p14:creationId xmlns:p14="http://schemas.microsoft.com/office/powerpoint/2010/main" val="10127312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764704"/>
            <a:ext cx="8904404" cy="2952328"/>
          </a:xfrm>
        </p:spPr>
        <p:txBody>
          <a:bodyPr>
            <a:normAutofit lnSpcReduction="10000"/>
          </a:bodyPr>
          <a:lstStyle/>
          <a:p>
            <a:pPr>
              <a:lnSpc>
                <a:spcPct val="170000"/>
              </a:lnSpc>
              <a:buFont typeface="Wingdings" panose="05000000000000000000" pitchFamily="2" charset="2"/>
              <a:buChar char="Ø"/>
            </a:pPr>
            <a:r>
              <a:rPr lang="en-US" sz="2800" dirty="0">
                <a:latin typeface="Arial" panose="020B0604020202020204" pitchFamily="34" charset="0"/>
                <a:cs typeface="Arial" panose="020B0604020202020204" pitchFamily="34" charset="0"/>
              </a:rPr>
              <a:t>The idea is to build the </a:t>
            </a:r>
            <a:r>
              <a:rPr lang="en-US" sz="2800" b="1" dirty="0">
                <a:latin typeface="Arial" panose="020B0604020202020204" pitchFamily="34" charset="0"/>
                <a:cs typeface="Arial" panose="020B0604020202020204" pitchFamily="34" charset="0"/>
              </a:rPr>
              <a:t>strong model incrementally</a:t>
            </a:r>
            <a:r>
              <a:rPr lang="en-US" sz="2800" dirty="0">
                <a:latin typeface="Arial" panose="020B0604020202020204" pitchFamily="34" charset="0"/>
                <a:cs typeface="Arial" panose="020B0604020202020204" pitchFamily="34" charset="0"/>
              </a:rPr>
              <a:t>, by </a:t>
            </a:r>
            <a:r>
              <a:rPr lang="en-US" sz="2800" b="1" dirty="0">
                <a:latin typeface="Arial" panose="020B0604020202020204" pitchFamily="34" charset="0"/>
                <a:cs typeface="Arial" panose="020B0604020202020204" pitchFamily="34" charset="0"/>
              </a:rPr>
              <a:t>sequentially</a:t>
            </a:r>
            <a:r>
              <a:rPr lang="en-US" sz="2800" dirty="0">
                <a:solidFill>
                  <a:srgbClr val="C00000"/>
                </a:solidFill>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adding </a:t>
            </a:r>
            <a:r>
              <a:rPr lang="en-US" sz="2800" b="1" dirty="0">
                <a:latin typeface="Arial" panose="020B0604020202020204" pitchFamily="34" charset="0"/>
                <a:cs typeface="Arial" panose="020B0604020202020204" pitchFamily="34" charset="0"/>
              </a:rPr>
              <a:t>weak models(WM) </a:t>
            </a:r>
            <a:r>
              <a:rPr lang="en-US" sz="2800" dirty="0">
                <a:latin typeface="Arial" panose="020B0604020202020204" pitchFamily="34" charset="0"/>
                <a:cs typeface="Arial" panose="020B0604020202020204" pitchFamily="34" charset="0"/>
              </a:rPr>
              <a:t>that are trained to correct the mistakes made by existing ensemble approach.</a:t>
            </a:r>
          </a:p>
          <a:p>
            <a:pPr marL="0" indent="0">
              <a:buNone/>
            </a:pPr>
            <a:endParaRPr lang="en-US" dirty="0"/>
          </a:p>
        </p:txBody>
      </p:sp>
      <p:pic>
        <p:nvPicPr>
          <p:cNvPr id="4" name="Picture 3"/>
          <p:cNvPicPr>
            <a:picLocks noChangeAspect="1"/>
          </p:cNvPicPr>
          <p:nvPr/>
        </p:nvPicPr>
        <p:blipFill>
          <a:blip r:embed="rId2"/>
          <a:stretch>
            <a:fillRect/>
          </a:stretch>
        </p:blipFill>
        <p:spPr>
          <a:xfrm>
            <a:off x="107504" y="3573016"/>
            <a:ext cx="9011908" cy="1440160"/>
          </a:xfrm>
          <a:prstGeom prst="rect">
            <a:avLst/>
          </a:prstGeom>
        </p:spPr>
      </p:pic>
      <p:sp>
        <p:nvSpPr>
          <p:cNvPr id="5" name="Rectangle 4"/>
          <p:cNvSpPr/>
          <p:nvPr/>
        </p:nvSpPr>
        <p:spPr>
          <a:xfrm>
            <a:off x="57532" y="5157192"/>
            <a:ext cx="8834948" cy="1348061"/>
          </a:xfrm>
          <a:prstGeom prst="rect">
            <a:avLst/>
          </a:prstGeom>
        </p:spPr>
        <p:txBody>
          <a:bodyPr wrap="square">
            <a:spAutoFit/>
          </a:bodyPr>
          <a:lstStyle/>
          <a:p>
            <a:pPr>
              <a:lnSpc>
                <a:spcPct val="170000"/>
              </a:lnSpc>
              <a:buFont typeface="Wingdings" panose="05000000000000000000" pitchFamily="2" charset="2"/>
              <a:buChar char="Ø"/>
            </a:pPr>
            <a:r>
              <a:rPr lang="en-US" sz="2400" dirty="0">
                <a:latin typeface="Arial" panose="020B0604020202020204" pitchFamily="34" charset="0"/>
                <a:cs typeface="Arial" panose="020B0604020202020204" pitchFamily="34" charset="0"/>
              </a:rPr>
              <a:t>If the base model is </a:t>
            </a:r>
            <a:r>
              <a:rPr lang="en-US" sz="2400" b="1" dirty="0">
                <a:latin typeface="Arial" panose="020B0604020202020204" pitchFamily="34" charset="0"/>
                <a:cs typeface="Arial" panose="020B0604020202020204" pitchFamily="34" charset="0"/>
              </a:rPr>
              <a:t>highly biased </a:t>
            </a:r>
            <a:r>
              <a:rPr lang="en-US" sz="2400" dirty="0">
                <a:latin typeface="Arial" panose="020B0604020202020204" pitchFamily="34" charset="0"/>
                <a:cs typeface="Arial" panose="020B0604020202020204" pitchFamily="34" charset="0"/>
              </a:rPr>
              <a:t>than </a:t>
            </a:r>
            <a:r>
              <a:rPr lang="en-US" sz="2400" b="1" dirty="0">
                <a:latin typeface="Arial" panose="020B0604020202020204" pitchFamily="34" charset="0"/>
                <a:cs typeface="Arial" panose="020B0604020202020204" pitchFamily="34" charset="0"/>
              </a:rPr>
              <a:t>boosting technique </a:t>
            </a:r>
            <a:r>
              <a:rPr lang="en-US" sz="2400" dirty="0">
                <a:latin typeface="Arial" panose="020B0604020202020204" pitchFamily="34" charset="0"/>
                <a:cs typeface="Arial" panose="020B0604020202020204" pitchFamily="34" charset="0"/>
              </a:rPr>
              <a:t>is going to help us in </a:t>
            </a:r>
            <a:r>
              <a:rPr lang="en-US" sz="2400" b="1" dirty="0">
                <a:latin typeface="Arial" panose="020B0604020202020204" pitchFamily="34" charset="0"/>
                <a:cs typeface="Arial" panose="020B0604020202020204" pitchFamily="34" charset="0"/>
              </a:rPr>
              <a:t>reducing the bias</a:t>
            </a:r>
            <a:r>
              <a:rPr lang="en-US" sz="2400" dirty="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695057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3452" y="460329"/>
            <a:ext cx="8229600" cy="708688"/>
          </a:xfrm>
        </p:spPr>
        <p:txBody>
          <a:bodyPr>
            <a:normAutofit/>
          </a:bodyPr>
          <a:lstStyle/>
          <a:p>
            <a:r>
              <a:rPr lang="en-US" sz="4000" b="1" dirty="0"/>
              <a:t>Basic Idea</a:t>
            </a:r>
            <a:r>
              <a:rPr lang="en-US" sz="4000" dirty="0"/>
              <a:t>:</a:t>
            </a:r>
          </a:p>
        </p:txBody>
      </p:sp>
      <p:sp>
        <p:nvSpPr>
          <p:cNvPr id="3" name="Content Placeholder 2"/>
          <p:cNvSpPr>
            <a:spLocks noGrp="1"/>
          </p:cNvSpPr>
          <p:nvPr>
            <p:ph idx="1"/>
          </p:nvPr>
        </p:nvSpPr>
        <p:spPr>
          <a:xfrm>
            <a:off x="158550" y="1340768"/>
            <a:ext cx="8805938" cy="4432603"/>
          </a:xfrm>
        </p:spPr>
        <p:txBody>
          <a:bodyPr>
            <a:noAutofit/>
          </a:bodyPr>
          <a:lstStyle/>
          <a:p>
            <a:pPr algn="just">
              <a:lnSpc>
                <a:spcPct val="150000"/>
              </a:lnSpc>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Boosting </a:t>
            </a:r>
            <a:r>
              <a:rPr lang="en-US" sz="2400" dirty="0">
                <a:latin typeface="Arial" panose="020B0604020202020204" pitchFamily="34" charset="0"/>
                <a:cs typeface="Arial" panose="020B0604020202020204" pitchFamily="34" charset="0"/>
              </a:rPr>
              <a:t>works iteratively. It starts by fitting a weak learner to the original dataset. </a:t>
            </a:r>
            <a:endParaRPr lang="en-US" sz="2400" dirty="0" smtClean="0">
              <a:latin typeface="Arial" panose="020B0604020202020204" pitchFamily="34" charset="0"/>
              <a:cs typeface="Arial" panose="020B0604020202020204" pitchFamily="34" charset="0"/>
            </a:endParaRPr>
          </a:p>
          <a:p>
            <a:pPr algn="just">
              <a:lnSpc>
                <a:spcPct val="150000"/>
              </a:lnSpc>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Where </a:t>
            </a:r>
            <a:r>
              <a:rPr lang="en-US" sz="2400" b="1" dirty="0" smtClean="0">
                <a:latin typeface="Arial" panose="020B0604020202020204" pitchFamily="34" charset="0"/>
                <a:cs typeface="Arial" panose="020B0604020202020204" pitchFamily="34" charset="0"/>
              </a:rPr>
              <a:t>weak learner </a:t>
            </a:r>
            <a:r>
              <a:rPr lang="en-US" sz="2400" dirty="0" smtClean="0">
                <a:latin typeface="Arial" panose="020B0604020202020204" pitchFamily="34" charset="0"/>
                <a:cs typeface="Arial" panose="020B0604020202020204" pitchFamily="34" charset="0"/>
              </a:rPr>
              <a:t>means a decision tree with one depth(shallow decision tree).</a:t>
            </a:r>
          </a:p>
          <a:p>
            <a:pPr algn="just">
              <a:lnSpc>
                <a:spcPct val="150000"/>
              </a:lnSpc>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Then</a:t>
            </a:r>
            <a:r>
              <a:rPr lang="en-US" sz="2400" dirty="0">
                <a:latin typeface="Arial" panose="020B0604020202020204" pitchFamily="34" charset="0"/>
                <a:cs typeface="Arial" panose="020B0604020202020204" pitchFamily="34" charset="0"/>
              </a:rPr>
              <a:t>, it gives more weight to the instances that were misclassified by the first learner. </a:t>
            </a:r>
            <a:endParaRPr lang="en-US" sz="2400" dirty="0" smtClean="0">
              <a:latin typeface="Arial" panose="020B0604020202020204" pitchFamily="34" charset="0"/>
              <a:cs typeface="Arial" panose="020B0604020202020204" pitchFamily="34" charset="0"/>
            </a:endParaRPr>
          </a:p>
          <a:p>
            <a:pPr algn="just">
              <a:lnSpc>
                <a:spcPct val="150000"/>
              </a:lnSpc>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In </a:t>
            </a:r>
            <a:r>
              <a:rPr lang="en-US" sz="2400" dirty="0">
                <a:latin typeface="Arial" panose="020B0604020202020204" pitchFamily="34" charset="0"/>
                <a:cs typeface="Arial" panose="020B0604020202020204" pitchFamily="34" charset="0"/>
              </a:rPr>
              <a:t>subsequent iterations, it focuses more on the previously misclassified instances, effectively "boosting" the performance of the ensemble.</a:t>
            </a:r>
          </a:p>
        </p:txBody>
      </p:sp>
    </p:spTree>
    <p:extLst>
      <p:ext uri="{BB962C8B-B14F-4D97-AF65-F5344CB8AC3E}">
        <p14:creationId xmlns:p14="http://schemas.microsoft.com/office/powerpoint/2010/main" val="35968445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52704"/>
          </a:xfrm>
        </p:spPr>
        <p:txBody>
          <a:bodyPr>
            <a:normAutofit/>
          </a:bodyPr>
          <a:lstStyle/>
          <a:p>
            <a:pPr algn="ctr"/>
            <a:r>
              <a:rPr lang="en-US" sz="4000" b="1" dirty="0" smtClean="0"/>
              <a:t>Classification of Boosting</a:t>
            </a:r>
            <a:endParaRPr lang="en-US" sz="4000" b="1" dirty="0"/>
          </a:p>
        </p:txBody>
      </p:sp>
      <p:pic>
        <p:nvPicPr>
          <p:cNvPr id="19" name="Picture 18"/>
          <p:cNvPicPr>
            <a:picLocks noChangeAspect="1"/>
          </p:cNvPicPr>
          <p:nvPr/>
        </p:nvPicPr>
        <p:blipFill>
          <a:blip r:embed="rId2"/>
          <a:stretch>
            <a:fillRect/>
          </a:stretch>
        </p:blipFill>
        <p:spPr>
          <a:xfrm>
            <a:off x="488682" y="1988840"/>
            <a:ext cx="7812128" cy="2952328"/>
          </a:xfrm>
          <a:prstGeom prst="rect">
            <a:avLst/>
          </a:prstGeom>
        </p:spPr>
      </p:pic>
    </p:spTree>
    <p:extLst>
      <p:ext uri="{BB962C8B-B14F-4D97-AF65-F5344CB8AC3E}">
        <p14:creationId xmlns:p14="http://schemas.microsoft.com/office/powerpoint/2010/main" val="23072304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420888"/>
            <a:ext cx="8229600" cy="1143000"/>
          </a:xfrm>
        </p:spPr>
        <p:txBody>
          <a:bodyPr>
            <a:normAutofit fontScale="90000"/>
          </a:bodyPr>
          <a:lstStyle/>
          <a:p>
            <a:r>
              <a:rPr lang="en-US" sz="5400" b="1" dirty="0" err="1"/>
              <a:t>AdaBoost</a:t>
            </a:r>
            <a:r>
              <a:rPr lang="en-US" sz="5400" b="1" dirty="0"/>
              <a:t> (Adaptive Boosting):</a:t>
            </a:r>
            <a:endParaRPr lang="en-US" dirty="0"/>
          </a:p>
        </p:txBody>
      </p:sp>
    </p:spTree>
    <p:extLst>
      <p:ext uri="{BB962C8B-B14F-4D97-AF65-F5344CB8AC3E}">
        <p14:creationId xmlns:p14="http://schemas.microsoft.com/office/powerpoint/2010/main" val="704110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07504" y="1556792"/>
            <a:ext cx="8856984" cy="3379387"/>
          </a:xfrm>
          <a:prstGeom prst="rect">
            <a:avLst/>
          </a:prstGeom>
        </p:spPr>
        <p:txBody>
          <a:bodyPr wrap="square">
            <a:spAutoFit/>
          </a:bodyPr>
          <a:lstStyle/>
          <a:p>
            <a:pPr marL="263525" lvl="1" indent="-246063" algn="just">
              <a:lnSpc>
                <a:spcPct val="150000"/>
              </a:lnSpc>
              <a:buFont typeface="Wingdings" panose="05000000000000000000" pitchFamily="2" charset="2"/>
              <a:buChar char="Ø"/>
            </a:pPr>
            <a:r>
              <a:rPr lang="en-US" b="1" dirty="0">
                <a:latin typeface="Arial" panose="020B0604020202020204" pitchFamily="34" charset="0"/>
                <a:cs typeface="Arial" panose="020B0604020202020204" pitchFamily="34" charset="0"/>
              </a:rPr>
              <a:t>Ada boost </a:t>
            </a:r>
            <a:r>
              <a:rPr lang="en-US" dirty="0">
                <a:latin typeface="Arial" panose="020B0604020202020204" pitchFamily="34" charset="0"/>
                <a:cs typeface="Arial" panose="020B0604020202020204" pitchFamily="34" charset="0"/>
              </a:rPr>
              <a:t>: Specially popular in image classification before CNN and Deep Learning, but not first choice nowadays in ML. </a:t>
            </a:r>
          </a:p>
          <a:p>
            <a:pPr marL="263525" lvl="1" indent="-246063" algn="just">
              <a:lnSpc>
                <a:spcPct val="150000"/>
              </a:lnSpc>
              <a:buFont typeface="Wingdings" panose="05000000000000000000" pitchFamily="2" charset="2"/>
              <a:buChar char="Ø"/>
            </a:pPr>
            <a:r>
              <a:rPr lang="en-US" dirty="0">
                <a:latin typeface="Arial" panose="020B0604020202020204" pitchFamily="34" charset="0"/>
                <a:cs typeface="Arial" panose="020B0604020202020204" pitchFamily="34" charset="0"/>
              </a:rPr>
              <a:t>But understanding the concept of math behind Ada Boost helps to understand the advance concept of Gradient Boosting and XG Boost.</a:t>
            </a:r>
          </a:p>
          <a:p>
            <a:pPr>
              <a:buFont typeface="Wingdings" panose="05000000000000000000" pitchFamily="2" charset="2"/>
              <a:buChar char="Ø"/>
            </a:pPr>
            <a:endParaRPr lang="en-US" sz="2400" dirty="0"/>
          </a:p>
        </p:txBody>
      </p:sp>
    </p:spTree>
    <p:extLst>
      <p:ext uri="{BB962C8B-B14F-4D97-AF65-F5344CB8AC3E}">
        <p14:creationId xmlns:p14="http://schemas.microsoft.com/office/powerpoint/2010/main" val="21763424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268760"/>
            <a:ext cx="8866495" cy="3600400"/>
          </a:xfrm>
        </p:spPr>
        <p:txBody>
          <a:bodyPr>
            <a:normAutofit/>
          </a:bodyPr>
          <a:lstStyle/>
          <a:p>
            <a:pPr>
              <a:lnSpc>
                <a:spcPct val="150000"/>
              </a:lnSpc>
              <a:buFont typeface="Wingdings" panose="05000000000000000000" pitchFamily="2" charset="2"/>
              <a:buChar char="Ø"/>
            </a:pPr>
            <a:r>
              <a:rPr lang="en-US" sz="2400" dirty="0" err="1" smtClean="0">
                <a:latin typeface="Arial" panose="020B0604020202020204" pitchFamily="34" charset="0"/>
                <a:cs typeface="Arial" panose="020B0604020202020204" pitchFamily="34" charset="0"/>
              </a:rPr>
              <a:t>AdaBoost</a:t>
            </a:r>
            <a:r>
              <a:rPr lang="en-US" sz="2400" dirty="0" smtClean="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assigns weights to each training instance and adjusts </a:t>
            </a:r>
            <a:r>
              <a:rPr lang="en-US" sz="2400" dirty="0" smtClean="0">
                <a:latin typeface="Arial" panose="020B0604020202020204" pitchFamily="34" charset="0"/>
                <a:cs typeface="Arial" panose="020B0604020202020204" pitchFamily="34" charset="0"/>
              </a:rPr>
              <a:t>the </a:t>
            </a:r>
            <a:r>
              <a:rPr lang="en-US" sz="2400" dirty="0">
                <a:latin typeface="Arial" panose="020B0604020202020204" pitchFamily="34" charset="0"/>
                <a:cs typeface="Arial" panose="020B0604020202020204" pitchFamily="34" charset="0"/>
              </a:rPr>
              <a:t>weights at each iteration. </a:t>
            </a:r>
            <a:endParaRPr lang="en-US" sz="2400" dirty="0" smtClean="0">
              <a:latin typeface="Arial" panose="020B0604020202020204" pitchFamily="34" charset="0"/>
              <a:cs typeface="Arial" panose="020B0604020202020204" pitchFamily="34" charset="0"/>
            </a:endParaRPr>
          </a:p>
          <a:p>
            <a:pPr marL="263525" lvl="1" indent="-263525">
              <a:lnSpc>
                <a:spcPct val="150000"/>
              </a:lnSpc>
              <a:buFont typeface="Wingdings" panose="05000000000000000000" pitchFamily="2" charset="2"/>
              <a:buChar char="Ø"/>
            </a:pPr>
            <a:r>
              <a:rPr lang="en-US" b="1" dirty="0" smtClean="0">
                <a:latin typeface="Arial" panose="020B0604020202020204" pitchFamily="34" charset="0"/>
                <a:cs typeface="Arial" panose="020B0604020202020204" pitchFamily="34" charset="0"/>
              </a:rPr>
              <a:t>It </a:t>
            </a:r>
            <a:r>
              <a:rPr lang="en-US" b="1" dirty="0">
                <a:latin typeface="Arial" panose="020B0604020202020204" pitchFamily="34" charset="0"/>
                <a:cs typeface="Arial" panose="020B0604020202020204" pitchFamily="34" charset="0"/>
              </a:rPr>
              <a:t>increases the weights of misclassified </a:t>
            </a:r>
            <a:r>
              <a:rPr lang="en-US" b="1" dirty="0" smtClean="0">
                <a:latin typeface="Arial" panose="020B0604020202020204" pitchFamily="34" charset="0"/>
                <a:cs typeface="Arial" panose="020B0604020202020204" pitchFamily="34" charset="0"/>
              </a:rPr>
              <a:t>instances.</a:t>
            </a:r>
          </a:p>
          <a:p>
            <a:pPr marL="263525" lvl="1" indent="-263525">
              <a:lnSpc>
                <a:spcPct val="150000"/>
              </a:lnSpc>
              <a:buFont typeface="Wingdings" panose="05000000000000000000" pitchFamily="2" charset="2"/>
              <a:buChar char="Ø"/>
            </a:pPr>
            <a:r>
              <a:rPr lang="en-US" b="1" dirty="0" smtClean="0">
                <a:latin typeface="Arial" panose="020B0604020202020204" pitchFamily="34" charset="0"/>
                <a:cs typeface="Arial" panose="020B0604020202020204" pitchFamily="34" charset="0"/>
              </a:rPr>
              <a:t>While decreases </a:t>
            </a:r>
            <a:r>
              <a:rPr lang="en-US" b="1" dirty="0">
                <a:latin typeface="Arial" panose="020B0604020202020204" pitchFamily="34" charset="0"/>
                <a:cs typeface="Arial" panose="020B0604020202020204" pitchFamily="34" charset="0"/>
              </a:rPr>
              <a:t>the weights of correctly classified instances.</a:t>
            </a:r>
          </a:p>
          <a:p>
            <a:pPr>
              <a:buFont typeface="Wingdings" panose="05000000000000000000" pitchFamily="2" charset="2"/>
              <a:buChar char="Ø"/>
            </a:pPr>
            <a:endParaRPr lang="en-US" b="1" dirty="0" smtClean="0"/>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15411825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67544" y="548680"/>
            <a:ext cx="8676456" cy="584775"/>
          </a:xfrm>
          <a:prstGeom prst="rect">
            <a:avLst/>
          </a:prstGeom>
        </p:spPr>
        <p:txBody>
          <a:bodyPr wrap="square">
            <a:spAutoFit/>
          </a:bodyPr>
          <a:lstStyle/>
          <a:p>
            <a:pPr algn="ctr"/>
            <a:r>
              <a:rPr lang="en-US" sz="3200" b="1" dirty="0" smtClean="0"/>
              <a:t>Additive Modelling Idea</a:t>
            </a:r>
            <a:endParaRPr lang="en-US" sz="3200" b="1" dirty="0"/>
          </a:p>
        </p:txBody>
      </p:sp>
      <p:sp>
        <p:nvSpPr>
          <p:cNvPr id="7" name="Rectangle 6"/>
          <p:cNvSpPr/>
          <p:nvPr/>
        </p:nvSpPr>
        <p:spPr>
          <a:xfrm>
            <a:off x="289964" y="1556792"/>
            <a:ext cx="5544616" cy="2862322"/>
          </a:xfrm>
          <a:prstGeom prst="rect">
            <a:avLst/>
          </a:prstGeom>
        </p:spPr>
        <p:txBody>
          <a:bodyPr wrap="square">
            <a:spAutoFit/>
          </a:bodyPr>
          <a:lstStyle/>
          <a:p>
            <a:pPr marL="342900" indent="-342900">
              <a:lnSpc>
                <a:spcPct val="150000"/>
              </a:lnSpc>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It </a:t>
            </a:r>
            <a:r>
              <a:rPr lang="en-US" sz="2400" dirty="0">
                <a:latin typeface="Arial" panose="020B0604020202020204" pitchFamily="34" charset="0"/>
                <a:cs typeface="Arial" panose="020B0604020202020204" pitchFamily="34" charset="0"/>
              </a:rPr>
              <a:t>is a kind of </a:t>
            </a:r>
            <a:r>
              <a:rPr lang="en-US" sz="2400" b="1" dirty="0">
                <a:latin typeface="Arial" panose="020B0604020202020204" pitchFamily="34" charset="0"/>
                <a:cs typeface="Arial" panose="020B0604020202020204" pitchFamily="34" charset="0"/>
              </a:rPr>
              <a:t>additive modeling</a:t>
            </a:r>
            <a:r>
              <a:rPr lang="en-US" sz="2400" dirty="0">
                <a:latin typeface="Arial" panose="020B0604020202020204" pitchFamily="34" charset="0"/>
                <a:cs typeface="Arial" panose="020B0604020202020204" pitchFamily="34" charset="0"/>
              </a:rPr>
              <a:t>.</a:t>
            </a:r>
          </a:p>
          <a:p>
            <a:pPr>
              <a:lnSpc>
                <a:spcPct val="150000"/>
              </a:lnSpc>
            </a:pPr>
            <a:r>
              <a:rPr lang="en-US" sz="2400" dirty="0" smtClean="0">
                <a:latin typeface="Arial" panose="020B0604020202020204" pitchFamily="34" charset="0"/>
                <a:cs typeface="Arial" panose="020B0604020202020204" pitchFamily="34" charset="0"/>
              </a:rPr>
              <a:t>Where the </a:t>
            </a:r>
            <a:r>
              <a:rPr lang="en-US" sz="2400" dirty="0">
                <a:latin typeface="Arial" panose="020B0604020202020204" pitchFamily="34" charset="0"/>
                <a:cs typeface="Arial" panose="020B0604020202020204" pitchFamily="34" charset="0"/>
              </a:rPr>
              <a:t>boosting builds the model in a stage-wise manner by adding one weak learner at a time</a:t>
            </a:r>
            <a:r>
              <a:rPr lang="en-US" sz="2400" dirty="0" smtClean="0">
                <a:latin typeface="Arial" panose="020B0604020202020204" pitchFamily="34" charset="0"/>
                <a:cs typeface="Arial" panose="020B0604020202020204" pitchFamily="34" charset="0"/>
              </a:rPr>
              <a:t>.</a:t>
            </a:r>
            <a:r>
              <a:rPr lang="en-US" sz="2400" b="1" dirty="0" smtClean="0">
                <a:latin typeface="Arial" panose="020B0604020202020204" pitchFamily="34" charset="0"/>
                <a:cs typeface="Arial" panose="020B0604020202020204" pitchFamily="34" charset="0"/>
              </a:rPr>
              <a:t> </a:t>
            </a:r>
            <a:endParaRPr lang="en-US" sz="2400" b="1" dirty="0" smtClean="0">
              <a:latin typeface="Arial" panose="020B0604020202020204" pitchFamily="34" charset="0"/>
              <a:cs typeface="Arial" panose="020B0604020202020204" pitchFamily="34" charset="0"/>
            </a:endParaRPr>
          </a:p>
          <a:p>
            <a:pPr>
              <a:lnSpc>
                <a:spcPct val="150000"/>
              </a:lnSpc>
            </a:pPr>
            <a:r>
              <a:rPr lang="en-US" sz="2400" dirty="0" smtClean="0">
                <a:latin typeface="Arial" panose="020B0604020202020204" pitchFamily="34" charset="0"/>
                <a:cs typeface="Arial" panose="020B0604020202020204" pitchFamily="34" charset="0"/>
              </a:rPr>
              <a:t>F(x</a:t>
            </a:r>
            <a:r>
              <a:rPr lang="en-US" sz="2400" dirty="0" smtClean="0">
                <a:latin typeface="Arial" panose="020B0604020202020204" pitchFamily="34" charset="0"/>
                <a:cs typeface="Arial" panose="020B0604020202020204" pitchFamily="34" charset="0"/>
              </a:rPr>
              <a:t>) = </a:t>
            </a:r>
            <a:r>
              <a:rPr lang="en-US" sz="2400" dirty="0" smtClean="0">
                <a:latin typeface="Arial" panose="020B0604020202020204" pitchFamily="34" charset="0"/>
                <a:cs typeface="Arial" panose="020B0604020202020204" pitchFamily="34" charset="0"/>
              </a:rPr>
              <a:t>f1(x) + f2(x)+…………….. + </a:t>
            </a:r>
            <a:r>
              <a:rPr lang="en-US" sz="2400" dirty="0" err="1" smtClean="0">
                <a:latin typeface="Arial" panose="020B0604020202020204" pitchFamily="34" charset="0"/>
                <a:cs typeface="Arial" panose="020B0604020202020204" pitchFamily="34" charset="0"/>
              </a:rPr>
              <a:t>fn</a:t>
            </a:r>
            <a:r>
              <a:rPr lang="en-US" sz="2400" dirty="0" smtClean="0">
                <a:latin typeface="Arial" panose="020B0604020202020204" pitchFamily="34" charset="0"/>
                <a:cs typeface="Arial" panose="020B0604020202020204" pitchFamily="34" charset="0"/>
              </a:rPr>
              <a:t>(x</a:t>
            </a:r>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8144" y="1556792"/>
            <a:ext cx="3096344" cy="475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96476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36680"/>
          </a:xfrm>
        </p:spPr>
        <p:txBody>
          <a:bodyPr>
            <a:noAutofit/>
          </a:bodyPr>
          <a:lstStyle/>
          <a:p>
            <a:r>
              <a:rPr lang="en-US" sz="4000" b="1" dirty="0" smtClean="0"/>
              <a:t/>
            </a:r>
            <a:br>
              <a:rPr lang="en-US" sz="4000" b="1" dirty="0" smtClean="0"/>
            </a:br>
            <a:r>
              <a:rPr lang="en-US" sz="4000" b="1" dirty="0"/>
              <a:t/>
            </a:r>
            <a:br>
              <a:rPr lang="en-US" sz="4000" b="1" dirty="0"/>
            </a:br>
            <a:r>
              <a:rPr lang="en-US" sz="4000" b="1" dirty="0" smtClean="0"/>
              <a:t>Things </a:t>
            </a:r>
            <a:r>
              <a:rPr lang="en-US" sz="4000" b="1" dirty="0"/>
              <a:t>to kept in mind</a:t>
            </a:r>
            <a:r>
              <a:rPr lang="en-US" sz="4000" b="1" dirty="0" smtClean="0"/>
              <a:t>:</a:t>
            </a:r>
            <a:endParaRPr lang="en-US" sz="4000" dirty="0"/>
          </a:p>
        </p:txBody>
      </p:sp>
      <p:sp>
        <p:nvSpPr>
          <p:cNvPr id="5" name="Rectangle 4"/>
          <p:cNvSpPr/>
          <p:nvPr/>
        </p:nvSpPr>
        <p:spPr>
          <a:xfrm>
            <a:off x="179512" y="1700808"/>
            <a:ext cx="8784976" cy="3913059"/>
          </a:xfrm>
          <a:prstGeom prst="rect">
            <a:avLst/>
          </a:prstGeom>
        </p:spPr>
        <p:txBody>
          <a:bodyPr wrap="square">
            <a:spAutoFit/>
          </a:bodyPr>
          <a:lstStyle/>
          <a:p>
            <a:pPr marL="85725" lvl="1" indent="371475">
              <a:lnSpc>
                <a:spcPct val="150000"/>
              </a:lnSpc>
              <a:buFont typeface="Wingdings" panose="05000000000000000000" pitchFamily="2" charset="2"/>
              <a:buChar char="Ø"/>
            </a:pPr>
            <a:r>
              <a:rPr lang="en-US" sz="2400" b="1" dirty="0" smtClean="0">
                <a:latin typeface="Arial" panose="020B0604020202020204" pitchFamily="34" charset="0"/>
                <a:cs typeface="Arial" panose="020B0604020202020204" pitchFamily="34" charset="0"/>
              </a:rPr>
              <a:t>Weak </a:t>
            </a:r>
            <a:r>
              <a:rPr lang="en-US" sz="2400" b="1" dirty="0">
                <a:latin typeface="Arial" panose="020B0604020202020204" pitchFamily="34" charset="0"/>
                <a:cs typeface="Arial" panose="020B0604020202020204" pitchFamily="34" charset="0"/>
              </a:rPr>
              <a:t>learner</a:t>
            </a:r>
            <a:r>
              <a:rPr lang="en-US" sz="2400" dirty="0">
                <a:latin typeface="Arial" panose="020B0604020202020204" pitchFamily="34" charset="0"/>
                <a:cs typeface="Arial" panose="020B0604020202020204" pitchFamily="34" charset="0"/>
              </a:rPr>
              <a:t>( accuracy just &gt;=50%)</a:t>
            </a:r>
          </a:p>
          <a:p>
            <a:pPr marL="85725" lvl="1" indent="371475">
              <a:lnSpc>
                <a:spcPct val="150000"/>
              </a:lnSpc>
              <a:buFont typeface="Wingdings" panose="05000000000000000000" pitchFamily="2" charset="2"/>
              <a:buChar char="Ø"/>
            </a:pPr>
            <a:r>
              <a:rPr lang="en-US" sz="2400" b="1" dirty="0">
                <a:latin typeface="Arial" panose="020B0604020202020204" pitchFamily="34" charset="0"/>
                <a:cs typeface="Arial" panose="020B0604020202020204" pitchFamily="34" charset="0"/>
              </a:rPr>
              <a:t>Decision </a:t>
            </a:r>
            <a:r>
              <a:rPr lang="en-US" sz="2400" b="1" dirty="0" smtClean="0">
                <a:latin typeface="Arial" panose="020B0604020202020204" pitchFamily="34" charset="0"/>
                <a:cs typeface="Arial" panose="020B0604020202020204" pitchFamily="34" charset="0"/>
              </a:rPr>
              <a:t>Stump: </a:t>
            </a:r>
            <a:r>
              <a:rPr lang="en-US" sz="2400" i="1" dirty="0" smtClean="0">
                <a:latin typeface="Arial" panose="020B0604020202020204" pitchFamily="34" charset="0"/>
                <a:cs typeface="Arial" panose="020B0604020202020204" pitchFamily="34" charset="0"/>
              </a:rPr>
              <a:t>It </a:t>
            </a:r>
            <a:r>
              <a:rPr lang="en-US" sz="2400" i="1" dirty="0">
                <a:latin typeface="Arial" panose="020B0604020202020204" pitchFamily="34" charset="0"/>
                <a:cs typeface="Arial" panose="020B0604020202020204" pitchFamily="34" charset="0"/>
              </a:rPr>
              <a:t>is a tree with one node and two </a:t>
            </a:r>
            <a:r>
              <a:rPr lang="en-US" sz="2400" i="1" dirty="0" smtClean="0">
                <a:latin typeface="Arial" panose="020B0604020202020204" pitchFamily="34" charset="0"/>
                <a:cs typeface="Arial" panose="020B0604020202020204" pitchFamily="34" charset="0"/>
              </a:rPr>
              <a:t>leaves.</a:t>
            </a:r>
            <a:r>
              <a:rPr lang="en-US" sz="2400" dirty="0" smtClean="0">
                <a:latin typeface="Arial" panose="020B0604020202020204" pitchFamily="34" charset="0"/>
                <a:cs typeface="Arial" panose="020B0604020202020204" pitchFamily="34" charset="0"/>
              </a:rPr>
              <a:t>(shallow </a:t>
            </a:r>
            <a:r>
              <a:rPr lang="en-US" sz="2400" dirty="0">
                <a:latin typeface="Arial" panose="020B0604020202020204" pitchFamily="34" charset="0"/>
                <a:cs typeface="Arial" panose="020B0604020202020204" pitchFamily="34" charset="0"/>
              </a:rPr>
              <a:t>tree i.e. max depth = 1) or  only </a:t>
            </a:r>
            <a:r>
              <a:rPr lang="en-US" sz="2400" dirty="0" smtClean="0">
                <a:latin typeface="Arial" panose="020B0604020202020204" pitchFamily="34" charset="0"/>
                <a:cs typeface="Arial" panose="020B0604020202020204" pitchFamily="34" charset="0"/>
              </a:rPr>
              <a:t>one decision </a:t>
            </a:r>
            <a:r>
              <a:rPr lang="en-US" sz="2400" dirty="0">
                <a:latin typeface="Arial" panose="020B0604020202020204" pitchFamily="34" charset="0"/>
                <a:cs typeface="Arial" panose="020B0604020202020204" pitchFamily="34" charset="0"/>
              </a:rPr>
              <a:t>in a model</a:t>
            </a:r>
            <a:r>
              <a:rPr lang="en-US" sz="2400" dirty="0" smtClean="0">
                <a:latin typeface="Arial" panose="020B0604020202020204" pitchFamily="34" charset="0"/>
                <a:cs typeface="Arial" panose="020B0604020202020204" pitchFamily="34" charset="0"/>
              </a:rPr>
              <a:t>.</a:t>
            </a:r>
          </a:p>
          <a:p>
            <a:pPr marL="85725" lvl="1" indent="371475">
              <a:lnSpc>
                <a:spcPct val="150000"/>
              </a:lnSpc>
              <a:buFont typeface="Wingdings" panose="05000000000000000000" pitchFamily="2" charset="2"/>
              <a:buChar char="Ø"/>
            </a:pPr>
            <a:r>
              <a:rPr lang="en-US" sz="2400" dirty="0">
                <a:latin typeface="Arial" panose="020B0604020202020204" pitchFamily="34" charset="0"/>
                <a:cs typeface="Arial" panose="020B0604020202020204" pitchFamily="34" charset="0"/>
              </a:rPr>
              <a:t>They are </a:t>
            </a:r>
            <a:r>
              <a:rPr lang="en-US" sz="2400" b="1" dirty="0">
                <a:latin typeface="Arial" panose="020B0604020202020204" pitchFamily="34" charset="0"/>
                <a:cs typeface="Arial" panose="020B0604020202020204" pitchFamily="34" charset="0"/>
              </a:rPr>
              <a:t>not good</a:t>
            </a:r>
            <a:r>
              <a:rPr lang="en-US" sz="2400" dirty="0">
                <a:latin typeface="Arial" panose="020B0604020202020204" pitchFamily="34" charset="0"/>
                <a:cs typeface="Arial" panose="020B0604020202020204" pitchFamily="34" charset="0"/>
              </a:rPr>
              <a:t> at making </a:t>
            </a:r>
            <a:r>
              <a:rPr lang="en-US" sz="2400" b="1" dirty="0">
                <a:latin typeface="Arial" panose="020B0604020202020204" pitchFamily="34" charset="0"/>
                <a:cs typeface="Arial" panose="020B0604020202020204" pitchFamily="34" charset="0"/>
              </a:rPr>
              <a:t>accurate</a:t>
            </a:r>
            <a:r>
              <a:rPr lang="en-US" sz="2400" dirty="0">
                <a:latin typeface="Arial" panose="020B0604020202020204" pitchFamily="34" charset="0"/>
                <a:cs typeface="Arial" panose="020B0604020202020204" pitchFamily="34" charset="0"/>
              </a:rPr>
              <a:t> </a:t>
            </a:r>
            <a:r>
              <a:rPr lang="en-US" sz="2400" dirty="0" smtClean="0">
                <a:latin typeface="Arial" panose="020B0604020202020204" pitchFamily="34" charset="0"/>
                <a:cs typeface="Arial" panose="020B0604020202020204" pitchFamily="34" charset="0"/>
              </a:rPr>
              <a:t>classifications.</a:t>
            </a:r>
            <a:r>
              <a:rPr lang="en-US" sz="2400" dirty="0">
                <a:latin typeface="Arial" panose="020B0604020202020204" pitchFamily="34" charset="0"/>
                <a:cs typeface="Arial" panose="020B0604020202020204" pitchFamily="34" charset="0"/>
              </a:rPr>
              <a:t> They are technically "</a:t>
            </a:r>
            <a:r>
              <a:rPr lang="en-US" sz="2400" b="1" dirty="0">
                <a:latin typeface="Arial" panose="020B0604020202020204" pitchFamily="34" charset="0"/>
                <a:cs typeface="Arial" panose="020B0604020202020204" pitchFamily="34" charset="0"/>
              </a:rPr>
              <a:t>weak learners</a:t>
            </a:r>
            <a:r>
              <a:rPr lang="en-US" sz="2400" dirty="0">
                <a:latin typeface="Arial" panose="020B0604020202020204" pitchFamily="34" charset="0"/>
                <a:cs typeface="Arial" panose="020B0604020202020204" pitchFamily="34" charset="0"/>
              </a:rPr>
              <a:t>". </a:t>
            </a:r>
          </a:p>
          <a:p>
            <a:pPr marL="85725" lvl="1" indent="371475">
              <a:lnSpc>
                <a:spcPct val="150000"/>
              </a:lnSpc>
              <a:buFont typeface="Wingdings" panose="05000000000000000000" pitchFamily="2" charset="2"/>
              <a:buChar char="Ø"/>
            </a:pPr>
            <a:r>
              <a:rPr lang="en-US" sz="2400" b="1" dirty="0" smtClean="0">
                <a:latin typeface="Arial" panose="020B0604020202020204" pitchFamily="34" charset="0"/>
                <a:cs typeface="Arial" panose="020B0604020202020204" pitchFamily="34" charset="0"/>
              </a:rPr>
              <a:t>+</a:t>
            </a:r>
            <a:r>
              <a:rPr lang="en-US" sz="2400" b="1" dirty="0">
                <a:latin typeface="Arial" panose="020B0604020202020204" pitchFamily="34" charset="0"/>
                <a:cs typeface="Arial" panose="020B0604020202020204" pitchFamily="34" charset="0"/>
              </a:rPr>
              <a:t>1 and -1</a:t>
            </a:r>
            <a:r>
              <a:rPr lang="en-US" sz="2400" dirty="0">
                <a:latin typeface="Arial" panose="020B0604020202020204" pitchFamily="34" charset="0"/>
                <a:cs typeface="Arial" panose="020B0604020202020204" pitchFamily="34" charset="0"/>
              </a:rPr>
              <a:t>( positive and negative)</a:t>
            </a:r>
          </a:p>
        </p:txBody>
      </p:sp>
    </p:spTree>
    <p:extLst>
      <p:ext uri="{BB962C8B-B14F-4D97-AF65-F5344CB8AC3E}">
        <p14:creationId xmlns:p14="http://schemas.microsoft.com/office/powerpoint/2010/main" val="5281721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340768"/>
            <a:ext cx="7776864"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53830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836712"/>
            <a:ext cx="8229600" cy="420656"/>
          </a:xfrm>
        </p:spPr>
        <p:txBody>
          <a:bodyPr>
            <a:normAutofit fontScale="90000"/>
          </a:bodyPr>
          <a:lstStyle/>
          <a:p>
            <a:pPr algn="ctr"/>
            <a:r>
              <a:rPr lang="en-US" sz="4000" b="1" dirty="0"/>
              <a:t>Algorithm Steps</a:t>
            </a:r>
            <a:r>
              <a:rPr lang="en-US" sz="4000" dirty="0"/>
              <a:t>:</a:t>
            </a:r>
          </a:p>
        </p:txBody>
      </p:sp>
      <p:sp>
        <p:nvSpPr>
          <p:cNvPr id="3" name="Content Placeholder 2"/>
          <p:cNvSpPr>
            <a:spLocks noGrp="1"/>
          </p:cNvSpPr>
          <p:nvPr>
            <p:ph idx="1"/>
          </p:nvPr>
        </p:nvSpPr>
        <p:spPr>
          <a:xfrm>
            <a:off x="136104" y="1412776"/>
            <a:ext cx="8748464" cy="5328592"/>
          </a:xfrm>
        </p:spPr>
        <p:txBody>
          <a:bodyPr>
            <a:normAutofit/>
          </a:bodyPr>
          <a:lstStyle/>
          <a:p>
            <a:pPr>
              <a:lnSpc>
                <a:spcPct val="150000"/>
              </a:lnSpc>
              <a:buFont typeface="Wingdings" panose="05000000000000000000" pitchFamily="2" charset="2"/>
              <a:buChar char="Ø"/>
            </a:pPr>
            <a:r>
              <a:rPr lang="en-US" sz="2400" b="1" dirty="0" smtClean="0">
                <a:latin typeface="Arial" panose="020B0604020202020204" pitchFamily="34" charset="0"/>
                <a:cs typeface="Arial" panose="020B0604020202020204" pitchFamily="34" charset="0"/>
              </a:rPr>
              <a:t>Step 1:</a:t>
            </a:r>
            <a:r>
              <a:rPr lang="en-US" sz="2400" dirty="0" smtClean="0">
                <a:latin typeface="Arial" panose="020B0604020202020204" pitchFamily="34" charset="0"/>
                <a:cs typeface="Arial" panose="020B0604020202020204" pitchFamily="34" charset="0"/>
              </a:rPr>
              <a:t>Initialize </a:t>
            </a:r>
            <a:r>
              <a:rPr lang="en-US" sz="2400" dirty="0">
                <a:latin typeface="Arial" panose="020B0604020202020204" pitchFamily="34" charset="0"/>
                <a:cs typeface="Arial" panose="020B0604020202020204" pitchFamily="34" charset="0"/>
              </a:rPr>
              <a:t>instance weights uniformly.</a:t>
            </a:r>
          </a:p>
          <a:p>
            <a:pPr>
              <a:lnSpc>
                <a:spcPct val="150000"/>
              </a:lnSpc>
              <a:buFont typeface="Wingdings" panose="05000000000000000000" pitchFamily="2" charset="2"/>
              <a:buChar char="Ø"/>
            </a:pPr>
            <a:r>
              <a:rPr lang="en-US" sz="2400" b="1" dirty="0" smtClean="0">
                <a:latin typeface="Arial" panose="020B0604020202020204" pitchFamily="34" charset="0"/>
                <a:cs typeface="Arial" panose="020B0604020202020204" pitchFamily="34" charset="0"/>
              </a:rPr>
              <a:t>Step 2:</a:t>
            </a:r>
            <a:r>
              <a:rPr lang="en-US" sz="2400" dirty="0" smtClean="0">
                <a:latin typeface="Arial" panose="020B0604020202020204" pitchFamily="34" charset="0"/>
                <a:cs typeface="Arial" panose="020B0604020202020204" pitchFamily="34" charset="0"/>
              </a:rPr>
              <a:t>Train </a:t>
            </a:r>
            <a:r>
              <a:rPr lang="en-US" sz="2400" dirty="0">
                <a:latin typeface="Arial" panose="020B0604020202020204" pitchFamily="34" charset="0"/>
                <a:cs typeface="Arial" panose="020B0604020202020204" pitchFamily="34" charset="0"/>
              </a:rPr>
              <a:t>a weak learner on the weighted dataset.</a:t>
            </a:r>
          </a:p>
          <a:p>
            <a:pPr>
              <a:lnSpc>
                <a:spcPct val="150000"/>
              </a:lnSpc>
              <a:buFont typeface="Wingdings" panose="05000000000000000000" pitchFamily="2" charset="2"/>
              <a:buChar char="Ø"/>
            </a:pPr>
            <a:r>
              <a:rPr lang="en-US" sz="2400" b="1" dirty="0" smtClean="0">
                <a:latin typeface="Arial" panose="020B0604020202020204" pitchFamily="34" charset="0"/>
                <a:cs typeface="Arial" panose="020B0604020202020204" pitchFamily="34" charset="0"/>
              </a:rPr>
              <a:t>Step 3:</a:t>
            </a:r>
            <a:r>
              <a:rPr lang="en-US" sz="2400" dirty="0" smtClean="0">
                <a:latin typeface="Arial" panose="020B0604020202020204" pitchFamily="34" charset="0"/>
                <a:cs typeface="Arial" panose="020B0604020202020204" pitchFamily="34" charset="0"/>
              </a:rPr>
              <a:t>Calculate </a:t>
            </a:r>
            <a:r>
              <a:rPr lang="en-US" sz="2400" dirty="0">
                <a:latin typeface="Arial" panose="020B0604020202020204" pitchFamily="34" charset="0"/>
                <a:cs typeface="Arial" panose="020B0604020202020204" pitchFamily="34" charset="0"/>
              </a:rPr>
              <a:t>the error of the weak learner.</a:t>
            </a:r>
          </a:p>
          <a:p>
            <a:pPr>
              <a:lnSpc>
                <a:spcPct val="150000"/>
              </a:lnSpc>
              <a:buFont typeface="Wingdings" panose="05000000000000000000" pitchFamily="2" charset="2"/>
              <a:buChar char="Ø"/>
            </a:pPr>
            <a:r>
              <a:rPr lang="en-US" sz="2400" b="1" dirty="0" smtClean="0">
                <a:latin typeface="Arial" panose="020B0604020202020204" pitchFamily="34" charset="0"/>
                <a:cs typeface="Arial" panose="020B0604020202020204" pitchFamily="34" charset="0"/>
              </a:rPr>
              <a:t>Step 4:</a:t>
            </a:r>
            <a:r>
              <a:rPr lang="en-US" sz="2400" dirty="0" smtClean="0">
                <a:latin typeface="Arial" panose="020B0604020202020204" pitchFamily="34" charset="0"/>
                <a:cs typeface="Arial" panose="020B0604020202020204" pitchFamily="34" charset="0"/>
              </a:rPr>
              <a:t>Adjust </a:t>
            </a:r>
            <a:r>
              <a:rPr lang="en-US" sz="2400" dirty="0">
                <a:latin typeface="Arial" panose="020B0604020202020204" pitchFamily="34" charset="0"/>
                <a:cs typeface="Arial" panose="020B0604020202020204" pitchFamily="34" charset="0"/>
              </a:rPr>
              <a:t>instance weights based on the error</a:t>
            </a:r>
            <a:r>
              <a:rPr lang="en-US" sz="2400" dirty="0" smtClean="0">
                <a:latin typeface="Arial" panose="020B0604020202020204" pitchFamily="34" charset="0"/>
                <a:cs typeface="Arial" panose="020B0604020202020204" pitchFamily="34" charset="0"/>
              </a:rPr>
              <a:t>.</a:t>
            </a:r>
          </a:p>
          <a:p>
            <a:pPr lvl="1">
              <a:lnSpc>
                <a:spcPct val="150000"/>
              </a:lnSpc>
              <a:buFont typeface="Wingdings" panose="05000000000000000000" pitchFamily="2" charset="2"/>
              <a:buChar char="Ø"/>
            </a:pPr>
            <a:r>
              <a:rPr lang="en-US" dirty="0">
                <a:latin typeface="Arial" panose="020B0604020202020204" pitchFamily="34" charset="0"/>
                <a:cs typeface="Arial" panose="020B0604020202020204" pitchFamily="34" charset="0"/>
              </a:rPr>
              <a:t>Increase the weights of </a:t>
            </a:r>
            <a:r>
              <a:rPr lang="en-US" b="1" dirty="0">
                <a:latin typeface="Arial" panose="020B0604020202020204" pitchFamily="34" charset="0"/>
                <a:cs typeface="Arial" panose="020B0604020202020204" pitchFamily="34" charset="0"/>
              </a:rPr>
              <a:t>misclassified </a:t>
            </a:r>
            <a:r>
              <a:rPr lang="en-US" b="1" dirty="0" smtClean="0">
                <a:latin typeface="Arial" panose="020B0604020202020204" pitchFamily="34" charset="0"/>
                <a:cs typeface="Arial" panose="020B0604020202020204" pitchFamily="34" charset="0"/>
              </a:rPr>
              <a:t>instances and decrease the weight of correctly classified</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a:lnSpc>
                <a:spcPct val="150000"/>
              </a:lnSpc>
              <a:buFont typeface="Wingdings" panose="05000000000000000000" pitchFamily="2" charset="2"/>
              <a:buChar char="Ø"/>
            </a:pPr>
            <a:r>
              <a:rPr lang="en-US" sz="2400" b="1" dirty="0" smtClean="0">
                <a:latin typeface="Arial" panose="020B0604020202020204" pitchFamily="34" charset="0"/>
                <a:cs typeface="Arial" panose="020B0604020202020204" pitchFamily="34" charset="0"/>
              </a:rPr>
              <a:t>Step 5:</a:t>
            </a:r>
            <a:r>
              <a:rPr lang="en-US" sz="2400" dirty="0" smtClean="0">
                <a:latin typeface="Arial" panose="020B0604020202020204" pitchFamily="34" charset="0"/>
                <a:cs typeface="Arial" panose="020B0604020202020204" pitchFamily="34" charset="0"/>
              </a:rPr>
              <a:t>Repeat </a:t>
            </a:r>
            <a:r>
              <a:rPr lang="en-US" sz="2400" dirty="0">
                <a:latin typeface="Arial" panose="020B0604020202020204" pitchFamily="34" charset="0"/>
                <a:cs typeface="Arial" panose="020B0604020202020204" pitchFamily="34" charset="0"/>
              </a:rPr>
              <a:t>until a predefined number of weak learners is reached</a:t>
            </a:r>
            <a:r>
              <a:rPr lang="en-US" sz="2400" dirty="0" smtClean="0">
                <a:latin typeface="Arial" panose="020B0604020202020204" pitchFamily="34" charset="0"/>
                <a:cs typeface="Arial" panose="020B0604020202020204" pitchFamily="34" charset="0"/>
              </a:rPr>
              <a:t>.</a:t>
            </a:r>
          </a:p>
          <a:p>
            <a:pPr marL="0" indent="0">
              <a:lnSpc>
                <a:spcPct val="150000"/>
              </a:lnSpc>
              <a:buNone/>
            </a:pPr>
            <a:endParaRPr lang="en-US" dirty="0"/>
          </a:p>
        </p:txBody>
      </p:sp>
    </p:spTree>
    <p:extLst>
      <p:ext uri="{BB962C8B-B14F-4D97-AF65-F5344CB8AC3E}">
        <p14:creationId xmlns:p14="http://schemas.microsoft.com/office/powerpoint/2010/main" val="6023731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99592" y="836712"/>
            <a:ext cx="7519074" cy="5466710"/>
          </a:xfrm>
          <a:prstGeom prst="rect">
            <a:avLst/>
          </a:prstGeom>
        </p:spPr>
      </p:pic>
    </p:spTree>
    <p:extLst>
      <p:ext uri="{BB962C8B-B14F-4D97-AF65-F5344CB8AC3E}">
        <p14:creationId xmlns:p14="http://schemas.microsoft.com/office/powerpoint/2010/main" val="20436810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04088"/>
            <a:ext cx="8305800" cy="852704"/>
          </a:xfrm>
        </p:spPr>
        <p:txBody>
          <a:bodyPr>
            <a:normAutofit/>
          </a:bodyPr>
          <a:lstStyle/>
          <a:p>
            <a:pPr algn="ctr"/>
            <a:r>
              <a:rPr lang="en-US" sz="3600" b="1" dirty="0"/>
              <a:t>Stage wise Additive method</a:t>
            </a:r>
          </a:p>
        </p:txBody>
      </p:sp>
      <p:pic>
        <p:nvPicPr>
          <p:cNvPr id="13" name="Picture 12"/>
          <p:cNvPicPr>
            <a:picLocks noChangeAspect="1"/>
          </p:cNvPicPr>
          <p:nvPr/>
        </p:nvPicPr>
        <p:blipFill>
          <a:blip r:embed="rId2"/>
          <a:stretch>
            <a:fillRect/>
          </a:stretch>
        </p:blipFill>
        <p:spPr>
          <a:xfrm>
            <a:off x="-108520" y="1700808"/>
            <a:ext cx="8871520" cy="4320480"/>
          </a:xfrm>
          <a:prstGeom prst="rect">
            <a:avLst/>
          </a:prstGeom>
        </p:spPr>
      </p:pic>
    </p:spTree>
    <p:extLst>
      <p:ext uri="{BB962C8B-B14F-4D97-AF65-F5344CB8AC3E}">
        <p14:creationId xmlns:p14="http://schemas.microsoft.com/office/powerpoint/2010/main" val="38036730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404664"/>
            <a:ext cx="8229600" cy="1008112"/>
          </a:xfrm>
        </p:spPr>
        <p:txBody>
          <a:bodyPr>
            <a:noAutofit/>
          </a:bodyPr>
          <a:lstStyle/>
          <a:p>
            <a:r>
              <a:rPr lang="en-US" sz="4000" b="1" dirty="0"/>
              <a:t>ADA boost with numerical example</a:t>
            </a:r>
          </a:p>
        </p:txBody>
      </p:sp>
      <p:sp>
        <p:nvSpPr>
          <p:cNvPr id="3" name="Content Placeholder 2"/>
          <p:cNvSpPr>
            <a:spLocks noGrp="1"/>
          </p:cNvSpPr>
          <p:nvPr>
            <p:ph idx="1"/>
          </p:nvPr>
        </p:nvSpPr>
        <p:spPr>
          <a:xfrm>
            <a:off x="0" y="1700808"/>
            <a:ext cx="8964488" cy="936104"/>
          </a:xfrm>
        </p:spPr>
        <p:txBody>
          <a:bodyPr>
            <a:noAutofit/>
          </a:bodyPr>
          <a:lstStyle/>
          <a:p>
            <a:pPr>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Suppose </a:t>
            </a:r>
            <a:r>
              <a:rPr lang="en-US" sz="2400" dirty="0">
                <a:latin typeface="Arial" panose="020B0604020202020204" pitchFamily="34" charset="0"/>
                <a:cs typeface="Arial" panose="020B0604020202020204" pitchFamily="34" charset="0"/>
              </a:rPr>
              <a:t>we have a simple </a:t>
            </a:r>
            <a:r>
              <a:rPr lang="en-US" sz="2400" dirty="0" smtClean="0">
                <a:latin typeface="Arial" panose="020B0604020202020204" pitchFamily="34" charset="0"/>
                <a:cs typeface="Arial" panose="020B0604020202020204" pitchFamily="34" charset="0"/>
              </a:rPr>
              <a:t>dataset with n observation and for model making took n1 samples.:</a:t>
            </a:r>
            <a:endParaRPr lang="en-US" sz="2400" dirty="0">
              <a:latin typeface="Arial" panose="020B0604020202020204" pitchFamily="34" charset="0"/>
              <a:cs typeface="Arial" panose="020B0604020202020204"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850165306"/>
              </p:ext>
            </p:extLst>
          </p:nvPr>
        </p:nvGraphicFramePr>
        <p:xfrm>
          <a:off x="390174" y="2643292"/>
          <a:ext cx="8568950" cy="3754560"/>
        </p:xfrm>
        <a:graphic>
          <a:graphicData uri="http://schemas.openxmlformats.org/drawingml/2006/table">
            <a:tbl>
              <a:tblPr firstRow="1" bandRow="1">
                <a:tableStyleId>{5C22544A-7EE6-4342-B048-85BDC9FD1C3A}</a:tableStyleId>
              </a:tblPr>
              <a:tblGrid>
                <a:gridCol w="1713790"/>
                <a:gridCol w="1713790"/>
                <a:gridCol w="1713790"/>
                <a:gridCol w="1713790"/>
                <a:gridCol w="1713790"/>
              </a:tblGrid>
              <a:tr h="740810">
                <a:tc>
                  <a:txBody>
                    <a:bodyPr/>
                    <a:lstStyle/>
                    <a:p>
                      <a:r>
                        <a:rPr lang="en-US" sz="2400" dirty="0" smtClean="0"/>
                        <a:t>X1</a:t>
                      </a:r>
                      <a:endParaRPr lang="en-US" sz="2400" dirty="0"/>
                    </a:p>
                  </a:txBody>
                  <a:tcPr/>
                </a:tc>
                <a:tc>
                  <a:txBody>
                    <a:bodyPr/>
                    <a:lstStyle/>
                    <a:p>
                      <a:r>
                        <a:rPr lang="en-US" sz="2400" dirty="0" smtClean="0"/>
                        <a:t>X2</a:t>
                      </a:r>
                      <a:endParaRPr lang="en-US" sz="2400" dirty="0"/>
                    </a:p>
                  </a:txBody>
                  <a:tcPr/>
                </a:tc>
                <a:tc>
                  <a:txBody>
                    <a:bodyPr/>
                    <a:lstStyle/>
                    <a:p>
                      <a:r>
                        <a:rPr lang="en-US" sz="2400" dirty="0" smtClean="0"/>
                        <a:t>X3</a:t>
                      </a:r>
                      <a:endParaRPr lang="en-US" sz="2400" dirty="0"/>
                    </a:p>
                  </a:txBody>
                  <a:tcPr/>
                </a:tc>
                <a:tc>
                  <a:txBody>
                    <a:bodyPr/>
                    <a:lstStyle/>
                    <a:p>
                      <a:r>
                        <a:rPr lang="en-US" sz="2400" dirty="0" smtClean="0"/>
                        <a:t>Y</a:t>
                      </a:r>
                      <a:endParaRPr lang="en-US" sz="2400" dirty="0"/>
                    </a:p>
                  </a:txBody>
                  <a:tcPr/>
                </a:tc>
                <a:tc>
                  <a:txBody>
                    <a:bodyPr/>
                    <a:lstStyle/>
                    <a:p>
                      <a:r>
                        <a:rPr lang="en-US" sz="2400" dirty="0" smtClean="0"/>
                        <a:t>Sample</a:t>
                      </a:r>
                      <a:r>
                        <a:rPr lang="en-US" sz="2400" baseline="0" dirty="0" smtClean="0"/>
                        <a:t> weight</a:t>
                      </a:r>
                      <a:endParaRPr lang="en-US" sz="2400" dirty="0"/>
                    </a:p>
                  </a:txBody>
                  <a:tcPr/>
                </a:tc>
              </a:tr>
              <a:tr h="586320">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1</a:t>
                      </a:r>
                      <a:endParaRPr lang="en-US" sz="2400" dirty="0"/>
                    </a:p>
                  </a:txBody>
                  <a:tcPr/>
                </a:tc>
                <a:tc>
                  <a:txBody>
                    <a:bodyPr/>
                    <a:lstStyle/>
                    <a:p>
                      <a:r>
                        <a:rPr lang="en-US" sz="2400" dirty="0" smtClean="0"/>
                        <a:t>1/5</a:t>
                      </a:r>
                      <a:endParaRPr lang="en-US" sz="2400" dirty="0"/>
                    </a:p>
                  </a:txBody>
                  <a:tcPr/>
                </a:tc>
              </a:tr>
              <a:tr h="586320">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0</a:t>
                      </a:r>
                      <a:endParaRPr lang="en-US" sz="2400" dirty="0"/>
                    </a:p>
                  </a:txBody>
                  <a:tcPr/>
                </a:tc>
                <a:tc>
                  <a:txBody>
                    <a:bodyPr/>
                    <a:lstStyle/>
                    <a:p>
                      <a:r>
                        <a:rPr lang="en-US" sz="2400" dirty="0" smtClean="0"/>
                        <a:t>1/5</a:t>
                      </a:r>
                      <a:endParaRPr lang="en-US" sz="2400" dirty="0"/>
                    </a:p>
                  </a:txBody>
                  <a:tcPr/>
                </a:tc>
              </a:tr>
              <a:tr h="586320">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1</a:t>
                      </a:r>
                      <a:endParaRPr lang="en-US" sz="2400" dirty="0"/>
                    </a:p>
                  </a:txBody>
                  <a:tcPr/>
                </a:tc>
                <a:tc>
                  <a:txBody>
                    <a:bodyPr/>
                    <a:lstStyle/>
                    <a:p>
                      <a:r>
                        <a:rPr lang="en-US" sz="2400" dirty="0" smtClean="0"/>
                        <a:t>1/5</a:t>
                      </a:r>
                      <a:endParaRPr lang="en-US" sz="2400" dirty="0"/>
                    </a:p>
                  </a:txBody>
                  <a:tcPr/>
                </a:tc>
              </a:tr>
              <a:tr h="586320">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0</a:t>
                      </a:r>
                      <a:endParaRPr lang="en-US" sz="2400" dirty="0"/>
                    </a:p>
                  </a:txBody>
                  <a:tcPr/>
                </a:tc>
                <a:tc>
                  <a:txBody>
                    <a:bodyPr/>
                    <a:lstStyle/>
                    <a:p>
                      <a:r>
                        <a:rPr lang="en-US" sz="2400" dirty="0" smtClean="0"/>
                        <a:t>1/5</a:t>
                      </a:r>
                      <a:endParaRPr lang="en-US" sz="2400" dirty="0"/>
                    </a:p>
                  </a:txBody>
                  <a:tcPr/>
                </a:tc>
              </a:tr>
              <a:tr h="586320">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1</a:t>
                      </a:r>
                      <a:endParaRPr lang="en-US" sz="2400" dirty="0"/>
                    </a:p>
                  </a:txBody>
                  <a:tcPr/>
                </a:tc>
                <a:tc>
                  <a:txBody>
                    <a:bodyPr/>
                    <a:lstStyle/>
                    <a:p>
                      <a:r>
                        <a:rPr lang="en-US" sz="2400" dirty="0" smtClean="0"/>
                        <a:t>1/5</a:t>
                      </a:r>
                      <a:endParaRPr lang="en-US" sz="2400" dirty="0"/>
                    </a:p>
                  </a:txBody>
                  <a:tcPr/>
                </a:tc>
              </a:tr>
            </a:tbl>
          </a:graphicData>
        </a:graphic>
      </p:graphicFrame>
    </p:spTree>
    <p:extLst>
      <p:ext uri="{BB962C8B-B14F-4D97-AF65-F5344CB8AC3E}">
        <p14:creationId xmlns:p14="http://schemas.microsoft.com/office/powerpoint/2010/main" val="28819848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60648"/>
            <a:ext cx="8712968" cy="5616624"/>
          </a:xfrm>
        </p:spPr>
        <p:txBody>
          <a:bodyPr>
            <a:normAutofit/>
          </a:bodyPr>
          <a:lstStyle/>
          <a:p>
            <a:pPr>
              <a:buFont typeface="Wingdings" panose="05000000000000000000" pitchFamily="2" charset="2"/>
              <a:buChar char="Ø"/>
            </a:pPr>
            <a:r>
              <a:rPr lang="en-US" sz="2400" b="1" dirty="0" smtClean="0"/>
              <a:t>Step 1:</a:t>
            </a:r>
          </a:p>
          <a:p>
            <a:pPr lvl="1">
              <a:buFont typeface="Wingdings" panose="05000000000000000000" pitchFamily="2" charset="2"/>
              <a:buChar char="Ø"/>
            </a:pPr>
            <a:r>
              <a:rPr lang="en-US" b="1" dirty="0" smtClean="0"/>
              <a:t>Initialization</a:t>
            </a:r>
            <a:r>
              <a:rPr lang="en-US" b="1" dirty="0"/>
              <a:t>:</a:t>
            </a:r>
          </a:p>
          <a:p>
            <a:pPr lvl="1">
              <a:buFont typeface="Wingdings" panose="05000000000000000000" pitchFamily="2" charset="2"/>
              <a:buChar char="Ø"/>
            </a:pPr>
            <a:r>
              <a:rPr lang="en-US" dirty="0"/>
              <a:t>Weights are initialized uniformly</a:t>
            </a:r>
            <a:r>
              <a:rPr lang="en-US" dirty="0" smtClean="0"/>
              <a:t>: 1/no of rows</a:t>
            </a:r>
            <a:endParaRPr lang="en-US" dirty="0"/>
          </a:p>
          <a:p>
            <a:pPr algn="ctr">
              <a:buFont typeface="Wingdings" panose="05000000000000000000" pitchFamily="2" charset="2"/>
              <a:buChar char="Ø"/>
            </a:pPr>
            <a:r>
              <a:rPr lang="en-US" sz="2400" dirty="0"/>
              <a:t>𝑤1=𝑤2=𝑤3=𝑤4</a:t>
            </a:r>
            <a:r>
              <a:rPr lang="en-US" sz="2400" dirty="0" smtClean="0"/>
              <a:t>=𝑤5 = 1/5</a:t>
            </a:r>
            <a:endParaRPr lang="en-US" sz="2400" dirty="0"/>
          </a:p>
          <a:p>
            <a:pPr>
              <a:buFont typeface="Wingdings" panose="05000000000000000000" pitchFamily="2" charset="2"/>
              <a:buChar char="Ø"/>
            </a:pPr>
            <a:r>
              <a:rPr lang="en-US" sz="2400" b="1" dirty="0"/>
              <a:t>Step </a:t>
            </a:r>
            <a:r>
              <a:rPr lang="en-US" sz="2400" b="1" dirty="0" smtClean="0"/>
              <a:t>2: </a:t>
            </a:r>
          </a:p>
          <a:p>
            <a:pPr lvl="1">
              <a:buFont typeface="Wingdings" panose="05000000000000000000" pitchFamily="2" charset="2"/>
              <a:buChar char="Ø"/>
            </a:pPr>
            <a:r>
              <a:rPr lang="en-US" b="1" dirty="0" smtClean="0"/>
              <a:t>Calculate total error: </a:t>
            </a:r>
            <a:r>
              <a:rPr lang="en-US" dirty="0" smtClean="0"/>
              <a:t>sum of sample weight for wrong prediction. Here it is : (1/5)+(1/5) = 2/5</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460950566"/>
              </p:ext>
            </p:extLst>
          </p:nvPr>
        </p:nvGraphicFramePr>
        <p:xfrm>
          <a:off x="179514" y="3551944"/>
          <a:ext cx="8496941" cy="3193915"/>
        </p:xfrm>
        <a:graphic>
          <a:graphicData uri="http://schemas.openxmlformats.org/drawingml/2006/table">
            <a:tbl>
              <a:tblPr firstRow="1" bandRow="1">
                <a:tableStyleId>{5C22544A-7EE6-4342-B048-85BDC9FD1C3A}</a:tableStyleId>
              </a:tblPr>
              <a:tblGrid>
                <a:gridCol w="649070"/>
                <a:gridCol w="590066"/>
                <a:gridCol w="944105"/>
                <a:gridCol w="985109"/>
                <a:gridCol w="1584176"/>
                <a:gridCol w="1728192"/>
                <a:gridCol w="2016223"/>
              </a:tblGrid>
              <a:tr h="818468">
                <a:tc>
                  <a:txBody>
                    <a:bodyPr/>
                    <a:lstStyle/>
                    <a:p>
                      <a:r>
                        <a:rPr lang="en-US" sz="2400" dirty="0" smtClean="0"/>
                        <a:t>X1</a:t>
                      </a:r>
                      <a:endParaRPr lang="en-US" sz="2400" dirty="0"/>
                    </a:p>
                  </a:txBody>
                  <a:tcPr/>
                </a:tc>
                <a:tc>
                  <a:txBody>
                    <a:bodyPr/>
                    <a:lstStyle/>
                    <a:p>
                      <a:r>
                        <a:rPr lang="en-US" sz="2400" dirty="0" smtClean="0"/>
                        <a:t>X2</a:t>
                      </a:r>
                      <a:endParaRPr lang="en-US" sz="2400" dirty="0"/>
                    </a:p>
                  </a:txBody>
                  <a:tcPr/>
                </a:tc>
                <a:tc>
                  <a:txBody>
                    <a:bodyPr/>
                    <a:lstStyle/>
                    <a:p>
                      <a:r>
                        <a:rPr lang="en-US" sz="2400" dirty="0" smtClean="0"/>
                        <a:t>X3</a:t>
                      </a:r>
                      <a:endParaRPr lang="en-US" sz="2400" dirty="0"/>
                    </a:p>
                  </a:txBody>
                  <a:tcPr/>
                </a:tc>
                <a:tc>
                  <a:txBody>
                    <a:bodyPr/>
                    <a:lstStyle/>
                    <a:p>
                      <a:r>
                        <a:rPr lang="en-US" sz="2400" dirty="0" smtClean="0"/>
                        <a:t>Y</a:t>
                      </a:r>
                      <a:endParaRPr lang="en-US" sz="2400" dirty="0"/>
                    </a:p>
                  </a:txBody>
                  <a:tcPr/>
                </a:tc>
                <a:tc>
                  <a:txBody>
                    <a:bodyPr/>
                    <a:lstStyle/>
                    <a:p>
                      <a:r>
                        <a:rPr lang="en-US" sz="2400" dirty="0" smtClean="0"/>
                        <a:t>Status</a:t>
                      </a:r>
                      <a:endParaRPr lang="en-US" sz="2400" dirty="0"/>
                    </a:p>
                  </a:txBody>
                  <a:tcPr/>
                </a:tc>
                <a:tc>
                  <a:txBody>
                    <a:bodyPr/>
                    <a:lstStyle/>
                    <a:p>
                      <a:r>
                        <a:rPr lang="en-US" sz="2400" dirty="0" smtClean="0"/>
                        <a:t>Sample</a:t>
                      </a:r>
                      <a:r>
                        <a:rPr lang="en-US" sz="2400" baseline="0" dirty="0" smtClean="0"/>
                        <a:t> weight</a:t>
                      </a:r>
                      <a:endParaRPr lang="en-US" sz="2400" dirty="0"/>
                    </a:p>
                  </a:txBody>
                  <a:tcPr/>
                </a:tc>
                <a:tc>
                  <a:txBody>
                    <a:bodyPr/>
                    <a:lstStyle/>
                    <a:p>
                      <a:r>
                        <a:rPr lang="en-US" sz="2400" dirty="0" smtClean="0"/>
                        <a:t>Total Error</a:t>
                      </a:r>
                      <a:endParaRPr lang="en-US" sz="2400" dirty="0"/>
                    </a:p>
                  </a:txBody>
                  <a:tcPr/>
                </a:tc>
              </a:tr>
              <a:tr h="474191">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1</a:t>
                      </a:r>
                      <a:endParaRPr lang="en-US" sz="2400" dirty="0"/>
                    </a:p>
                  </a:txBody>
                  <a:tcPr/>
                </a:tc>
                <a:tc>
                  <a:txBody>
                    <a:bodyPr/>
                    <a:lstStyle/>
                    <a:p>
                      <a:r>
                        <a:rPr lang="en-US" sz="2400" dirty="0" smtClean="0"/>
                        <a:t>Correct</a:t>
                      </a:r>
                      <a:endParaRPr lang="en-US" sz="2400" dirty="0"/>
                    </a:p>
                  </a:txBody>
                  <a:tcPr/>
                </a:tc>
                <a:tc>
                  <a:txBody>
                    <a:bodyPr/>
                    <a:lstStyle/>
                    <a:p>
                      <a:r>
                        <a:rPr lang="en-US" sz="2400" dirty="0" smtClean="0"/>
                        <a:t>1/5</a:t>
                      </a:r>
                      <a:endParaRPr lang="en-US" sz="2400" dirty="0"/>
                    </a:p>
                  </a:txBody>
                  <a:tcPr/>
                </a:tc>
                <a:tc rowSpan="5">
                  <a:txBody>
                    <a:bodyPr/>
                    <a:lstStyle/>
                    <a:p>
                      <a:pPr algn="ctr"/>
                      <a:endParaRPr lang="en-US" sz="2400" dirty="0" smtClean="0"/>
                    </a:p>
                    <a:p>
                      <a:pPr algn="ctr"/>
                      <a:endParaRPr lang="en-US" sz="2400" dirty="0" smtClean="0"/>
                    </a:p>
                    <a:p>
                      <a:pPr algn="ctr"/>
                      <a:r>
                        <a:rPr lang="en-US" sz="2400" dirty="0" smtClean="0"/>
                        <a:t>= </a:t>
                      </a:r>
                      <a:r>
                        <a:rPr lang="en-US" sz="2400" dirty="0" smtClean="0"/>
                        <a:t>2/5 = 0.4</a:t>
                      </a:r>
                    </a:p>
                    <a:p>
                      <a:pPr algn="ctr"/>
                      <a:endParaRPr lang="en-US" sz="2400" dirty="0" smtClean="0"/>
                    </a:p>
                  </a:txBody>
                  <a:tcPr/>
                </a:tc>
              </a:tr>
              <a:tr h="474191">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pPr marL="0" algn="l" rtl="0" eaLnBrk="1" latinLnBrk="0" hangingPunct="1"/>
                      <a:r>
                        <a:rPr kumimoji="0" lang="en-US" sz="2400" kern="1200" dirty="0" smtClean="0">
                          <a:solidFill>
                            <a:schemeClr val="dk1"/>
                          </a:solidFill>
                          <a:latin typeface="+mn-lt"/>
                          <a:ea typeface="+mn-ea"/>
                          <a:cs typeface="+mn-cs"/>
                        </a:rPr>
                        <a:t>0</a:t>
                      </a:r>
                      <a:endParaRPr kumimoji="0" lang="en-US" sz="2400" kern="1200" dirty="0">
                        <a:solidFill>
                          <a:schemeClr val="dk1"/>
                        </a:solidFill>
                        <a:latin typeface="+mn-lt"/>
                        <a:ea typeface="+mn-ea"/>
                        <a:cs typeface="+mn-cs"/>
                      </a:endParaRPr>
                    </a:p>
                  </a:txBody>
                  <a:tcPr/>
                </a:tc>
                <a:tc>
                  <a:txBody>
                    <a:bodyPr/>
                    <a:lstStyle/>
                    <a:p>
                      <a:pPr marL="0" algn="l" rtl="0" eaLnBrk="1" latinLnBrk="0" hangingPunct="1"/>
                      <a:r>
                        <a:rPr kumimoji="0" lang="en-US" sz="2400" kern="1200" dirty="0" smtClean="0">
                          <a:solidFill>
                            <a:schemeClr val="dk1"/>
                          </a:solidFill>
                          <a:latin typeface="+mn-lt"/>
                          <a:ea typeface="+mn-ea"/>
                          <a:cs typeface="+mn-cs"/>
                        </a:rPr>
                        <a:t>Wrong</a:t>
                      </a:r>
                      <a:endParaRPr kumimoji="0" lang="en-US" sz="2400" kern="1200" dirty="0">
                        <a:solidFill>
                          <a:schemeClr val="dk1"/>
                        </a:solidFill>
                        <a:latin typeface="+mn-lt"/>
                        <a:ea typeface="+mn-ea"/>
                        <a:cs typeface="+mn-cs"/>
                      </a:endParaRPr>
                    </a:p>
                  </a:txBody>
                  <a:tcPr/>
                </a:tc>
                <a:tc>
                  <a:txBody>
                    <a:bodyPr/>
                    <a:lstStyle/>
                    <a:p>
                      <a:r>
                        <a:rPr lang="en-US" dirty="0" smtClean="0"/>
                        <a:t>1/5</a:t>
                      </a:r>
                      <a:endParaRPr lang="en-US" dirty="0"/>
                    </a:p>
                  </a:txBody>
                  <a:tcPr/>
                </a:tc>
                <a:tc vMerge="1">
                  <a:txBody>
                    <a:bodyPr/>
                    <a:lstStyle/>
                    <a:p>
                      <a:endParaRPr lang="en-US" dirty="0"/>
                    </a:p>
                  </a:txBody>
                  <a:tcPr/>
                </a:tc>
              </a:tr>
              <a:tr h="474191">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1</a:t>
                      </a:r>
                      <a:endParaRPr lang="en-US" sz="2400" dirty="0"/>
                    </a:p>
                  </a:txBody>
                  <a:tcPr/>
                </a:tc>
                <a:tc>
                  <a:txBody>
                    <a:bodyPr/>
                    <a:lstStyle/>
                    <a:p>
                      <a:r>
                        <a:rPr lang="en-US" sz="2400" dirty="0" smtClean="0"/>
                        <a:t>Correct</a:t>
                      </a:r>
                      <a:endParaRPr lang="en-US" sz="2400" dirty="0"/>
                    </a:p>
                  </a:txBody>
                  <a:tcPr/>
                </a:tc>
                <a:tc>
                  <a:txBody>
                    <a:bodyPr/>
                    <a:lstStyle/>
                    <a:p>
                      <a:r>
                        <a:rPr lang="en-US" sz="2400" dirty="0" smtClean="0"/>
                        <a:t>1/5</a:t>
                      </a:r>
                      <a:endParaRPr lang="en-US" sz="2400" dirty="0"/>
                    </a:p>
                  </a:txBody>
                  <a:tcPr/>
                </a:tc>
                <a:tc vMerge="1">
                  <a:txBody>
                    <a:bodyPr/>
                    <a:lstStyle/>
                    <a:p>
                      <a:endParaRPr lang="en-US" dirty="0"/>
                    </a:p>
                  </a:txBody>
                  <a:tcPr/>
                </a:tc>
              </a:tr>
              <a:tr h="474191">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b="1" dirty="0" smtClean="0"/>
                        <a:t>0</a:t>
                      </a:r>
                      <a:endParaRPr lang="en-US" sz="2400" b="1" dirty="0"/>
                    </a:p>
                  </a:txBody>
                  <a:tcPr/>
                </a:tc>
                <a:tc>
                  <a:txBody>
                    <a:bodyPr/>
                    <a:lstStyle/>
                    <a:p>
                      <a:r>
                        <a:rPr lang="en-US" sz="2400" b="1" dirty="0" smtClean="0"/>
                        <a:t>Wrong</a:t>
                      </a:r>
                      <a:endParaRPr lang="en-US" sz="2400" b="1" dirty="0"/>
                    </a:p>
                  </a:txBody>
                  <a:tcPr/>
                </a:tc>
                <a:tc>
                  <a:txBody>
                    <a:bodyPr/>
                    <a:lstStyle/>
                    <a:p>
                      <a:r>
                        <a:rPr lang="en-US" sz="2400" dirty="0" smtClean="0"/>
                        <a:t>1/5</a:t>
                      </a:r>
                      <a:endParaRPr lang="en-US" sz="2400" dirty="0"/>
                    </a:p>
                  </a:txBody>
                  <a:tcPr/>
                </a:tc>
                <a:tc vMerge="1">
                  <a:txBody>
                    <a:bodyPr/>
                    <a:lstStyle/>
                    <a:p>
                      <a:endParaRPr lang="en-US" dirty="0"/>
                    </a:p>
                  </a:txBody>
                  <a:tcPr/>
                </a:tc>
              </a:tr>
              <a:tr h="474191">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a:t>
                      </a:r>
                      <a:endParaRPr lang="en-US" sz="2400" dirty="0"/>
                    </a:p>
                  </a:txBody>
                  <a:tcPr/>
                </a:tc>
                <a:tc>
                  <a:txBody>
                    <a:bodyPr/>
                    <a:lstStyle/>
                    <a:p>
                      <a:r>
                        <a:rPr lang="en-US" sz="2400" dirty="0" smtClean="0"/>
                        <a:t>1</a:t>
                      </a:r>
                      <a:endParaRPr lang="en-US" sz="2400" dirty="0"/>
                    </a:p>
                  </a:txBody>
                  <a:tcPr/>
                </a:tc>
                <a:tc>
                  <a:txBody>
                    <a:bodyPr/>
                    <a:lstStyle/>
                    <a:p>
                      <a:r>
                        <a:rPr lang="en-US" sz="2400" dirty="0" smtClean="0"/>
                        <a:t>Correct</a:t>
                      </a:r>
                      <a:endParaRPr lang="en-US" sz="2400" dirty="0"/>
                    </a:p>
                  </a:txBody>
                  <a:tcPr/>
                </a:tc>
                <a:tc>
                  <a:txBody>
                    <a:bodyPr/>
                    <a:lstStyle/>
                    <a:p>
                      <a:r>
                        <a:rPr lang="en-US" sz="2400" dirty="0" smtClean="0"/>
                        <a:t>1/5</a:t>
                      </a:r>
                      <a:endParaRPr lang="en-US" sz="2400" dirty="0"/>
                    </a:p>
                  </a:txBody>
                  <a:tcPr/>
                </a:tc>
                <a:tc vMerge="1">
                  <a:txBody>
                    <a:bodyPr/>
                    <a:lstStyle/>
                    <a:p>
                      <a:endParaRPr lang="en-US" dirty="0"/>
                    </a:p>
                  </a:txBody>
                  <a:tcPr/>
                </a:tc>
              </a:tr>
            </a:tbl>
          </a:graphicData>
        </a:graphic>
      </p:graphicFrame>
    </p:spTree>
    <p:extLst>
      <p:ext uri="{BB962C8B-B14F-4D97-AF65-F5344CB8AC3E}">
        <p14:creationId xmlns:p14="http://schemas.microsoft.com/office/powerpoint/2010/main" val="12874694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9512" y="1484784"/>
            <a:ext cx="8401383" cy="4536504"/>
          </a:xfrm>
          <a:prstGeom prst="rect">
            <a:avLst/>
          </a:prstGeom>
        </p:spPr>
      </p:pic>
    </p:spTree>
    <p:extLst>
      <p:ext uri="{BB962C8B-B14F-4D97-AF65-F5344CB8AC3E}">
        <p14:creationId xmlns:p14="http://schemas.microsoft.com/office/powerpoint/2010/main" val="82777388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548680"/>
            <a:ext cx="8229600" cy="1008112"/>
          </a:xfrm>
        </p:spPr>
        <p:txBody>
          <a:bodyPr>
            <a:noAutofit/>
          </a:bodyPr>
          <a:lstStyle/>
          <a:p>
            <a:r>
              <a:rPr lang="en-US" sz="2800" b="1" dirty="0"/>
              <a:t>Step 3: </a:t>
            </a:r>
            <a:r>
              <a:rPr lang="en-US" sz="2800" b="1" dirty="0" smtClean="0"/>
              <a:t>Calculate alpha:</a:t>
            </a:r>
            <a:r>
              <a:rPr lang="en-US" sz="2800" b="1" dirty="0" smtClean="0"/>
              <a:t/>
            </a:r>
            <a:br>
              <a:rPr lang="en-US" sz="2800" b="1" dirty="0" smtClean="0"/>
            </a:br>
            <a:endParaRPr lang="en-US" sz="2800" b="1" dirty="0"/>
          </a:p>
        </p:txBody>
      </p:sp>
      <p:pic>
        <p:nvPicPr>
          <p:cNvPr id="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7544" y="4065731"/>
            <a:ext cx="3960440"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a14="http://schemas.microsoft.com/office/drawing/2010/main" Requires="a14">
          <p:sp>
            <p:nvSpPr>
              <p:cNvPr id="5" name="Rectangle 4"/>
              <p:cNvSpPr/>
              <p:nvPr/>
            </p:nvSpPr>
            <p:spPr>
              <a:xfrm>
                <a:off x="4044424" y="4733952"/>
                <a:ext cx="5112568" cy="192225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2</m:t>
                          </m:r>
                        </m:den>
                      </m:f>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ln</m:t>
                          </m:r>
                        </m:fName>
                        <m:e>
                          <m:d>
                            <m:dPr>
                              <m:ctrlPr>
                                <a:rPr lang="en-US" sz="2800" b="0" i="1" smtClean="0">
                                  <a:latin typeface="Cambria Math" panose="02040503050406030204" pitchFamily="18" charset="0"/>
                                </a:rPr>
                              </m:ctrlPr>
                            </m:dPr>
                            <m:e>
                              <m:f>
                                <m:fPr>
                                  <m:ctrlPr>
                                    <a:rPr lang="en-US" sz="2800" i="1" smtClean="0">
                                      <a:latin typeface="Cambria Math" panose="02040503050406030204" pitchFamily="18" charset="0"/>
                                    </a:rPr>
                                  </m:ctrlPr>
                                </m:fPr>
                                <m:num>
                                  <m:r>
                                    <a:rPr lang="en-US" sz="2800">
                                      <a:latin typeface="Cambria Math" panose="02040503050406030204" pitchFamily="18" charset="0"/>
                                    </a:rPr>
                                    <m:t>1−</m:t>
                                  </m:r>
                                  <m:r>
                                    <a:rPr lang="en-US" sz="2800" b="0" i="0" smtClean="0">
                                      <a:latin typeface="Cambria Math" panose="02040503050406030204" pitchFamily="18" charset="0"/>
                                    </a:rPr>
                                    <m:t>0.4</m:t>
                                  </m:r>
                                </m:num>
                                <m:den>
                                  <m:r>
                                    <a:rPr lang="en-US" sz="2800">
                                      <a:latin typeface="Cambria Math" panose="02040503050406030204" pitchFamily="18" charset="0"/>
                                    </a:rPr>
                                    <m:t>(</m:t>
                                  </m:r>
                                  <m:r>
                                    <a:rPr lang="en-US" sz="2800" b="0" i="0" smtClean="0">
                                      <a:latin typeface="Cambria Math" panose="02040503050406030204" pitchFamily="18" charset="0"/>
                                    </a:rPr>
                                    <m:t>0.4</m:t>
                                  </m:r>
                                  <m:r>
                                    <a:rPr lang="en-US" sz="2800">
                                      <a:latin typeface="Cambria Math" panose="02040503050406030204" pitchFamily="18" charset="0"/>
                                    </a:rPr>
                                    <m:t>)</m:t>
                                  </m:r>
                                </m:den>
                              </m:f>
                            </m:e>
                          </m:d>
                        </m:e>
                      </m:func>
                    </m:oMath>
                  </m:oMathPara>
                </a14:m>
                <a:endParaRPr lang="en-US" sz="2800" dirty="0" smtClean="0"/>
              </a:p>
              <a:p>
                <a:endParaRPr lang="en-US" sz="2800" dirty="0"/>
              </a:p>
              <a:p>
                <a:r>
                  <a:rPr lang="en-US" sz="2800" dirty="0" smtClean="0"/>
                  <a:t>           = </a:t>
                </a:r>
                <a:r>
                  <a:rPr lang="en-US" sz="2800" dirty="0" smtClean="0"/>
                  <a:t>0.202</a:t>
                </a:r>
                <a:endParaRPr lang="en-US" sz="2800" dirty="0"/>
              </a:p>
            </p:txBody>
          </p:sp>
        </mc:Choice>
        <mc:Fallback>
          <p:sp>
            <p:nvSpPr>
              <p:cNvPr id="5" name="Rectangle 4"/>
              <p:cNvSpPr>
                <a:spLocks noRot="1" noChangeAspect="1" noMove="1" noResize="1" noEditPoints="1" noAdjustHandles="1" noChangeArrowheads="1" noChangeShapeType="1" noTextEdit="1"/>
              </p:cNvSpPr>
              <p:nvPr/>
            </p:nvSpPr>
            <p:spPr>
              <a:xfrm>
                <a:off x="4044424" y="4733952"/>
                <a:ext cx="5112568" cy="1922257"/>
              </a:xfrm>
              <a:prstGeom prst="rect">
                <a:avLst/>
              </a:prstGeom>
              <a:blipFill rotWithShape="0">
                <a:blip r:embed="rId3"/>
                <a:stretch>
                  <a:fillRect b="-8254"/>
                </a:stretch>
              </a:blipFill>
            </p:spPr>
            <p:txBody>
              <a:bodyPr/>
              <a:lstStyle/>
              <a:p>
                <a:r>
                  <a:rPr lang="en-US">
                    <a:noFill/>
                  </a:rPr>
                  <a:t> </a:t>
                </a:r>
              </a:p>
            </p:txBody>
          </p:sp>
        </mc:Fallback>
      </mc:AlternateContent>
      <p:sp>
        <p:nvSpPr>
          <p:cNvPr id="7" name="Rectangle 6"/>
          <p:cNvSpPr/>
          <p:nvPr/>
        </p:nvSpPr>
        <p:spPr>
          <a:xfrm>
            <a:off x="323528" y="1412776"/>
            <a:ext cx="8568952" cy="2862322"/>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sz="2400" b="1" dirty="0"/>
              <a:t>Based on the error, calculate alpha that will be used to adjust the </a:t>
            </a:r>
            <a:r>
              <a:rPr lang="en-US" sz="2400" b="1" dirty="0" smtClean="0"/>
              <a:t>weight.</a:t>
            </a:r>
          </a:p>
          <a:p>
            <a:pPr marL="285750" indent="-285750">
              <a:lnSpc>
                <a:spcPct val="150000"/>
              </a:lnSpc>
              <a:buFont typeface="Wingdings" panose="05000000000000000000" pitchFamily="2" charset="2"/>
              <a:buChar char="Ø"/>
            </a:pPr>
            <a:r>
              <a:rPr lang="en-US" sz="2400" dirty="0" smtClean="0"/>
              <a:t>If </a:t>
            </a:r>
            <a:r>
              <a:rPr lang="en-US" sz="2400" dirty="0"/>
              <a:t>error is small → α large → model trusted more </a:t>
            </a:r>
            <a:endParaRPr lang="en-US" sz="2400" dirty="0" smtClean="0"/>
          </a:p>
          <a:p>
            <a:pPr marL="285750" indent="-285750">
              <a:lnSpc>
                <a:spcPct val="150000"/>
              </a:lnSpc>
              <a:buFont typeface="Wingdings" panose="05000000000000000000" pitchFamily="2" charset="2"/>
              <a:buChar char="Ø"/>
            </a:pPr>
            <a:r>
              <a:rPr lang="en-US" sz="2400" dirty="0" smtClean="0"/>
              <a:t>If </a:t>
            </a:r>
            <a:r>
              <a:rPr lang="en-US" sz="2400" dirty="0"/>
              <a:t>error close to 0.5 → α small → model weak </a:t>
            </a:r>
          </a:p>
          <a:p>
            <a:pPr marL="285750" indent="-285750">
              <a:lnSpc>
                <a:spcPct val="150000"/>
              </a:lnSpc>
              <a:buFont typeface="Wingdings" panose="05000000000000000000" pitchFamily="2" charset="2"/>
              <a:buChar char="Ø"/>
            </a:pPr>
            <a:endParaRPr lang="en-US" sz="2400" dirty="0"/>
          </a:p>
        </p:txBody>
      </p:sp>
    </p:spTree>
    <p:extLst>
      <p:ext uri="{BB962C8B-B14F-4D97-AF65-F5344CB8AC3E}">
        <p14:creationId xmlns:p14="http://schemas.microsoft.com/office/powerpoint/2010/main" val="11898788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692696"/>
            <a:ext cx="8157592" cy="504056"/>
          </a:xfrm>
        </p:spPr>
        <p:txBody>
          <a:bodyPr>
            <a:normAutofit fontScale="90000"/>
          </a:bodyPr>
          <a:lstStyle/>
          <a:p>
            <a:r>
              <a:rPr lang="en-US" sz="4000" b="1" dirty="0"/>
              <a:t>Step4: </a:t>
            </a:r>
          </a:p>
        </p:txBody>
      </p:sp>
      <p:sp>
        <p:nvSpPr>
          <p:cNvPr id="3" name="Content Placeholder 2"/>
          <p:cNvSpPr>
            <a:spLocks noGrp="1"/>
          </p:cNvSpPr>
          <p:nvPr>
            <p:ph idx="1"/>
          </p:nvPr>
        </p:nvSpPr>
        <p:spPr>
          <a:xfrm>
            <a:off x="81844" y="1628800"/>
            <a:ext cx="8784976" cy="4695800"/>
          </a:xfrm>
        </p:spPr>
        <p:txBody>
          <a:bodyPr>
            <a:normAutofit/>
          </a:bodyPr>
          <a:lstStyle/>
          <a:p>
            <a:pPr>
              <a:buFont typeface="Wingdings" panose="05000000000000000000" pitchFamily="2" charset="2"/>
              <a:buChar char="Ø"/>
            </a:pPr>
            <a:r>
              <a:rPr lang="en-US" sz="2400" b="1" dirty="0" smtClean="0">
                <a:latin typeface="Arial" panose="020B0604020202020204" pitchFamily="34" charset="0"/>
                <a:cs typeface="Arial" panose="020B0604020202020204" pitchFamily="34" charset="0"/>
              </a:rPr>
              <a:t>Increase the weight of wrongly </a:t>
            </a:r>
            <a:r>
              <a:rPr lang="en-US" sz="2400" b="1" dirty="0" smtClean="0">
                <a:latin typeface="Arial" panose="020B0604020202020204" pitchFamily="34" charset="0"/>
                <a:cs typeface="Arial" panose="020B0604020202020204" pitchFamily="34" charset="0"/>
              </a:rPr>
              <a:t>classified</a:t>
            </a:r>
          </a:p>
          <a:p>
            <a:pPr marL="0" indent="0">
              <a:buNone/>
            </a:pPr>
            <a:endParaRPr lang="en-US" sz="2400" b="1" dirty="0" smtClean="0">
              <a:latin typeface="Arial" panose="020B0604020202020204" pitchFamily="34" charset="0"/>
              <a:cs typeface="Arial" panose="020B0604020202020204" pitchFamily="34" charset="0"/>
            </a:endParaRPr>
          </a:p>
          <a:p>
            <a:pPr>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New sample weight = (old sample weight) * e</a:t>
            </a:r>
            <a:r>
              <a:rPr lang="en-US" sz="2400" dirty="0" smtClean="0">
                <a:latin typeface="Arial" panose="020B0604020202020204" pitchFamily="34" charset="0"/>
                <a:cs typeface="Arial" panose="020B0604020202020204" pitchFamily="34" charset="0"/>
              </a:rPr>
              <a:t>**(</a:t>
            </a:r>
            <a:r>
              <a:rPr lang="el-GR" sz="2400" dirty="0" smtClean="0"/>
              <a:t>α</a:t>
            </a:r>
            <a:r>
              <a:rPr lang="en-US" sz="2400" dirty="0" smtClean="0"/>
              <a:t>)</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4" name="TextBox 3"/>
              <p:cNvSpPr txBox="1"/>
              <p:nvPr/>
            </p:nvSpPr>
            <p:spPr>
              <a:xfrm>
                <a:off x="971600" y="3501008"/>
                <a:ext cx="6696744" cy="1756763"/>
              </a:xfrm>
              <a:prstGeom prst="rect">
                <a:avLst/>
              </a:prstGeom>
              <a:noFill/>
            </p:spPr>
            <p:txBody>
              <a:bodyPr wrap="square" lIns="0" tIns="0" rIns="0" bIns="0" rtlCol="0">
                <a:spAutoFit/>
              </a:bodyPr>
              <a:lstStyle/>
              <a:p>
                <a14:m>
                  <m:oMath xmlns:m="http://schemas.openxmlformats.org/officeDocument/2006/math">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𝑊</m:t>
                        </m:r>
                      </m:e>
                      <m:sub>
                        <m:r>
                          <a:rPr lang="en-US" sz="2800" b="0" i="1" dirty="0" smtClean="0">
                            <a:latin typeface="Cambria Math" panose="02040503050406030204" pitchFamily="18" charset="0"/>
                          </a:rPr>
                          <m:t>𝑛𝑒𝑤</m:t>
                        </m:r>
                        <m:r>
                          <a:rPr lang="en-US" sz="2800" b="0" i="1" dirty="0" smtClean="0">
                            <a:latin typeface="Cambria Math" panose="02040503050406030204" pitchFamily="18" charset="0"/>
                          </a:rPr>
                          <m:t>  </m:t>
                        </m:r>
                      </m:sub>
                    </m:sSub>
                  </m:oMath>
                </a14:m>
                <a:r>
                  <a:rPr lang="en-US" sz="2800" dirty="0" smtClean="0"/>
                  <a:t>=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𝑊</m:t>
                        </m:r>
                      </m:e>
                      <m:sub>
                        <m:r>
                          <a:rPr lang="en-US" sz="2800" b="0" i="1" smtClean="0">
                            <a:latin typeface="Cambria Math" panose="02040503050406030204" pitchFamily="18" charset="0"/>
                          </a:rPr>
                          <m:t>𝑜𝑙𝑑</m:t>
                        </m:r>
                        <m:r>
                          <a:rPr lang="en-US" sz="2800" b="0" i="1" smtClean="0">
                            <a:latin typeface="Cambria Math" panose="02040503050406030204" pitchFamily="18" charset="0"/>
                          </a:rPr>
                          <m:t>_</m:t>
                        </m:r>
                        <m:r>
                          <a:rPr lang="en-US" sz="2800" b="0" i="1" smtClean="0">
                            <a:latin typeface="Cambria Math" panose="02040503050406030204" pitchFamily="18" charset="0"/>
                          </a:rPr>
                          <m:t>𝑠𝑎𝑚𝑝𝑙𝑒</m:t>
                        </m:r>
                      </m:sub>
                    </m:sSub>
                  </m:oMath>
                </a14:m>
                <a:r>
                  <a:rPr lang="en-US" sz="2800" dirty="0" smtClean="0"/>
                  <a:t>*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𝑒</m:t>
                        </m:r>
                      </m:e>
                      <m:sup>
                        <m:r>
                          <m:rPr>
                            <m:nor/>
                          </m:rPr>
                          <a:rPr lang="el-GR" sz="2000"/>
                          <m:t>α</m:t>
                        </m:r>
                      </m:sup>
                    </m:sSup>
                  </m:oMath>
                </a14:m>
                <a:endParaRPr lang="en-US" sz="2000" dirty="0" smtClean="0"/>
              </a:p>
              <a:p>
                <a:endParaRPr lang="en-US" sz="2800" dirty="0" smtClean="0"/>
              </a:p>
              <a:p>
                <a:r>
                  <a:rPr lang="en-US" sz="2800" dirty="0" smtClean="0"/>
                  <a:t>           = 1/5 * e**</a:t>
                </a:r>
                <a:r>
                  <a:rPr lang="en-US" sz="2800" dirty="0" smtClean="0"/>
                  <a:t>0.202</a:t>
                </a:r>
                <a:endParaRPr lang="en-US" sz="2800" dirty="0" smtClean="0"/>
              </a:p>
              <a:p>
                <a:r>
                  <a:rPr lang="en-US" sz="2800" dirty="0"/>
                  <a:t> </a:t>
                </a:r>
                <a:r>
                  <a:rPr lang="en-US" sz="2800" dirty="0" smtClean="0"/>
                  <a:t>          = </a:t>
                </a:r>
                <a:r>
                  <a:rPr lang="en-US" sz="2800" dirty="0" smtClean="0"/>
                  <a:t>0.2448 </a:t>
                </a:r>
                <a:endParaRPr lang="en-US" sz="2800" dirty="0"/>
              </a:p>
            </p:txBody>
          </p:sp>
        </mc:Choice>
        <mc:Fallback>
          <p:sp>
            <p:nvSpPr>
              <p:cNvPr id="4" name="TextBox 3"/>
              <p:cNvSpPr txBox="1">
                <a:spLocks noRot="1" noChangeAspect="1" noMove="1" noResize="1" noEditPoints="1" noAdjustHandles="1" noChangeArrowheads="1" noChangeShapeType="1" noTextEdit="1"/>
              </p:cNvSpPr>
              <p:nvPr/>
            </p:nvSpPr>
            <p:spPr>
              <a:xfrm>
                <a:off x="971600" y="3501008"/>
                <a:ext cx="6696744" cy="1756763"/>
              </a:xfrm>
              <a:prstGeom prst="rect">
                <a:avLst/>
              </a:prstGeom>
              <a:blipFill rotWithShape="0">
                <a:blip r:embed="rId2"/>
                <a:stretch>
                  <a:fillRect t="-5903" b="-11806"/>
                </a:stretch>
              </a:blipFill>
            </p:spPr>
            <p:txBody>
              <a:bodyPr/>
              <a:lstStyle/>
              <a:p>
                <a:r>
                  <a:rPr lang="en-US">
                    <a:noFill/>
                  </a:rPr>
                  <a:t> </a:t>
                </a:r>
              </a:p>
            </p:txBody>
          </p:sp>
        </mc:Fallback>
      </mc:AlternateContent>
    </p:spTree>
    <p:extLst>
      <p:ext uri="{BB962C8B-B14F-4D97-AF65-F5344CB8AC3E}">
        <p14:creationId xmlns:p14="http://schemas.microsoft.com/office/powerpoint/2010/main" val="7940511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80696"/>
          </a:xfrm>
        </p:spPr>
        <p:txBody>
          <a:bodyPr>
            <a:normAutofit/>
          </a:bodyPr>
          <a:lstStyle/>
          <a:p>
            <a:r>
              <a:rPr lang="en-US" sz="4000" b="1" dirty="0"/>
              <a:t>Step 5:</a:t>
            </a:r>
          </a:p>
        </p:txBody>
      </p:sp>
      <p:sp>
        <p:nvSpPr>
          <p:cNvPr id="3" name="Content Placeholder 2"/>
          <p:cNvSpPr>
            <a:spLocks noGrp="1"/>
          </p:cNvSpPr>
          <p:nvPr>
            <p:ph idx="1"/>
          </p:nvPr>
        </p:nvSpPr>
        <p:spPr>
          <a:xfrm>
            <a:off x="107504" y="1628800"/>
            <a:ext cx="8856984" cy="4389120"/>
          </a:xfrm>
        </p:spPr>
        <p:txBody>
          <a:bodyPr>
            <a:normAutofit/>
          </a:bodyPr>
          <a:lstStyle/>
          <a:p>
            <a:pPr>
              <a:lnSpc>
                <a:spcPct val="150000"/>
              </a:lnSpc>
              <a:buFont typeface="Wingdings" panose="05000000000000000000" pitchFamily="2" charset="2"/>
              <a:buChar char="Ø"/>
            </a:pPr>
            <a:r>
              <a:rPr lang="en-US" sz="2400" b="1" dirty="0" smtClean="0">
                <a:latin typeface="Arial" panose="020B0604020202020204" pitchFamily="34" charset="0"/>
                <a:cs typeface="Arial" panose="020B0604020202020204" pitchFamily="34" charset="0"/>
              </a:rPr>
              <a:t>Decrease the weight of correctly classified. </a:t>
            </a:r>
          </a:p>
          <a:p>
            <a:pPr>
              <a:lnSpc>
                <a:spcPct val="150000"/>
              </a:lnSpc>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Thus make a new column as new weight with updated weights.</a:t>
            </a:r>
          </a:p>
          <a:p>
            <a:pPr>
              <a:lnSpc>
                <a:spcPct val="150000"/>
              </a:lnSpc>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 New sample weight = (old sample weight) * e</a:t>
            </a:r>
            <a:r>
              <a:rPr lang="en-US" sz="2400" dirty="0" smtClean="0">
                <a:latin typeface="Arial" panose="020B0604020202020204" pitchFamily="34" charset="0"/>
                <a:cs typeface="Arial" panose="020B0604020202020204" pitchFamily="34" charset="0"/>
              </a:rPr>
              <a:t>**(-</a:t>
            </a:r>
            <a:r>
              <a:rPr lang="el-GR" sz="2400" dirty="0" smtClean="0"/>
              <a:t>α</a:t>
            </a:r>
            <a:r>
              <a:rPr lang="en-US" sz="2400" dirty="0" smtClean="0"/>
              <a:t>)</a:t>
            </a:r>
            <a:endParaRPr lang="en-US" sz="2400" dirty="0" smtClean="0">
              <a:latin typeface="Arial" panose="020B0604020202020204" pitchFamily="34" charset="0"/>
              <a:cs typeface="Arial" panose="020B0604020202020204" pitchFamily="34" charset="0"/>
            </a:endParaRPr>
          </a:p>
          <a:p>
            <a:endParaRPr lang="en-US" sz="2400" dirty="0"/>
          </a:p>
        </p:txBody>
      </p:sp>
      <mc:AlternateContent xmlns:mc="http://schemas.openxmlformats.org/markup-compatibility/2006">
        <mc:Choice xmlns:a14="http://schemas.microsoft.com/office/drawing/2010/main" Requires="a14">
          <p:sp>
            <p:nvSpPr>
              <p:cNvPr id="6" name="TextBox 5"/>
              <p:cNvSpPr txBox="1"/>
              <p:nvPr/>
            </p:nvSpPr>
            <p:spPr>
              <a:xfrm>
                <a:off x="827584" y="4941168"/>
                <a:ext cx="3817071" cy="1756763"/>
              </a:xfrm>
              <a:prstGeom prst="rect">
                <a:avLst/>
              </a:prstGeom>
              <a:noFill/>
            </p:spPr>
            <p:txBody>
              <a:bodyPr wrap="none" lIns="0" tIns="0" rIns="0" bIns="0" rtlCol="0">
                <a:spAutoFit/>
              </a:bodyPr>
              <a:lstStyle/>
              <a:p>
                <a14:m>
                  <m:oMath xmlns:m="http://schemas.openxmlformats.org/officeDocument/2006/math">
                    <m:sSub>
                      <m:sSubPr>
                        <m:ctrlPr>
                          <a:rPr lang="en-US" sz="2800" b="0" i="1" dirty="0" smtClean="0">
                            <a:latin typeface="Cambria Math" panose="02040503050406030204" pitchFamily="18" charset="0"/>
                          </a:rPr>
                        </m:ctrlPr>
                      </m:sSubPr>
                      <m:e>
                        <m:r>
                          <a:rPr lang="en-US" sz="2800" i="1" dirty="0">
                            <a:latin typeface="Cambria Math" panose="02040503050406030204" pitchFamily="18" charset="0"/>
                          </a:rPr>
                          <m:t>𝑊</m:t>
                        </m:r>
                      </m:e>
                      <m:sub>
                        <m:r>
                          <a:rPr lang="en-US" sz="2800" b="0" i="1" dirty="0" smtClean="0">
                            <a:latin typeface="Cambria Math" panose="02040503050406030204" pitchFamily="18" charset="0"/>
                          </a:rPr>
                          <m:t>𝑛𝑒𝑤</m:t>
                        </m:r>
                        <m:r>
                          <a:rPr lang="en-US" sz="2800" b="0" i="1" dirty="0" smtClean="0">
                            <a:latin typeface="Cambria Math" panose="02040503050406030204" pitchFamily="18" charset="0"/>
                          </a:rPr>
                          <m:t>  </m:t>
                        </m:r>
                      </m:sub>
                    </m:sSub>
                  </m:oMath>
                </a14:m>
                <a:r>
                  <a:rPr lang="en-US" sz="2800" dirty="0" smtClean="0"/>
                  <a:t>=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𝑊</m:t>
                        </m:r>
                      </m:e>
                      <m:sub>
                        <m:r>
                          <a:rPr lang="en-US" sz="2800" b="0" i="1" smtClean="0">
                            <a:latin typeface="Cambria Math" panose="02040503050406030204" pitchFamily="18" charset="0"/>
                          </a:rPr>
                          <m:t>𝑜𝑙𝑑</m:t>
                        </m:r>
                        <m:r>
                          <a:rPr lang="en-US" sz="2800" b="0" i="1" smtClean="0">
                            <a:latin typeface="Cambria Math" panose="02040503050406030204" pitchFamily="18" charset="0"/>
                          </a:rPr>
                          <m:t>_</m:t>
                        </m:r>
                        <m:r>
                          <a:rPr lang="en-US" sz="2800" b="0" i="1" smtClean="0">
                            <a:latin typeface="Cambria Math" panose="02040503050406030204" pitchFamily="18" charset="0"/>
                          </a:rPr>
                          <m:t>𝑠𝑎𝑚𝑝𝑙𝑒</m:t>
                        </m:r>
                      </m:sub>
                    </m:sSub>
                  </m:oMath>
                </a14:m>
                <a:r>
                  <a:rPr lang="en-US" sz="2800" dirty="0" smtClean="0"/>
                  <a:t>*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𝑒</m:t>
                        </m:r>
                      </m:e>
                      <m:sup>
                        <m:r>
                          <m:rPr>
                            <m:nor/>
                          </m:rPr>
                          <a:rPr lang="en-US" sz="2000" b="0" i="0" smtClean="0">
                            <a:latin typeface="Cambria Math" panose="02040503050406030204" pitchFamily="18" charset="0"/>
                          </a:rPr>
                          <m:t>(</m:t>
                        </m:r>
                        <m:r>
                          <m:rPr>
                            <m:nor/>
                          </m:rPr>
                          <a:rPr lang="en-US" sz="2000" b="0" i="0" smtClean="0">
                            <a:latin typeface="Cambria Math" panose="02040503050406030204" pitchFamily="18" charset="0"/>
                          </a:rPr>
                          <m:t>-</m:t>
                        </m:r>
                        <m:r>
                          <m:rPr>
                            <m:nor/>
                          </m:rPr>
                          <a:rPr lang="el-GR" sz="2000"/>
                          <m:t>α</m:t>
                        </m:r>
                        <m:r>
                          <m:rPr>
                            <m:nor/>
                          </m:rPr>
                          <a:rPr lang="en-US" sz="2000" b="0" i="0" dirty="0" smtClean="0"/>
                          <m:t>)</m:t>
                        </m:r>
                      </m:sup>
                    </m:sSup>
                  </m:oMath>
                </a14:m>
                <a:endParaRPr lang="en-US" sz="2000" dirty="0" smtClean="0"/>
              </a:p>
              <a:p>
                <a:endParaRPr lang="en-US" sz="2800" dirty="0" smtClean="0"/>
              </a:p>
              <a:p>
                <a:r>
                  <a:rPr lang="en-US" sz="2800" dirty="0" smtClean="0"/>
                  <a:t>           = 1/5 * e**(-</a:t>
                </a:r>
                <a:r>
                  <a:rPr lang="en-US" sz="2800" dirty="0" smtClean="0"/>
                  <a:t>0.202)</a:t>
                </a:r>
                <a:endParaRPr lang="en-US" sz="2800" dirty="0" smtClean="0"/>
              </a:p>
              <a:p>
                <a:r>
                  <a:rPr lang="en-US" sz="2800" dirty="0"/>
                  <a:t> </a:t>
                </a:r>
                <a:r>
                  <a:rPr lang="en-US" sz="2800" dirty="0" smtClean="0"/>
                  <a:t>          = </a:t>
                </a:r>
                <a:r>
                  <a:rPr lang="en-US" sz="2800" dirty="0" smtClean="0"/>
                  <a:t>0.1634 </a:t>
                </a:r>
                <a:endParaRPr lang="en-US" sz="2800" dirty="0"/>
              </a:p>
            </p:txBody>
          </p:sp>
        </mc:Choice>
        <mc:Fallback>
          <p:sp>
            <p:nvSpPr>
              <p:cNvPr id="6" name="TextBox 5"/>
              <p:cNvSpPr txBox="1">
                <a:spLocks noRot="1" noChangeAspect="1" noMove="1" noResize="1" noEditPoints="1" noAdjustHandles="1" noChangeArrowheads="1" noChangeShapeType="1" noTextEdit="1"/>
              </p:cNvSpPr>
              <p:nvPr/>
            </p:nvSpPr>
            <p:spPr>
              <a:xfrm>
                <a:off x="827584" y="4941168"/>
                <a:ext cx="3817071" cy="1756763"/>
              </a:xfrm>
              <a:prstGeom prst="rect">
                <a:avLst/>
              </a:prstGeom>
              <a:blipFill rotWithShape="0">
                <a:blip r:embed="rId2"/>
                <a:stretch>
                  <a:fillRect t="-5903" r="-1917" b="-11458"/>
                </a:stretch>
              </a:blipFill>
            </p:spPr>
            <p:txBody>
              <a:bodyPr/>
              <a:lstStyle/>
              <a:p>
                <a:r>
                  <a:rPr lang="en-US">
                    <a:noFill/>
                  </a:rPr>
                  <a:t> </a:t>
                </a:r>
              </a:p>
            </p:txBody>
          </p:sp>
        </mc:Fallback>
      </mc:AlternateContent>
    </p:spTree>
    <p:extLst>
      <p:ext uri="{BB962C8B-B14F-4D97-AF65-F5344CB8AC3E}">
        <p14:creationId xmlns:p14="http://schemas.microsoft.com/office/powerpoint/2010/main" val="144787338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625868336"/>
              </p:ext>
            </p:extLst>
          </p:nvPr>
        </p:nvGraphicFramePr>
        <p:xfrm>
          <a:off x="323528" y="1772816"/>
          <a:ext cx="7992889" cy="4608511"/>
        </p:xfrm>
        <a:graphic>
          <a:graphicData uri="http://schemas.openxmlformats.org/drawingml/2006/table">
            <a:tbl>
              <a:tblPr firstRow="1" bandRow="1">
                <a:tableStyleId>{5C22544A-7EE6-4342-B048-85BDC9FD1C3A}</a:tableStyleId>
              </a:tblPr>
              <a:tblGrid>
                <a:gridCol w="1289919"/>
                <a:gridCol w="1289919"/>
                <a:gridCol w="1289919"/>
                <a:gridCol w="1036544"/>
                <a:gridCol w="1543294"/>
                <a:gridCol w="1543294"/>
              </a:tblGrid>
              <a:tr h="1089622">
                <a:tc>
                  <a:txBody>
                    <a:bodyPr/>
                    <a:lstStyle/>
                    <a:p>
                      <a:r>
                        <a:rPr lang="en-US" sz="2400" dirty="0" smtClean="0">
                          <a:latin typeface="Arial" panose="020B0604020202020204" pitchFamily="34" charset="0"/>
                          <a:cs typeface="Arial" panose="020B0604020202020204" pitchFamily="34" charset="0"/>
                        </a:rPr>
                        <a:t>X1</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X2</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X3</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Y</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Sample</a:t>
                      </a:r>
                      <a:r>
                        <a:rPr lang="en-US" sz="2400" baseline="0" dirty="0" smtClean="0">
                          <a:latin typeface="Arial" panose="020B0604020202020204" pitchFamily="34" charset="0"/>
                          <a:cs typeface="Arial" panose="020B0604020202020204" pitchFamily="34" charset="0"/>
                        </a:rPr>
                        <a:t> weight</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Updated Weight</a:t>
                      </a:r>
                      <a:endParaRPr lang="en-US" sz="2400" dirty="0">
                        <a:latin typeface="Arial" panose="020B0604020202020204" pitchFamily="34" charset="0"/>
                        <a:cs typeface="Arial" panose="020B0604020202020204" pitchFamily="34" charset="0"/>
                      </a:endParaRPr>
                    </a:p>
                  </a:txBody>
                  <a:tcPr/>
                </a:tc>
              </a:tr>
              <a:tr h="1037749">
                <a:tc>
                  <a:txBody>
                    <a:bodyPr/>
                    <a:lstStyle/>
                    <a:p>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1</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1/5</a:t>
                      </a:r>
                      <a:endParaRPr lang="en-US" sz="24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smtClean="0"/>
                        <a:t>0.1634</a:t>
                      </a:r>
                      <a:endParaRPr lang="en-US" sz="2400" dirty="0">
                        <a:latin typeface="Arial" panose="020B0604020202020204" pitchFamily="34" charset="0"/>
                        <a:cs typeface="Arial" panose="020B0604020202020204" pitchFamily="34" charset="0"/>
                      </a:endParaRPr>
                    </a:p>
                  </a:txBody>
                  <a:tcPr/>
                </a:tc>
              </a:tr>
              <a:tr h="620285">
                <a:tc>
                  <a:txBody>
                    <a:bodyPr/>
                    <a:lstStyle/>
                    <a:p>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txBody>
                  <a:tcPr/>
                </a:tc>
                <a:tc>
                  <a:txBody>
                    <a:bodyPr/>
                    <a:lstStyle/>
                    <a:p>
                      <a:r>
                        <a:rPr lang="en-US" sz="2400" b="1" dirty="0" smtClean="0">
                          <a:latin typeface="Arial" panose="020B0604020202020204" pitchFamily="34" charset="0"/>
                          <a:cs typeface="Arial" panose="020B0604020202020204" pitchFamily="34" charset="0"/>
                        </a:rPr>
                        <a:t>0</a:t>
                      </a:r>
                      <a:endParaRPr lang="en-US" sz="2400" b="1"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1/5</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t>0.2448</a:t>
                      </a:r>
                      <a:endParaRPr lang="en-US" sz="2400" dirty="0">
                        <a:latin typeface="Arial" panose="020B0604020202020204" pitchFamily="34" charset="0"/>
                        <a:cs typeface="Arial" panose="020B0604020202020204" pitchFamily="34" charset="0"/>
                      </a:endParaRPr>
                    </a:p>
                  </a:txBody>
                  <a:tcPr/>
                </a:tc>
              </a:tr>
              <a:tr h="620285">
                <a:tc>
                  <a:txBody>
                    <a:bodyPr/>
                    <a:lstStyle/>
                    <a:p>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1</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1/5</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t>0.1634</a:t>
                      </a:r>
                      <a:endParaRPr lang="en-US" sz="2400" dirty="0">
                        <a:latin typeface="Arial" panose="020B0604020202020204" pitchFamily="34" charset="0"/>
                        <a:cs typeface="Arial" panose="020B0604020202020204" pitchFamily="34" charset="0"/>
                      </a:endParaRPr>
                    </a:p>
                  </a:txBody>
                  <a:tcPr/>
                </a:tc>
              </a:tr>
              <a:tr h="620285">
                <a:tc>
                  <a:txBody>
                    <a:bodyPr/>
                    <a:lstStyle/>
                    <a:p>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txBody>
                  <a:tcPr/>
                </a:tc>
                <a:tc>
                  <a:txBody>
                    <a:bodyPr/>
                    <a:lstStyle/>
                    <a:p>
                      <a:r>
                        <a:rPr lang="en-US" sz="2400" b="1" dirty="0" smtClean="0">
                          <a:latin typeface="Arial" panose="020B0604020202020204" pitchFamily="34" charset="0"/>
                          <a:cs typeface="Arial" panose="020B0604020202020204" pitchFamily="34" charset="0"/>
                        </a:rPr>
                        <a:t>0</a:t>
                      </a:r>
                      <a:endParaRPr lang="en-US" sz="2400" b="1"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1/5</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t>0.2448</a:t>
                      </a:r>
                      <a:endParaRPr lang="en-US" sz="2400" dirty="0">
                        <a:latin typeface="Arial" panose="020B0604020202020204" pitchFamily="34" charset="0"/>
                        <a:cs typeface="Arial" panose="020B0604020202020204" pitchFamily="34" charset="0"/>
                      </a:endParaRPr>
                    </a:p>
                  </a:txBody>
                  <a:tcPr/>
                </a:tc>
              </a:tr>
              <a:tr h="620285">
                <a:tc>
                  <a:txBody>
                    <a:bodyPr/>
                    <a:lstStyle/>
                    <a:p>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1</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latin typeface="Arial" panose="020B0604020202020204" pitchFamily="34" charset="0"/>
                          <a:cs typeface="Arial" panose="020B0604020202020204" pitchFamily="34" charset="0"/>
                        </a:rPr>
                        <a:t>1/5</a:t>
                      </a:r>
                      <a:endParaRPr lang="en-US" sz="2400" dirty="0">
                        <a:latin typeface="Arial" panose="020B0604020202020204" pitchFamily="34" charset="0"/>
                        <a:cs typeface="Arial" panose="020B0604020202020204" pitchFamily="34" charset="0"/>
                      </a:endParaRPr>
                    </a:p>
                  </a:txBody>
                  <a:tcPr/>
                </a:tc>
                <a:tc>
                  <a:txBody>
                    <a:bodyPr/>
                    <a:lstStyle/>
                    <a:p>
                      <a:r>
                        <a:rPr lang="en-US" sz="2400" dirty="0" smtClean="0"/>
                        <a:t>0.1634</a:t>
                      </a:r>
                      <a:endParaRPr lang="en-US" sz="2400" dirty="0">
                        <a:latin typeface="Arial" panose="020B0604020202020204" pitchFamily="34" charset="0"/>
                        <a:cs typeface="Arial" panose="020B0604020202020204" pitchFamily="34" charset="0"/>
                      </a:endParaRPr>
                    </a:p>
                  </a:txBody>
                  <a:tcPr/>
                </a:tc>
              </a:tr>
            </a:tbl>
          </a:graphicData>
        </a:graphic>
      </p:graphicFrame>
      <p:sp>
        <p:nvSpPr>
          <p:cNvPr id="2" name="Rectangle 1"/>
          <p:cNvSpPr/>
          <p:nvPr/>
        </p:nvSpPr>
        <p:spPr>
          <a:xfrm>
            <a:off x="899592" y="764704"/>
            <a:ext cx="5069786" cy="584775"/>
          </a:xfrm>
          <a:prstGeom prst="rect">
            <a:avLst/>
          </a:prstGeom>
        </p:spPr>
        <p:txBody>
          <a:bodyPr wrap="none">
            <a:spAutoFit/>
          </a:bodyPr>
          <a:lstStyle/>
          <a:p>
            <a:r>
              <a:rPr lang="en-US" sz="3200" b="1" dirty="0"/>
              <a:t>Step </a:t>
            </a:r>
            <a:r>
              <a:rPr lang="en-US" sz="3200" b="1" dirty="0" smtClean="0"/>
              <a:t>6: Update the weight</a:t>
            </a:r>
            <a:endParaRPr lang="en-US" sz="3200" dirty="0"/>
          </a:p>
        </p:txBody>
      </p:sp>
    </p:spTree>
    <p:extLst>
      <p:ext uri="{BB962C8B-B14F-4D97-AF65-F5344CB8AC3E}">
        <p14:creationId xmlns:p14="http://schemas.microsoft.com/office/powerpoint/2010/main" val="57578618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55204"/>
            <a:ext cx="8182338" cy="708688"/>
          </a:xfrm>
        </p:spPr>
        <p:txBody>
          <a:bodyPr>
            <a:normAutofit/>
          </a:bodyPr>
          <a:lstStyle/>
          <a:p>
            <a:pPr>
              <a:buFont typeface="Wingdings" panose="05000000000000000000" pitchFamily="2" charset="2"/>
              <a:buChar char="Ø"/>
            </a:pPr>
            <a:r>
              <a:rPr lang="en-US" sz="4000" b="1" dirty="0"/>
              <a:t>Step </a:t>
            </a:r>
            <a:r>
              <a:rPr lang="en-US" sz="4000" b="1" dirty="0" smtClean="0"/>
              <a:t>7:</a:t>
            </a:r>
            <a:r>
              <a:rPr lang="en-US" sz="4000" dirty="0"/>
              <a:t>Normalize the weight: </a:t>
            </a:r>
          </a:p>
        </p:txBody>
      </p:sp>
      <p:graphicFrame>
        <p:nvGraphicFramePr>
          <p:cNvPr id="5" name="Table 4"/>
          <p:cNvGraphicFramePr>
            <a:graphicFrameLocks noGrp="1"/>
          </p:cNvGraphicFramePr>
          <p:nvPr>
            <p:extLst>
              <p:ext uri="{D42A27DB-BD31-4B8C-83A1-F6EECF244321}">
                <p14:modId xmlns:p14="http://schemas.microsoft.com/office/powerpoint/2010/main" val="469779223"/>
              </p:ext>
            </p:extLst>
          </p:nvPr>
        </p:nvGraphicFramePr>
        <p:xfrm>
          <a:off x="230741" y="1270740"/>
          <a:ext cx="8229692" cy="4358640"/>
        </p:xfrm>
        <a:graphic>
          <a:graphicData uri="http://schemas.openxmlformats.org/drawingml/2006/table">
            <a:tbl>
              <a:tblPr firstRow="1" bandRow="1">
                <a:tableStyleId>{5C22544A-7EE6-4342-B048-85BDC9FD1C3A}</a:tableStyleId>
              </a:tblPr>
              <a:tblGrid>
                <a:gridCol w="785469"/>
                <a:gridCol w="1107518"/>
                <a:gridCol w="1800200"/>
                <a:gridCol w="1818685"/>
                <a:gridCol w="2717820"/>
              </a:tblGrid>
              <a:tr h="624057">
                <a:tc>
                  <a:txBody>
                    <a:bodyPr/>
                    <a:lstStyle/>
                    <a:p>
                      <a:r>
                        <a:rPr lang="en-US" sz="2000" dirty="0" smtClean="0">
                          <a:latin typeface="Arial" panose="020B0604020202020204" pitchFamily="34" charset="0"/>
                          <a:cs typeface="Arial" panose="020B0604020202020204" pitchFamily="34" charset="0"/>
                        </a:rPr>
                        <a:t>Y</a:t>
                      </a:r>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Status</a:t>
                      </a:r>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Sample</a:t>
                      </a:r>
                      <a:r>
                        <a:rPr lang="en-US" sz="2000" baseline="0" dirty="0" smtClean="0">
                          <a:latin typeface="Arial" panose="020B0604020202020204" pitchFamily="34" charset="0"/>
                          <a:cs typeface="Arial" panose="020B0604020202020204" pitchFamily="34" charset="0"/>
                        </a:rPr>
                        <a:t> weight</a:t>
                      </a:r>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Updated Weight</a:t>
                      </a:r>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Normalized</a:t>
                      </a:r>
                      <a:endParaRPr lang="en-US" sz="2000" dirty="0">
                        <a:latin typeface="Arial" panose="020B0604020202020204" pitchFamily="34" charset="0"/>
                        <a:cs typeface="Arial" panose="020B0604020202020204" pitchFamily="34" charset="0"/>
                      </a:endParaRPr>
                    </a:p>
                  </a:txBody>
                  <a:tcPr/>
                </a:tc>
              </a:tr>
              <a:tr h="355255">
                <a:tc>
                  <a:txBody>
                    <a:bodyPr/>
                    <a:lstStyle/>
                    <a:p>
                      <a:r>
                        <a:rPr lang="en-US" sz="2000" dirty="0" smtClean="0">
                          <a:latin typeface="Arial" panose="020B0604020202020204" pitchFamily="34" charset="0"/>
                          <a:cs typeface="Arial" panose="020B0604020202020204" pitchFamily="34" charset="0"/>
                        </a:rPr>
                        <a:t>1</a:t>
                      </a:r>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Correct</a:t>
                      </a:r>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1/5 = 0.2</a:t>
                      </a:r>
                      <a:endParaRPr lang="en-US" sz="20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smtClean="0"/>
                        <a:t>0.1634</a:t>
                      </a:r>
                      <a:endParaRPr lang="en-US" sz="24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t>0.1634/</a:t>
                      </a:r>
                      <a:r>
                        <a:rPr lang="en-US" sz="2000" dirty="0" smtClean="0">
                          <a:latin typeface="Arial" panose="020B0604020202020204" pitchFamily="34" charset="0"/>
                          <a:cs typeface="Arial" panose="020B0604020202020204" pitchFamily="34" charset="0"/>
                        </a:rPr>
                        <a:t>1.0612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=0.154</a:t>
                      </a:r>
                      <a:endParaRPr lang="en-US" sz="2000" dirty="0">
                        <a:latin typeface="Arial" panose="020B0604020202020204" pitchFamily="34" charset="0"/>
                        <a:cs typeface="Arial" panose="020B0604020202020204" pitchFamily="34" charset="0"/>
                      </a:endParaRPr>
                    </a:p>
                  </a:txBody>
                  <a:tcPr/>
                </a:tc>
              </a:tr>
              <a:tr h="561638">
                <a:tc>
                  <a:txBody>
                    <a:bodyPr/>
                    <a:lstStyle/>
                    <a:p>
                      <a:r>
                        <a:rPr lang="en-US" sz="2000" b="1" dirty="0" smtClean="0">
                          <a:latin typeface="Arial" panose="020B0604020202020204" pitchFamily="34" charset="0"/>
                          <a:cs typeface="Arial" panose="020B0604020202020204" pitchFamily="34" charset="0"/>
                        </a:rPr>
                        <a:t>0</a:t>
                      </a:r>
                      <a:endParaRPr lang="en-US" sz="2000" b="1" dirty="0">
                        <a:latin typeface="Arial" panose="020B0604020202020204" pitchFamily="34" charset="0"/>
                        <a:cs typeface="Arial" panose="020B0604020202020204" pitchFamily="34" charset="0"/>
                      </a:endParaRPr>
                    </a:p>
                  </a:txBody>
                  <a:tcPr/>
                </a:tc>
                <a:tc>
                  <a:txBody>
                    <a:bodyPr/>
                    <a:lstStyle/>
                    <a:p>
                      <a:r>
                        <a:rPr lang="en-US" sz="2000" b="1" dirty="0" smtClean="0">
                          <a:latin typeface="Arial" panose="020B0604020202020204" pitchFamily="34" charset="0"/>
                          <a:cs typeface="Arial" panose="020B0604020202020204" pitchFamily="34" charset="0"/>
                        </a:rPr>
                        <a:t>wrong</a:t>
                      </a:r>
                      <a:endParaRPr lang="en-US" sz="2000" b="1"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1/5= 0.2</a:t>
                      </a:r>
                      <a:endParaRPr lang="en-US" sz="2000" dirty="0">
                        <a:latin typeface="Arial" panose="020B0604020202020204" pitchFamily="34" charset="0"/>
                        <a:cs typeface="Arial" panose="020B0604020202020204" pitchFamily="34" charset="0"/>
                      </a:endParaRPr>
                    </a:p>
                  </a:txBody>
                  <a:tcPr/>
                </a:tc>
                <a:tc>
                  <a:txBody>
                    <a:bodyPr/>
                    <a:lstStyle/>
                    <a:p>
                      <a:r>
                        <a:rPr lang="en-US" sz="2400" dirty="0" smtClean="0"/>
                        <a:t>0.2448</a:t>
                      </a:r>
                      <a:endParaRPr lang="en-US" sz="24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t>0.2448</a:t>
                      </a:r>
                      <a:r>
                        <a:rPr lang="en-US" sz="2000" dirty="0" smtClean="0">
                          <a:latin typeface="Arial" panose="020B0604020202020204" pitchFamily="34" charset="0"/>
                          <a:cs typeface="Arial" panose="020B0604020202020204" pitchFamily="34" charset="0"/>
                        </a:rPr>
                        <a:t>/1.0612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=0.231</a:t>
                      </a:r>
                      <a:endParaRPr lang="en-US" sz="2000" dirty="0">
                        <a:latin typeface="Arial" panose="020B0604020202020204" pitchFamily="34" charset="0"/>
                        <a:cs typeface="Arial" panose="020B0604020202020204" pitchFamily="34" charset="0"/>
                      </a:endParaRPr>
                    </a:p>
                  </a:txBody>
                  <a:tcPr/>
                </a:tc>
              </a:tr>
              <a:tr h="561638">
                <a:tc>
                  <a:txBody>
                    <a:bodyPr/>
                    <a:lstStyle/>
                    <a:p>
                      <a:r>
                        <a:rPr lang="en-US" sz="2000" dirty="0" smtClean="0">
                          <a:latin typeface="Arial" panose="020B0604020202020204" pitchFamily="34" charset="0"/>
                          <a:cs typeface="Arial" panose="020B0604020202020204" pitchFamily="34" charset="0"/>
                        </a:rPr>
                        <a:t>1</a:t>
                      </a:r>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Correct</a:t>
                      </a:r>
                      <a:endParaRPr lang="en-US" sz="20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1/5= 0.2</a:t>
                      </a:r>
                    </a:p>
                    <a:p>
                      <a:endParaRPr lang="en-US" sz="2000" dirty="0">
                        <a:latin typeface="Arial" panose="020B0604020202020204" pitchFamily="34" charset="0"/>
                        <a:cs typeface="Arial" panose="020B0604020202020204" pitchFamily="34" charset="0"/>
                      </a:endParaRPr>
                    </a:p>
                  </a:txBody>
                  <a:tcPr/>
                </a:tc>
                <a:tc>
                  <a:txBody>
                    <a:bodyPr/>
                    <a:lstStyle/>
                    <a:p>
                      <a:r>
                        <a:rPr lang="en-US" sz="2400" dirty="0" smtClean="0"/>
                        <a:t>0.1634</a:t>
                      </a:r>
                      <a:endParaRPr lang="en-US" sz="24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t>0.1634</a:t>
                      </a:r>
                      <a:r>
                        <a:rPr lang="en-US" sz="2000" dirty="0" smtClean="0">
                          <a:latin typeface="Arial" panose="020B0604020202020204" pitchFamily="34" charset="0"/>
                          <a:cs typeface="Arial" panose="020B0604020202020204" pitchFamily="34" charset="0"/>
                        </a:rPr>
                        <a:t>/1.0612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=0.154</a:t>
                      </a:r>
                      <a:endParaRPr lang="en-US" sz="2000" dirty="0">
                        <a:latin typeface="Arial" panose="020B0604020202020204" pitchFamily="34" charset="0"/>
                        <a:cs typeface="Arial" panose="020B0604020202020204" pitchFamily="34" charset="0"/>
                      </a:endParaRPr>
                    </a:p>
                  </a:txBody>
                  <a:tcPr/>
                </a:tc>
              </a:tr>
              <a:tr h="355255">
                <a:tc>
                  <a:txBody>
                    <a:bodyPr/>
                    <a:lstStyle/>
                    <a:p>
                      <a:r>
                        <a:rPr lang="en-US" sz="2000" b="1" dirty="0" smtClean="0">
                          <a:latin typeface="Arial" panose="020B0604020202020204" pitchFamily="34" charset="0"/>
                          <a:cs typeface="Arial" panose="020B0604020202020204" pitchFamily="34" charset="0"/>
                        </a:rPr>
                        <a:t>0</a:t>
                      </a:r>
                      <a:endParaRPr lang="en-US" sz="2000" b="1" dirty="0">
                        <a:latin typeface="Arial" panose="020B0604020202020204" pitchFamily="34" charset="0"/>
                        <a:cs typeface="Arial" panose="020B0604020202020204" pitchFamily="34" charset="0"/>
                      </a:endParaRPr>
                    </a:p>
                  </a:txBody>
                  <a:tcPr/>
                </a:tc>
                <a:tc>
                  <a:txBody>
                    <a:bodyPr/>
                    <a:lstStyle/>
                    <a:p>
                      <a:r>
                        <a:rPr lang="en-US" sz="2000" b="1" dirty="0" smtClean="0">
                          <a:latin typeface="Arial" panose="020B0604020202020204" pitchFamily="34" charset="0"/>
                          <a:cs typeface="Arial" panose="020B0604020202020204" pitchFamily="34" charset="0"/>
                        </a:rPr>
                        <a:t>Wrong</a:t>
                      </a:r>
                      <a:endParaRPr lang="en-US" sz="2000" b="1"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1/5= 0.2</a:t>
                      </a:r>
                    </a:p>
                  </a:txBody>
                  <a:tcPr/>
                </a:tc>
                <a:tc>
                  <a:txBody>
                    <a:bodyPr/>
                    <a:lstStyle/>
                    <a:p>
                      <a:r>
                        <a:rPr lang="en-US" sz="2400" dirty="0" smtClean="0"/>
                        <a:t>0.2448</a:t>
                      </a:r>
                      <a:endParaRPr lang="en-US" sz="24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t>0.2448</a:t>
                      </a:r>
                      <a:r>
                        <a:rPr lang="en-US" sz="2000" dirty="0" smtClean="0">
                          <a:latin typeface="Arial" panose="020B0604020202020204" pitchFamily="34" charset="0"/>
                          <a:cs typeface="Arial" panose="020B0604020202020204" pitchFamily="34" charset="0"/>
                        </a:rPr>
                        <a:t>/1.0612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=0.231</a:t>
                      </a:r>
                      <a:endParaRPr lang="en-US" sz="2000" dirty="0" smtClean="0">
                        <a:latin typeface="Arial" panose="020B0604020202020204" pitchFamily="34" charset="0"/>
                        <a:cs typeface="Arial" panose="020B0604020202020204" pitchFamily="34" charset="0"/>
                      </a:endParaRPr>
                    </a:p>
                  </a:txBody>
                  <a:tcPr/>
                </a:tc>
              </a:tr>
              <a:tr h="355255">
                <a:tc>
                  <a:txBody>
                    <a:bodyPr/>
                    <a:lstStyle/>
                    <a:p>
                      <a:r>
                        <a:rPr lang="en-US" sz="2000" dirty="0" smtClean="0">
                          <a:latin typeface="Arial" panose="020B0604020202020204" pitchFamily="34" charset="0"/>
                          <a:cs typeface="Arial" panose="020B0604020202020204" pitchFamily="34" charset="0"/>
                        </a:rPr>
                        <a:t>1</a:t>
                      </a:r>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Correct</a:t>
                      </a:r>
                      <a:endParaRPr lang="en-US" sz="20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1/5= 0.2</a:t>
                      </a:r>
                    </a:p>
                  </a:txBody>
                  <a:tcPr/>
                </a:tc>
                <a:tc>
                  <a:txBody>
                    <a:bodyPr/>
                    <a:lstStyle/>
                    <a:p>
                      <a:r>
                        <a:rPr lang="en-US" sz="2400" dirty="0" smtClean="0"/>
                        <a:t>0.1634</a:t>
                      </a:r>
                      <a:endParaRPr lang="en-US" sz="24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t>0.1634</a:t>
                      </a:r>
                      <a:r>
                        <a:rPr lang="en-US" sz="2000" dirty="0" smtClean="0">
                          <a:latin typeface="Arial" panose="020B0604020202020204" pitchFamily="34" charset="0"/>
                          <a:cs typeface="Arial" panose="020B0604020202020204" pitchFamily="34" charset="0"/>
                        </a:rPr>
                        <a:t>/1.0612= 0.154</a:t>
                      </a:r>
                      <a:endParaRPr lang="en-US" sz="2000" dirty="0" smtClean="0">
                        <a:latin typeface="Arial" panose="020B0604020202020204" pitchFamily="34" charset="0"/>
                        <a:cs typeface="Arial" panose="020B0604020202020204" pitchFamily="34" charset="0"/>
                      </a:endParaRPr>
                    </a:p>
                  </a:txBody>
                  <a:tcPr/>
                </a:tc>
              </a:tr>
              <a:tr h="355255">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 1</a:t>
                      </a:r>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 = </a:t>
                      </a:r>
                      <a:r>
                        <a:rPr lang="en-US" sz="2000" dirty="0" smtClean="0">
                          <a:latin typeface="Arial" panose="020B0604020202020204" pitchFamily="34" charset="0"/>
                          <a:cs typeface="Arial" panose="020B0604020202020204" pitchFamily="34" charset="0"/>
                        </a:rPr>
                        <a:t>1.0612</a:t>
                      </a:r>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 = 1</a:t>
                      </a:r>
                      <a:endParaRPr lang="en-US" sz="2000" dirty="0">
                        <a:latin typeface="Arial" panose="020B0604020202020204" pitchFamily="34" charset="0"/>
                        <a:cs typeface="Arial" panose="020B0604020202020204" pitchFamily="34" charset="0"/>
                      </a:endParaRPr>
                    </a:p>
                  </a:txBody>
                  <a:tcPr/>
                </a:tc>
              </a:tr>
            </a:tbl>
          </a:graphicData>
        </a:graphic>
      </p:graphicFrame>
      <p:sp>
        <p:nvSpPr>
          <p:cNvPr id="4" name="Rectangle 3"/>
          <p:cNvSpPr/>
          <p:nvPr/>
        </p:nvSpPr>
        <p:spPr>
          <a:xfrm>
            <a:off x="63563" y="5949280"/>
            <a:ext cx="8784976" cy="830997"/>
          </a:xfrm>
          <a:prstGeom prst="rect">
            <a:avLst/>
          </a:prstGeom>
        </p:spPr>
        <p:txBody>
          <a:bodyPr wrap="square">
            <a:spAutoFit/>
          </a:bodyPr>
          <a:lstStyle/>
          <a:p>
            <a:pPr>
              <a:buFont typeface="Wingdings" panose="05000000000000000000" pitchFamily="2" charset="2"/>
              <a:buChar char="Ø"/>
            </a:pPr>
            <a:r>
              <a:rPr lang="en-US" sz="2400" dirty="0"/>
              <a:t>The process of iteration go till the error become zero or close to zero.</a:t>
            </a:r>
          </a:p>
        </p:txBody>
      </p:sp>
    </p:spTree>
    <p:extLst>
      <p:ext uri="{BB962C8B-B14F-4D97-AF65-F5344CB8AC3E}">
        <p14:creationId xmlns:p14="http://schemas.microsoft.com/office/powerpoint/2010/main" val="344723684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853781201"/>
              </p:ext>
            </p:extLst>
          </p:nvPr>
        </p:nvGraphicFramePr>
        <p:xfrm>
          <a:off x="395536" y="980728"/>
          <a:ext cx="7488832" cy="5988537"/>
        </p:xfrm>
        <a:graphic>
          <a:graphicData uri="http://schemas.openxmlformats.org/drawingml/2006/table">
            <a:tbl>
              <a:tblPr firstRow="1" bandRow="1">
                <a:tableStyleId>{5C22544A-7EE6-4342-B048-85BDC9FD1C3A}</a:tableStyleId>
              </a:tblPr>
              <a:tblGrid>
                <a:gridCol w="802640"/>
                <a:gridCol w="1131728"/>
                <a:gridCol w="2777232"/>
                <a:gridCol w="2777232"/>
              </a:tblGrid>
              <a:tr h="624057">
                <a:tc>
                  <a:txBody>
                    <a:bodyPr/>
                    <a:lstStyle/>
                    <a:p>
                      <a:pPr>
                        <a:lnSpc>
                          <a:spcPct val="150000"/>
                        </a:lnSpc>
                      </a:pPr>
                      <a:r>
                        <a:rPr lang="en-US" sz="2000" dirty="0" smtClean="0">
                          <a:latin typeface="Arial" panose="020B0604020202020204" pitchFamily="34" charset="0"/>
                          <a:cs typeface="Arial" panose="020B0604020202020204" pitchFamily="34" charset="0"/>
                        </a:rPr>
                        <a:t>Y</a:t>
                      </a:r>
                      <a:endParaRPr lang="en-US" sz="2000" dirty="0">
                        <a:latin typeface="Arial" panose="020B0604020202020204" pitchFamily="34" charset="0"/>
                        <a:cs typeface="Arial" panose="020B0604020202020204" pitchFamily="34" charset="0"/>
                      </a:endParaRPr>
                    </a:p>
                  </a:txBody>
                  <a:tcPr/>
                </a:tc>
                <a:tc>
                  <a:txBody>
                    <a:bodyPr/>
                    <a:lstStyle/>
                    <a:p>
                      <a:pPr>
                        <a:lnSpc>
                          <a:spcPct val="150000"/>
                        </a:lnSpc>
                      </a:pPr>
                      <a:r>
                        <a:rPr lang="en-US" sz="2000" dirty="0" smtClean="0">
                          <a:latin typeface="Arial" panose="020B0604020202020204" pitchFamily="34" charset="0"/>
                          <a:cs typeface="Arial" panose="020B0604020202020204" pitchFamily="34" charset="0"/>
                        </a:rPr>
                        <a:t>Status</a:t>
                      </a:r>
                      <a:endParaRPr lang="en-US" sz="2000" dirty="0">
                        <a:latin typeface="Arial" panose="020B0604020202020204" pitchFamily="34" charset="0"/>
                        <a:cs typeface="Arial" panose="020B0604020202020204" pitchFamily="34" charset="0"/>
                      </a:endParaRPr>
                    </a:p>
                  </a:txBody>
                  <a:tcPr/>
                </a:tc>
                <a:tc>
                  <a:txBody>
                    <a:bodyPr/>
                    <a:lstStyle/>
                    <a:p>
                      <a:pPr>
                        <a:lnSpc>
                          <a:spcPct val="150000"/>
                        </a:lnSpc>
                      </a:pPr>
                      <a:r>
                        <a:rPr lang="en-US" sz="2000" dirty="0" smtClean="0">
                          <a:latin typeface="Arial" panose="020B0604020202020204" pitchFamily="34" charset="0"/>
                          <a:cs typeface="Arial" panose="020B0604020202020204" pitchFamily="34" charset="0"/>
                        </a:rPr>
                        <a:t>Normalized</a:t>
                      </a:r>
                      <a:endParaRPr lang="en-US" sz="2000" dirty="0">
                        <a:latin typeface="Arial" panose="020B0604020202020204" pitchFamily="34" charset="0"/>
                        <a:cs typeface="Arial" panose="020B0604020202020204" pitchFamily="34" charset="0"/>
                      </a:endParaRPr>
                    </a:p>
                  </a:txBody>
                  <a:tcPr/>
                </a:tc>
                <a:tc>
                  <a:txBody>
                    <a:bodyPr/>
                    <a:lstStyle/>
                    <a:p>
                      <a:pPr>
                        <a:lnSpc>
                          <a:spcPct val="150000"/>
                        </a:lnSpc>
                      </a:pPr>
                      <a:r>
                        <a:rPr lang="en-US" sz="2000" dirty="0" smtClean="0">
                          <a:latin typeface="Arial" panose="020B0604020202020204" pitchFamily="34" charset="0"/>
                          <a:cs typeface="Arial" panose="020B0604020202020204" pitchFamily="34" charset="0"/>
                        </a:rPr>
                        <a:t>Range</a:t>
                      </a:r>
                      <a:endParaRPr lang="en-US" sz="2000" dirty="0">
                        <a:latin typeface="Arial" panose="020B0604020202020204" pitchFamily="34" charset="0"/>
                        <a:cs typeface="Arial" panose="020B0604020202020204" pitchFamily="34" charset="0"/>
                      </a:endParaRPr>
                    </a:p>
                  </a:txBody>
                  <a:tcPr/>
                </a:tc>
              </a:tr>
              <a:tr h="355255">
                <a:tc>
                  <a:txBody>
                    <a:bodyPr/>
                    <a:lstStyle/>
                    <a:p>
                      <a:pPr>
                        <a:lnSpc>
                          <a:spcPct val="150000"/>
                        </a:lnSpc>
                      </a:pPr>
                      <a:r>
                        <a:rPr lang="en-US" sz="2000" dirty="0" smtClean="0">
                          <a:latin typeface="Arial" panose="020B0604020202020204" pitchFamily="34" charset="0"/>
                          <a:cs typeface="Arial" panose="020B0604020202020204" pitchFamily="34" charset="0"/>
                        </a:rPr>
                        <a:t>1</a:t>
                      </a:r>
                      <a:endParaRPr lang="en-US" sz="2000" dirty="0">
                        <a:latin typeface="Arial" panose="020B0604020202020204" pitchFamily="34" charset="0"/>
                        <a:cs typeface="Arial" panose="020B0604020202020204" pitchFamily="34" charset="0"/>
                      </a:endParaRPr>
                    </a:p>
                  </a:txBody>
                  <a:tcPr/>
                </a:tc>
                <a:tc>
                  <a:txBody>
                    <a:bodyPr/>
                    <a:lstStyle/>
                    <a:p>
                      <a:pPr>
                        <a:lnSpc>
                          <a:spcPct val="150000"/>
                        </a:lnSpc>
                      </a:pPr>
                      <a:r>
                        <a:rPr lang="en-US" sz="2000" dirty="0" smtClean="0">
                          <a:latin typeface="Arial" panose="020B0604020202020204" pitchFamily="34" charset="0"/>
                          <a:cs typeface="Arial" panose="020B0604020202020204" pitchFamily="34" charset="0"/>
                        </a:rPr>
                        <a:t>Correct</a:t>
                      </a:r>
                      <a:endParaRPr lang="en-US" sz="20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smtClean="0"/>
                        <a:t>0.1634/</a:t>
                      </a:r>
                      <a:r>
                        <a:rPr lang="en-US" sz="2000" dirty="0" smtClean="0">
                          <a:latin typeface="Arial" panose="020B0604020202020204" pitchFamily="34" charset="0"/>
                          <a:cs typeface="Arial" panose="020B0604020202020204" pitchFamily="34" charset="0"/>
                        </a:rPr>
                        <a:t>1.0612 </a:t>
                      </a:r>
                    </a:p>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=0.154</a:t>
                      </a:r>
                      <a:endParaRPr lang="en-US" sz="20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0- 0.154</a:t>
                      </a:r>
                      <a:endParaRPr lang="en-US" sz="2000" dirty="0">
                        <a:latin typeface="Arial" panose="020B0604020202020204" pitchFamily="34" charset="0"/>
                        <a:cs typeface="Arial" panose="020B0604020202020204" pitchFamily="34" charset="0"/>
                      </a:endParaRPr>
                    </a:p>
                  </a:txBody>
                  <a:tcPr/>
                </a:tc>
              </a:tr>
              <a:tr h="561638">
                <a:tc>
                  <a:txBody>
                    <a:bodyPr/>
                    <a:lstStyle/>
                    <a:p>
                      <a:pPr>
                        <a:lnSpc>
                          <a:spcPct val="150000"/>
                        </a:lnSpc>
                      </a:pPr>
                      <a:r>
                        <a:rPr lang="en-US" sz="2000" b="1" dirty="0" smtClean="0">
                          <a:latin typeface="Arial" panose="020B0604020202020204" pitchFamily="34" charset="0"/>
                          <a:cs typeface="Arial" panose="020B0604020202020204" pitchFamily="34" charset="0"/>
                        </a:rPr>
                        <a:t>0</a:t>
                      </a:r>
                      <a:endParaRPr lang="en-US" sz="2000" b="1" dirty="0">
                        <a:latin typeface="Arial" panose="020B0604020202020204" pitchFamily="34" charset="0"/>
                        <a:cs typeface="Arial" panose="020B0604020202020204" pitchFamily="34" charset="0"/>
                      </a:endParaRPr>
                    </a:p>
                  </a:txBody>
                  <a:tcPr/>
                </a:tc>
                <a:tc>
                  <a:txBody>
                    <a:bodyPr/>
                    <a:lstStyle/>
                    <a:p>
                      <a:pPr>
                        <a:lnSpc>
                          <a:spcPct val="150000"/>
                        </a:lnSpc>
                      </a:pPr>
                      <a:r>
                        <a:rPr lang="en-US" sz="2000" b="1" dirty="0" smtClean="0">
                          <a:latin typeface="Arial" panose="020B0604020202020204" pitchFamily="34" charset="0"/>
                          <a:cs typeface="Arial" panose="020B0604020202020204" pitchFamily="34" charset="0"/>
                        </a:rPr>
                        <a:t>wrong</a:t>
                      </a:r>
                      <a:endParaRPr lang="en-US" sz="2000" b="1"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smtClean="0"/>
                        <a:t>0.2448</a:t>
                      </a:r>
                      <a:r>
                        <a:rPr lang="en-US" sz="2000" dirty="0" smtClean="0">
                          <a:latin typeface="Arial" panose="020B0604020202020204" pitchFamily="34" charset="0"/>
                          <a:cs typeface="Arial" panose="020B0604020202020204" pitchFamily="34" charset="0"/>
                        </a:rPr>
                        <a:t>/1.0612</a:t>
                      </a:r>
                    </a:p>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=0.231</a:t>
                      </a:r>
                      <a:endParaRPr lang="en-US" sz="20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0.154-0.385</a:t>
                      </a:r>
                      <a:endParaRPr lang="en-US" sz="2000" dirty="0">
                        <a:latin typeface="Arial" panose="020B0604020202020204" pitchFamily="34" charset="0"/>
                        <a:cs typeface="Arial" panose="020B0604020202020204" pitchFamily="34" charset="0"/>
                      </a:endParaRPr>
                    </a:p>
                  </a:txBody>
                  <a:tcPr/>
                </a:tc>
              </a:tr>
              <a:tr h="561638">
                <a:tc>
                  <a:txBody>
                    <a:bodyPr/>
                    <a:lstStyle/>
                    <a:p>
                      <a:pPr>
                        <a:lnSpc>
                          <a:spcPct val="150000"/>
                        </a:lnSpc>
                      </a:pPr>
                      <a:r>
                        <a:rPr lang="en-US" sz="2000" dirty="0" smtClean="0">
                          <a:latin typeface="Arial" panose="020B0604020202020204" pitchFamily="34" charset="0"/>
                          <a:cs typeface="Arial" panose="020B0604020202020204" pitchFamily="34" charset="0"/>
                        </a:rPr>
                        <a:t>1</a:t>
                      </a:r>
                      <a:endParaRPr lang="en-US" sz="2000" dirty="0">
                        <a:latin typeface="Arial" panose="020B0604020202020204" pitchFamily="34" charset="0"/>
                        <a:cs typeface="Arial" panose="020B0604020202020204" pitchFamily="34" charset="0"/>
                      </a:endParaRPr>
                    </a:p>
                  </a:txBody>
                  <a:tcPr/>
                </a:tc>
                <a:tc>
                  <a:txBody>
                    <a:bodyPr/>
                    <a:lstStyle/>
                    <a:p>
                      <a:pPr>
                        <a:lnSpc>
                          <a:spcPct val="150000"/>
                        </a:lnSpc>
                      </a:pPr>
                      <a:r>
                        <a:rPr lang="en-US" sz="2000" dirty="0" smtClean="0">
                          <a:latin typeface="Arial" panose="020B0604020202020204" pitchFamily="34" charset="0"/>
                          <a:cs typeface="Arial" panose="020B0604020202020204" pitchFamily="34" charset="0"/>
                        </a:rPr>
                        <a:t>Correct</a:t>
                      </a:r>
                      <a:endParaRPr lang="en-US" sz="20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smtClean="0"/>
                        <a:t>0.1634</a:t>
                      </a:r>
                      <a:r>
                        <a:rPr lang="en-US" sz="2000" dirty="0" smtClean="0">
                          <a:latin typeface="Arial" panose="020B0604020202020204" pitchFamily="34" charset="0"/>
                          <a:cs typeface="Arial" panose="020B0604020202020204" pitchFamily="34" charset="0"/>
                        </a:rPr>
                        <a:t>/1.0612</a:t>
                      </a:r>
                    </a:p>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=0.154</a:t>
                      </a:r>
                      <a:endParaRPr lang="en-US" sz="20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0.385-0.539</a:t>
                      </a:r>
                      <a:endParaRPr lang="en-US" sz="2000" dirty="0">
                        <a:latin typeface="Arial" panose="020B0604020202020204" pitchFamily="34" charset="0"/>
                        <a:cs typeface="Arial" panose="020B0604020202020204" pitchFamily="34" charset="0"/>
                      </a:endParaRPr>
                    </a:p>
                  </a:txBody>
                  <a:tcPr/>
                </a:tc>
              </a:tr>
              <a:tr h="355255">
                <a:tc>
                  <a:txBody>
                    <a:bodyPr/>
                    <a:lstStyle/>
                    <a:p>
                      <a:pPr>
                        <a:lnSpc>
                          <a:spcPct val="150000"/>
                        </a:lnSpc>
                      </a:pPr>
                      <a:r>
                        <a:rPr lang="en-US" sz="2000" b="1" dirty="0" smtClean="0">
                          <a:latin typeface="Arial" panose="020B0604020202020204" pitchFamily="34" charset="0"/>
                          <a:cs typeface="Arial" panose="020B0604020202020204" pitchFamily="34" charset="0"/>
                        </a:rPr>
                        <a:t>0</a:t>
                      </a:r>
                      <a:endParaRPr lang="en-US" sz="2000" b="1" dirty="0">
                        <a:latin typeface="Arial" panose="020B0604020202020204" pitchFamily="34" charset="0"/>
                        <a:cs typeface="Arial" panose="020B0604020202020204" pitchFamily="34" charset="0"/>
                      </a:endParaRPr>
                    </a:p>
                  </a:txBody>
                  <a:tcPr/>
                </a:tc>
                <a:tc>
                  <a:txBody>
                    <a:bodyPr/>
                    <a:lstStyle/>
                    <a:p>
                      <a:pPr>
                        <a:lnSpc>
                          <a:spcPct val="150000"/>
                        </a:lnSpc>
                      </a:pPr>
                      <a:r>
                        <a:rPr lang="en-US" sz="2000" b="1" dirty="0" smtClean="0">
                          <a:latin typeface="Arial" panose="020B0604020202020204" pitchFamily="34" charset="0"/>
                          <a:cs typeface="Arial" panose="020B0604020202020204" pitchFamily="34" charset="0"/>
                        </a:rPr>
                        <a:t>Wrong</a:t>
                      </a:r>
                      <a:endParaRPr lang="en-US" sz="2000" b="1"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smtClean="0"/>
                        <a:t>0.2448</a:t>
                      </a:r>
                      <a:r>
                        <a:rPr lang="en-US" sz="2000" dirty="0" smtClean="0">
                          <a:latin typeface="Arial" panose="020B0604020202020204" pitchFamily="34" charset="0"/>
                          <a:cs typeface="Arial" panose="020B0604020202020204" pitchFamily="34" charset="0"/>
                        </a:rPr>
                        <a:t>/1.0612</a:t>
                      </a:r>
                    </a:p>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=0.231</a:t>
                      </a:r>
                      <a:endParaRPr lang="en-US" sz="2000" dirty="0" smtClean="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0.539-0.770</a:t>
                      </a:r>
                      <a:endParaRPr lang="en-US" sz="2000" dirty="0" smtClean="0">
                        <a:latin typeface="Arial" panose="020B0604020202020204" pitchFamily="34" charset="0"/>
                        <a:cs typeface="Arial" panose="020B0604020202020204" pitchFamily="34" charset="0"/>
                      </a:endParaRPr>
                    </a:p>
                  </a:txBody>
                  <a:tcPr/>
                </a:tc>
              </a:tr>
              <a:tr h="355255">
                <a:tc>
                  <a:txBody>
                    <a:bodyPr/>
                    <a:lstStyle/>
                    <a:p>
                      <a:pPr>
                        <a:lnSpc>
                          <a:spcPct val="150000"/>
                        </a:lnSpc>
                      </a:pPr>
                      <a:r>
                        <a:rPr lang="en-US" sz="2000" dirty="0" smtClean="0">
                          <a:latin typeface="Arial" panose="020B0604020202020204" pitchFamily="34" charset="0"/>
                          <a:cs typeface="Arial" panose="020B0604020202020204" pitchFamily="34" charset="0"/>
                        </a:rPr>
                        <a:t>1</a:t>
                      </a:r>
                      <a:endParaRPr lang="en-US" sz="2000" dirty="0">
                        <a:latin typeface="Arial" panose="020B0604020202020204" pitchFamily="34" charset="0"/>
                        <a:cs typeface="Arial" panose="020B0604020202020204" pitchFamily="34" charset="0"/>
                      </a:endParaRPr>
                    </a:p>
                  </a:txBody>
                  <a:tcPr/>
                </a:tc>
                <a:tc>
                  <a:txBody>
                    <a:bodyPr/>
                    <a:lstStyle/>
                    <a:p>
                      <a:pPr>
                        <a:lnSpc>
                          <a:spcPct val="150000"/>
                        </a:lnSpc>
                      </a:pPr>
                      <a:r>
                        <a:rPr lang="en-US" sz="2000" dirty="0" smtClean="0">
                          <a:latin typeface="Arial" panose="020B0604020202020204" pitchFamily="34" charset="0"/>
                          <a:cs typeface="Arial" panose="020B0604020202020204" pitchFamily="34" charset="0"/>
                        </a:rPr>
                        <a:t>Correct</a:t>
                      </a:r>
                      <a:endParaRPr lang="en-US" sz="20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smtClean="0"/>
                        <a:t>0.1634</a:t>
                      </a:r>
                      <a:r>
                        <a:rPr lang="en-US" sz="2000" dirty="0" smtClean="0">
                          <a:latin typeface="Arial" panose="020B0604020202020204" pitchFamily="34" charset="0"/>
                          <a:cs typeface="Arial" panose="020B0604020202020204" pitchFamily="34" charset="0"/>
                        </a:rPr>
                        <a:t>/1.0612= 0.154</a:t>
                      </a:r>
                      <a:endParaRPr lang="en-US" sz="2000" dirty="0" smtClean="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2000" dirty="0" smtClean="0">
                          <a:latin typeface="Arial" panose="020B0604020202020204" pitchFamily="34" charset="0"/>
                          <a:cs typeface="Arial" panose="020B0604020202020204" pitchFamily="34" charset="0"/>
                        </a:rPr>
                        <a:t>0.770-1.000</a:t>
                      </a:r>
                      <a:endParaRPr lang="en-US" sz="2000" dirty="0" smtClean="0">
                        <a:latin typeface="Arial" panose="020B0604020202020204" pitchFamily="34" charset="0"/>
                        <a:cs typeface="Arial" panose="020B0604020202020204" pitchFamily="34" charset="0"/>
                      </a:endParaRPr>
                    </a:p>
                  </a:txBody>
                  <a:tcPr/>
                </a:tc>
              </a:tr>
              <a:tr h="355255">
                <a:tc>
                  <a:txBody>
                    <a:bodyPr/>
                    <a:lstStyle/>
                    <a:p>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c>
                  <a:txBody>
                    <a:bodyPr/>
                    <a:lstStyle/>
                    <a:p>
                      <a:r>
                        <a:rPr lang="en-US" sz="2000" dirty="0" smtClean="0">
                          <a:latin typeface="Arial" panose="020B0604020202020204" pitchFamily="34" charset="0"/>
                          <a:cs typeface="Arial" panose="020B0604020202020204" pitchFamily="34" charset="0"/>
                        </a:rPr>
                        <a:t> = 1</a:t>
                      </a:r>
                      <a:endParaRPr lang="en-US" sz="2000" dirty="0">
                        <a:latin typeface="Arial" panose="020B0604020202020204" pitchFamily="34" charset="0"/>
                        <a:cs typeface="Arial" panose="020B0604020202020204" pitchFamily="34" charset="0"/>
                      </a:endParaRPr>
                    </a:p>
                  </a:txBody>
                  <a:tcPr/>
                </a:tc>
                <a:tc>
                  <a:txBody>
                    <a:bodyPr/>
                    <a:lstStyle/>
                    <a:p>
                      <a:endParaRPr lang="en-US" sz="2000" dirty="0">
                        <a:latin typeface="Arial" panose="020B0604020202020204" pitchFamily="34" charset="0"/>
                        <a:cs typeface="Arial" panose="020B0604020202020204" pitchFamily="34" charset="0"/>
                      </a:endParaRPr>
                    </a:p>
                  </a:txBody>
                  <a:tcPr/>
                </a:tc>
              </a:tr>
              <a:tr h="355255">
                <a:tc gridSpan="4">
                  <a:txBody>
                    <a:bodyPr/>
                    <a:lstStyle/>
                    <a:p>
                      <a:r>
                        <a:rPr lang="en-US" sz="2000" dirty="0" smtClean="0">
                          <a:latin typeface="Arial" panose="020B0604020202020204" pitchFamily="34" charset="0"/>
                          <a:cs typeface="Arial" panose="020B0604020202020204" pitchFamily="34" charset="0"/>
                        </a:rPr>
                        <a:t>**</a:t>
                      </a:r>
                      <a:r>
                        <a:rPr lang="en-US" sz="2000" dirty="0" smtClean="0"/>
                        <a:t>Bigger range ⇒ higher chance of selection</a:t>
                      </a:r>
                      <a:endParaRPr lang="en-US" sz="2000" dirty="0">
                        <a:latin typeface="Arial" panose="020B0604020202020204" pitchFamily="34" charset="0"/>
                        <a:cs typeface="Arial" panose="020B0604020202020204" pitchFamily="34" charset="0"/>
                      </a:endParaRPr>
                    </a:p>
                  </a:txBody>
                  <a:tcPr/>
                </a:tc>
                <a:tc hMerge="1">
                  <a:txBody>
                    <a:bodyPr/>
                    <a:lstStyle/>
                    <a:p>
                      <a:endParaRPr lang="en-US" sz="2000" dirty="0">
                        <a:latin typeface="Arial" panose="020B0604020202020204" pitchFamily="34" charset="0"/>
                        <a:cs typeface="Arial" panose="020B0604020202020204" pitchFamily="34" charset="0"/>
                      </a:endParaRPr>
                    </a:p>
                  </a:txBody>
                  <a:tcPr/>
                </a:tc>
                <a:tc hMerge="1">
                  <a:txBody>
                    <a:bodyPr/>
                    <a:lstStyle/>
                    <a:p>
                      <a:endParaRPr lang="en-US" sz="2000" dirty="0">
                        <a:latin typeface="Arial" panose="020B0604020202020204" pitchFamily="34" charset="0"/>
                        <a:cs typeface="Arial" panose="020B0604020202020204" pitchFamily="34" charset="0"/>
                      </a:endParaRPr>
                    </a:p>
                  </a:txBody>
                  <a:tcPr/>
                </a:tc>
                <a:tc hMerge="1">
                  <a:txBody>
                    <a:bodyPr/>
                    <a:lstStyle/>
                    <a:p>
                      <a:endParaRPr lang="en-US" sz="2000" dirty="0">
                        <a:latin typeface="Arial" panose="020B0604020202020204" pitchFamily="34" charset="0"/>
                        <a:cs typeface="Arial" panose="020B0604020202020204" pitchFamily="34" charset="0"/>
                      </a:endParaRPr>
                    </a:p>
                  </a:txBody>
                  <a:tcPr/>
                </a:tc>
              </a:tr>
            </a:tbl>
          </a:graphicData>
        </a:graphic>
      </p:graphicFrame>
    </p:spTree>
    <p:extLst>
      <p:ext uri="{BB962C8B-B14F-4D97-AF65-F5344CB8AC3E}">
        <p14:creationId xmlns:p14="http://schemas.microsoft.com/office/powerpoint/2010/main" val="75178002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224617"/>
            <a:ext cx="8928992" cy="6740307"/>
          </a:xfrm>
          <a:prstGeom prst="rect">
            <a:avLst/>
          </a:prstGeom>
        </p:spPr>
        <p:txBody>
          <a:bodyPr wrap="square">
            <a:spAutoFit/>
          </a:bodyPr>
          <a:lstStyle/>
          <a:p>
            <a:pPr marL="285750" indent="-285750">
              <a:lnSpc>
                <a:spcPct val="200000"/>
              </a:lnSpc>
              <a:buFont typeface="Wingdings" panose="05000000000000000000" pitchFamily="2" charset="2"/>
              <a:buChar char="Ø"/>
            </a:pPr>
            <a:r>
              <a:rPr lang="en-US" sz="2400" dirty="0">
                <a:latin typeface="Arial" panose="020B0604020202020204" pitchFamily="34" charset="0"/>
                <a:cs typeface="Arial" panose="020B0604020202020204" pitchFamily="34" charset="0"/>
              </a:rPr>
              <a:t>The cumulative addition of normalized weights is used to create a probability distribution for resampling</a:t>
            </a:r>
            <a:r>
              <a:rPr lang="en-US" sz="2400" dirty="0" smtClean="0">
                <a:latin typeface="Arial" panose="020B0604020202020204" pitchFamily="34" charset="0"/>
                <a:cs typeface="Arial" panose="020B0604020202020204" pitchFamily="34" charset="0"/>
              </a:rPr>
              <a:t>.</a:t>
            </a:r>
          </a:p>
          <a:p>
            <a:pPr marL="285750" indent="-285750">
              <a:lnSpc>
                <a:spcPct val="200000"/>
              </a:lnSpc>
              <a:buFont typeface="Wingdings" panose="05000000000000000000" pitchFamily="2" charset="2"/>
              <a:buChar char="Ø"/>
            </a:pPr>
            <a:r>
              <a:rPr lang="en-US" sz="2400" b="1" dirty="0">
                <a:latin typeface="Arial" panose="020B0604020202020204" pitchFamily="34" charset="0"/>
                <a:cs typeface="Arial" panose="020B0604020202020204" pitchFamily="34" charset="0"/>
              </a:rPr>
              <a:t>Range</a:t>
            </a:r>
            <a:r>
              <a:rPr lang="en-US" sz="2400" dirty="0">
                <a:latin typeface="Arial" panose="020B0604020202020204" pitchFamily="34" charset="0"/>
                <a:cs typeface="Arial" panose="020B0604020202020204" pitchFamily="34" charset="0"/>
              </a:rPr>
              <a:t>: The cumulative addition of normalized weights shows the probability intervals. The larger ranges (e.g., 0.166 - 0.416) indicate that misclassified samples have a higher chance of being selected in the next iteration</a:t>
            </a:r>
            <a:r>
              <a:rPr lang="en-US" sz="2400" dirty="0" smtClean="0">
                <a:latin typeface="Arial" panose="020B0604020202020204" pitchFamily="34" charset="0"/>
                <a:cs typeface="Arial" panose="020B0604020202020204" pitchFamily="34" charset="0"/>
              </a:rPr>
              <a:t>.</a:t>
            </a:r>
          </a:p>
          <a:p>
            <a:pPr marL="285750" indent="-285750">
              <a:lnSpc>
                <a:spcPct val="200000"/>
              </a:lnSpc>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The </a:t>
            </a:r>
            <a:r>
              <a:rPr lang="en-US" sz="2400" dirty="0">
                <a:latin typeface="Arial" panose="020B0604020202020204" pitchFamily="34" charset="0"/>
                <a:cs typeface="Arial" panose="020B0604020202020204" pitchFamily="34" charset="0"/>
              </a:rPr>
              <a:t>"Range" is a visual representation that shows how the model will give more importance to previously misclassified samples in the next iteration. </a:t>
            </a:r>
          </a:p>
        </p:txBody>
      </p:sp>
    </p:spTree>
    <p:extLst>
      <p:ext uri="{BB962C8B-B14F-4D97-AF65-F5344CB8AC3E}">
        <p14:creationId xmlns:p14="http://schemas.microsoft.com/office/powerpoint/2010/main" val="7022978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rot="10800000" flipV="1">
            <a:off x="342306" y="537939"/>
            <a:ext cx="8499945" cy="3901837"/>
          </a:xfrm>
          <a:prstGeom prst="rect">
            <a:avLst/>
          </a:prstGeom>
        </p:spPr>
        <p:txBody>
          <a:bodyPr wrap="square">
            <a:spAutoFit/>
          </a:bodyPr>
          <a:lstStyle/>
          <a:p>
            <a:pPr>
              <a:lnSpc>
                <a:spcPct val="150000"/>
              </a:lnSpc>
            </a:pPr>
            <a:r>
              <a:rPr lang="en-US" sz="2400" b="1" dirty="0">
                <a:latin typeface="Arial" panose="020B0604020202020204" pitchFamily="34" charset="0"/>
                <a:cs typeface="Arial" panose="020B0604020202020204" pitchFamily="34" charset="0"/>
              </a:rPr>
              <a:t>Step </a:t>
            </a:r>
            <a:r>
              <a:rPr lang="en-US" sz="2400" b="1" dirty="0" smtClean="0">
                <a:latin typeface="Arial" panose="020B0604020202020204" pitchFamily="34" charset="0"/>
                <a:cs typeface="Arial" panose="020B0604020202020204" pitchFamily="34" charset="0"/>
              </a:rPr>
              <a:t>6: </a:t>
            </a:r>
            <a:r>
              <a:rPr lang="en-US" sz="2400" dirty="0" smtClean="0">
                <a:latin typeface="Arial" panose="020B0604020202020204" pitchFamily="34" charset="0"/>
                <a:cs typeface="Arial" panose="020B0604020202020204" pitchFamily="34" charset="0"/>
              </a:rPr>
              <a:t>Continue the process till the results get optimized in terms of time, memory and overfitting with correct classification.</a:t>
            </a:r>
          </a:p>
          <a:p>
            <a:pPr>
              <a:lnSpc>
                <a:spcPct val="150000"/>
              </a:lnSpc>
            </a:pPr>
            <a:endParaRPr lang="en-US" sz="2400" dirty="0">
              <a:latin typeface="Arial" panose="020B0604020202020204" pitchFamily="34" charset="0"/>
              <a:cs typeface="Arial" panose="020B0604020202020204" pitchFamily="34" charset="0"/>
            </a:endParaRPr>
          </a:p>
          <a:p>
            <a:pPr>
              <a:lnSpc>
                <a:spcPct val="150000"/>
              </a:lnSpc>
            </a:pPr>
            <a:r>
              <a:rPr lang="en-US" sz="2400" b="1" dirty="0" smtClean="0">
                <a:latin typeface="Arial" panose="020B0604020202020204" pitchFamily="34" charset="0"/>
                <a:cs typeface="Arial" panose="020B0604020202020204" pitchFamily="34" charset="0"/>
              </a:rPr>
              <a:t>*Note*</a:t>
            </a:r>
          </a:p>
          <a:p>
            <a:pPr>
              <a:lnSpc>
                <a:spcPct val="150000"/>
              </a:lnSpc>
            </a:pPr>
            <a:r>
              <a:rPr lang="en-US" sz="2400" b="1" dirty="0">
                <a:latin typeface="Arial" panose="020B0604020202020204" pitchFamily="34" charset="0"/>
                <a:cs typeface="Arial" panose="020B0604020202020204" pitchFamily="34" charset="0"/>
              </a:rPr>
              <a:t> </a:t>
            </a:r>
            <a:r>
              <a:rPr lang="en-US" sz="2400" b="1" dirty="0" smtClean="0">
                <a:latin typeface="Arial" panose="020B0604020202020204" pitchFamily="34" charset="0"/>
                <a:cs typeface="Arial" panose="020B0604020202020204" pitchFamily="34" charset="0"/>
              </a:rPr>
              <a:t>## </a:t>
            </a:r>
            <a:r>
              <a:rPr lang="en-US" sz="2400" b="1" dirty="0" err="1" smtClean="0">
                <a:latin typeface="Arial" panose="020B0604020202020204" pitchFamily="34" charset="0"/>
                <a:cs typeface="Arial" panose="020B0604020202020204" pitchFamily="34" charset="0"/>
              </a:rPr>
              <a:t>AdaBoost</a:t>
            </a:r>
            <a:r>
              <a:rPr lang="en-US" sz="2400" dirty="0" smtClean="0">
                <a:latin typeface="Arial" panose="020B0604020202020204" pitchFamily="34" charset="0"/>
                <a:cs typeface="Arial" panose="020B0604020202020204" pitchFamily="34" charset="0"/>
              </a:rPr>
              <a:t> was popular one for image classification before </a:t>
            </a:r>
            <a:r>
              <a:rPr lang="en-US" sz="2400" dirty="0" err="1" smtClean="0">
                <a:latin typeface="Arial" panose="020B0604020202020204" pitchFamily="34" charset="0"/>
                <a:cs typeface="Arial" panose="020B0604020202020204" pitchFamily="34" charset="0"/>
              </a:rPr>
              <a:t>deeplearning</a:t>
            </a:r>
            <a:r>
              <a:rPr lang="en-US" sz="2400" dirty="0" smtClean="0">
                <a:latin typeface="Arial" panose="020B0604020202020204" pitchFamily="34" charset="0"/>
                <a:cs typeface="Arial" panose="020B0604020202020204" pitchFamily="34" charset="0"/>
              </a:rPr>
              <a:t> and CNN.</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492654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Final Model</a:t>
            </a:r>
          </a:p>
        </p:txBody>
      </p:sp>
      <p:sp>
        <p:nvSpPr>
          <p:cNvPr id="3" name="Content Placeholder 2"/>
          <p:cNvSpPr>
            <a:spLocks noGrp="1"/>
          </p:cNvSpPr>
          <p:nvPr>
            <p:ph idx="1"/>
          </p:nvPr>
        </p:nvSpPr>
        <p:spPr>
          <a:xfrm>
            <a:off x="479570" y="5601849"/>
            <a:ext cx="8229600" cy="720080"/>
          </a:xfrm>
        </p:spPr>
        <p:txBody>
          <a:bodyPr>
            <a:normAutofit fontScale="92500"/>
          </a:bodyPr>
          <a:lstStyle/>
          <a:p>
            <a:r>
              <a:rPr lang="en-US" dirty="0" smtClean="0"/>
              <a:t>Each </a:t>
            </a:r>
            <a:r>
              <a:rPr lang="en-US" dirty="0"/>
              <a:t>weak learner contributes based on its importance (α)</a:t>
            </a:r>
          </a:p>
        </p:txBody>
      </p:sp>
      <p:pic>
        <p:nvPicPr>
          <p:cNvPr id="4" name="Picture 3"/>
          <p:cNvPicPr>
            <a:picLocks noChangeAspect="1"/>
          </p:cNvPicPr>
          <p:nvPr/>
        </p:nvPicPr>
        <p:blipFill>
          <a:blip r:embed="rId2"/>
          <a:stretch>
            <a:fillRect/>
          </a:stretch>
        </p:blipFill>
        <p:spPr>
          <a:xfrm>
            <a:off x="899592" y="3789040"/>
            <a:ext cx="5667958" cy="1800200"/>
          </a:xfrm>
          <a:prstGeom prst="rect">
            <a:avLst/>
          </a:prstGeom>
        </p:spPr>
      </p:pic>
      <p:pic>
        <p:nvPicPr>
          <p:cNvPr id="5" name="Picture 4"/>
          <p:cNvPicPr>
            <a:picLocks noChangeAspect="1"/>
          </p:cNvPicPr>
          <p:nvPr/>
        </p:nvPicPr>
        <p:blipFill>
          <a:blip r:embed="rId3"/>
          <a:stretch>
            <a:fillRect/>
          </a:stretch>
        </p:blipFill>
        <p:spPr>
          <a:xfrm>
            <a:off x="479570" y="2420888"/>
            <a:ext cx="8397773" cy="864096"/>
          </a:xfrm>
          <a:prstGeom prst="rect">
            <a:avLst/>
          </a:prstGeom>
        </p:spPr>
      </p:pic>
    </p:spTree>
    <p:extLst>
      <p:ext uri="{BB962C8B-B14F-4D97-AF65-F5344CB8AC3E}">
        <p14:creationId xmlns:p14="http://schemas.microsoft.com/office/powerpoint/2010/main" val="307957022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213928487"/>
              </p:ext>
            </p:extLst>
          </p:nvPr>
        </p:nvGraphicFramePr>
        <p:xfrm>
          <a:off x="395536" y="1916832"/>
          <a:ext cx="8229600" cy="2837688"/>
        </p:xfrm>
        <a:graphic>
          <a:graphicData uri="http://schemas.openxmlformats.org/drawingml/2006/table">
            <a:tbl>
              <a:tblPr/>
              <a:tblGrid>
                <a:gridCol w="1800200"/>
                <a:gridCol w="3686200"/>
                <a:gridCol w="2743200"/>
              </a:tblGrid>
              <a:tr h="0">
                <a:tc>
                  <a:txBody>
                    <a:bodyPr/>
                    <a:lstStyle/>
                    <a:p>
                      <a:pPr>
                        <a:lnSpc>
                          <a:spcPct val="200000"/>
                        </a:lnSpc>
                      </a:pPr>
                      <a:r>
                        <a:rPr lang="en-US" sz="2400" b="1" dirty="0">
                          <a:latin typeface="Arial" panose="020B0604020202020204" pitchFamily="34" charset="0"/>
                          <a:cs typeface="Arial" panose="020B0604020202020204" pitchFamily="34" charset="0"/>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00000"/>
                        </a:lnSpc>
                      </a:pPr>
                      <a:r>
                        <a:rPr lang="en-US" sz="2400" b="1" dirty="0">
                          <a:latin typeface="Arial" panose="020B0604020202020204" pitchFamily="34" charset="0"/>
                          <a:cs typeface="Arial" panose="020B0604020202020204" pitchFamily="34" charset="0"/>
                        </a:rPr>
                        <a:t>Prediction (</a:t>
                      </a:r>
                      <a:r>
                        <a:rPr lang="en-US" sz="2400" b="1" dirty="0" smtClean="0">
                          <a:latin typeface="Arial" panose="020B0604020202020204" pitchFamily="34" charset="0"/>
                          <a:cs typeface="Arial" panose="020B0604020202020204" pitchFamily="34" charset="0"/>
                        </a:rPr>
                        <a:t>hi(x</a:t>
                      </a:r>
                      <a:r>
                        <a:rPr lang="en-US" sz="2400" b="1" dirty="0">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00000"/>
                        </a:lnSpc>
                      </a:pPr>
                      <a:r>
                        <a:rPr lang="en-US" sz="2400" b="1" dirty="0">
                          <a:latin typeface="Arial" panose="020B0604020202020204" pitchFamily="34" charset="0"/>
                          <a:cs typeface="Arial" panose="020B0604020202020204" pitchFamily="34" charset="0"/>
                        </a:rPr>
                        <a:t>Weight (</a:t>
                      </a:r>
                      <a:r>
                        <a:rPr lang="el-GR" sz="2400" b="1" dirty="0" smtClean="0">
                          <a:latin typeface="Arial" panose="020B0604020202020204" pitchFamily="34" charset="0"/>
                          <a:cs typeface="Arial" panose="020B0604020202020204" pitchFamily="34" charset="0"/>
                        </a:rPr>
                        <a:t>α</a:t>
                      </a:r>
                      <a:r>
                        <a:rPr lang="en-US" sz="2400" b="1" dirty="0" err="1" smtClean="0">
                          <a:latin typeface="Arial" panose="020B0604020202020204" pitchFamily="34" charset="0"/>
                          <a:cs typeface="Arial" panose="020B0604020202020204" pitchFamily="34" charset="0"/>
                        </a:rPr>
                        <a:t>i</a:t>
                      </a:r>
                      <a:r>
                        <a:rPr lang="en-US" sz="2400" b="1" dirty="0">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200000"/>
                        </a:lnSpc>
                      </a:pPr>
                      <a:r>
                        <a:rPr lang="en-US" sz="2400" dirty="0">
                          <a:latin typeface="Arial" panose="020B0604020202020204" pitchFamily="34" charset="0"/>
                          <a:cs typeface="Arial" panose="020B0604020202020204" pitchFamily="34" charset="0"/>
                        </a:rPr>
                        <a:t>h₁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00000"/>
                        </a:lnSpc>
                      </a:pPr>
                      <a:r>
                        <a:rPr lang="en-US" sz="24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00000"/>
                        </a:lnSpc>
                      </a:pPr>
                      <a:r>
                        <a:rPr lang="en-US" sz="2400">
                          <a:latin typeface="Arial" panose="020B0604020202020204" pitchFamily="34" charset="0"/>
                          <a:cs typeface="Arial" panose="020B0604020202020204" pitchFamily="34" charset="0"/>
                        </a:rPr>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200000"/>
                        </a:lnSpc>
                      </a:pPr>
                      <a:r>
                        <a:rPr lang="en-US" sz="2400" dirty="0">
                          <a:latin typeface="Arial" panose="020B0604020202020204" pitchFamily="34" charset="0"/>
                          <a:cs typeface="Arial" panose="020B0604020202020204" pitchFamily="34" charset="0"/>
                        </a:rPr>
                        <a:t>h₂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00000"/>
                        </a:lnSpc>
                      </a:pPr>
                      <a:r>
                        <a:rPr lang="en-US" sz="24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00000"/>
                        </a:lnSpc>
                      </a:pPr>
                      <a:r>
                        <a:rPr lang="en-US" sz="2400">
                          <a:latin typeface="Arial" panose="020B0604020202020204" pitchFamily="34" charset="0"/>
                          <a:cs typeface="Arial" panose="020B0604020202020204" pitchFamily="34" charset="0"/>
                        </a:rPr>
                        <a:t>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200000"/>
                        </a:lnSpc>
                      </a:pPr>
                      <a:r>
                        <a:rPr lang="en-US" sz="2400">
                          <a:latin typeface="Arial" panose="020B0604020202020204" pitchFamily="34" charset="0"/>
                          <a:cs typeface="Arial" panose="020B0604020202020204" pitchFamily="34" charset="0"/>
                        </a:rPr>
                        <a:t>h₃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00000"/>
                        </a:lnSpc>
                      </a:pPr>
                      <a:r>
                        <a:rPr lang="en-US" sz="2400" dirty="0">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00000"/>
                        </a:lnSpc>
                      </a:pPr>
                      <a:r>
                        <a:rPr lang="en-US" sz="2400" dirty="0">
                          <a:latin typeface="Arial" panose="020B0604020202020204" pitchFamily="34" charset="0"/>
                          <a:cs typeface="Arial" panose="020B0604020202020204" pitchFamily="34" charset="0"/>
                        </a:rPr>
                        <a:t>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6" name="Rectangle 5"/>
          <p:cNvSpPr/>
          <p:nvPr/>
        </p:nvSpPr>
        <p:spPr>
          <a:xfrm>
            <a:off x="179512" y="5229200"/>
            <a:ext cx="8712968" cy="1143070"/>
          </a:xfrm>
          <a:prstGeom prst="rect">
            <a:avLst/>
          </a:prstGeom>
        </p:spPr>
        <p:txBody>
          <a:bodyPr wrap="square">
            <a:spAutoFit/>
          </a:bodyPr>
          <a:lstStyle/>
          <a:p>
            <a:pPr marL="342900" indent="-342900">
              <a:lnSpc>
                <a:spcPct val="150000"/>
              </a:lnSpc>
              <a:buFont typeface="Wingdings" panose="05000000000000000000" pitchFamily="2" charset="2"/>
              <a:buChar char="Ø"/>
            </a:pPr>
            <a:r>
              <a:rPr lang="en-US" sz="2400" dirty="0"/>
              <a:t>Three models are trained sequentially, but their predictions are combined to give the final decision.</a:t>
            </a:r>
          </a:p>
        </p:txBody>
      </p:sp>
    </p:spTree>
    <p:extLst>
      <p:ext uri="{BB962C8B-B14F-4D97-AF65-F5344CB8AC3E}">
        <p14:creationId xmlns:p14="http://schemas.microsoft.com/office/powerpoint/2010/main" val="9596988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Why Boosting reduces Bias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04270471"/>
              </p:ext>
            </p:extLst>
          </p:nvPr>
        </p:nvGraphicFramePr>
        <p:xfrm>
          <a:off x="251520" y="2204864"/>
          <a:ext cx="8229600" cy="3689985"/>
        </p:xfrm>
        <a:graphic>
          <a:graphicData uri="http://schemas.openxmlformats.org/drawingml/2006/table">
            <a:tbl>
              <a:tblPr/>
              <a:tblGrid>
                <a:gridCol w="2743200"/>
                <a:gridCol w="2743200"/>
                <a:gridCol w="2743200"/>
              </a:tblGrid>
              <a:tr h="0">
                <a:tc>
                  <a:txBody>
                    <a:bodyPr/>
                    <a:lstStyle/>
                    <a:p>
                      <a:pPr>
                        <a:lnSpc>
                          <a:spcPct val="150000"/>
                        </a:lnSpc>
                      </a:pPr>
                      <a:r>
                        <a:rPr lang="en-US" sz="2400" b="1" dirty="0">
                          <a:latin typeface="Arial" panose="020B0604020202020204" pitchFamily="34" charset="0"/>
                          <a:cs typeface="Arial" panose="020B0604020202020204" pitchFamily="34" charset="0"/>
                        </a:rPr>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b="1" dirty="0">
                          <a:latin typeface="Arial" panose="020B0604020202020204" pitchFamily="34" charset="0"/>
                          <a:cs typeface="Arial" panose="020B0604020202020204" pitchFamily="34" charset="0"/>
                        </a:rPr>
                        <a:t>Bias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b="1" dirty="0">
                          <a:latin typeface="Arial" panose="020B0604020202020204" pitchFamily="34" charset="0"/>
                          <a:cs typeface="Arial" panose="020B0604020202020204" pitchFamily="34" charset="0"/>
                        </a:rPr>
                        <a:t>Variance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150000"/>
                        </a:lnSpc>
                      </a:pPr>
                      <a:r>
                        <a:rPr lang="en-US" sz="2400" dirty="0">
                          <a:latin typeface="Arial" panose="020B0604020202020204" pitchFamily="34" charset="0"/>
                          <a:cs typeface="Arial" panose="020B0604020202020204" pitchFamily="34" charset="0"/>
                        </a:rPr>
                        <a:t>Decision Tree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latin typeface="Arial" panose="020B0604020202020204" pitchFamily="34" charset="0"/>
                          <a:cs typeface="Arial" panose="020B0604020202020204" pitchFamily="34" charset="0"/>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latin typeface="Arial" panose="020B0604020202020204" pitchFamily="34" charset="0"/>
                          <a:cs typeface="Arial" panose="020B0604020202020204" pitchFamily="34" charset="0"/>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150000"/>
                        </a:lnSpc>
                      </a:pPr>
                      <a:r>
                        <a:rPr lang="en-US" sz="2400">
                          <a:latin typeface="Arial" panose="020B0604020202020204" pitchFamily="34" charset="0"/>
                          <a:cs typeface="Arial" panose="020B0604020202020204" pitchFamily="34" charset="0"/>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latin typeface="Arial" panose="020B0604020202020204" pitchFamily="34" charset="0"/>
                          <a:cs typeface="Arial" panose="020B0604020202020204" pitchFamily="34" charset="0"/>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latin typeface="Arial" panose="020B0604020202020204" pitchFamily="34" charset="0"/>
                          <a:cs typeface="Arial" panose="020B0604020202020204" pitchFamily="34" charset="0"/>
                        </a:rPr>
                        <a:t>Lower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150000"/>
                        </a:lnSpc>
                      </a:pPr>
                      <a:r>
                        <a:rPr lang="en-US" sz="2400" dirty="0">
                          <a:latin typeface="Arial" panose="020B0604020202020204" pitchFamily="34" charset="0"/>
                          <a:cs typeface="Arial" panose="020B0604020202020204" pitchFamily="34" charset="0"/>
                        </a:rPr>
                        <a:t>Boosting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latin typeface="Arial" panose="020B0604020202020204" pitchFamily="34" charset="0"/>
                          <a:cs typeface="Arial" panose="020B0604020202020204" pitchFamily="34" charset="0"/>
                        </a:rPr>
                        <a:t>Low bias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latin typeface="Arial" panose="020B0604020202020204" pitchFamily="34" charset="0"/>
                          <a:cs typeface="Arial" panose="020B0604020202020204" pitchFamily="34" charset="0"/>
                        </a:rPr>
                        <a:t>Controlled variance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gridSpan="3">
                  <a:txBody>
                    <a:bodyPr/>
                    <a:lstStyle/>
                    <a:p>
                      <a:pPr>
                        <a:lnSpc>
                          <a:spcPct val="150000"/>
                        </a:lnSpc>
                      </a:pPr>
                      <a:r>
                        <a:rPr lang="en-US" sz="2400" dirty="0" smtClean="0">
                          <a:latin typeface="Arial" panose="020B0604020202020204" pitchFamily="34" charset="0"/>
                          <a:cs typeface="Arial" panose="020B0604020202020204" pitchFamily="34" charset="0"/>
                        </a:rPr>
                        <a:t>**</a:t>
                      </a:r>
                      <a:r>
                        <a:rPr lang="en-US" sz="2400" dirty="0" smtClean="0"/>
                        <a:t>Boosting </a:t>
                      </a:r>
                      <a:r>
                        <a:rPr lang="en-US" sz="2400" b="1" dirty="0" smtClean="0"/>
                        <a:t>corrects previous mistakes sequentially</a:t>
                      </a:r>
                      <a:r>
                        <a:rPr lang="en-US" sz="2400" dirty="0" smtClean="0"/>
                        <a:t>.</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nSpc>
                          <a:spcPct val="150000"/>
                        </a:lnSpc>
                      </a:pP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nSpc>
                          <a:spcPct val="150000"/>
                        </a:lnSpc>
                      </a:pP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27004429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Difference between Bagging and Boosting</a:t>
            </a:r>
          </a:p>
        </p:txBody>
      </p:sp>
      <p:graphicFrame>
        <p:nvGraphicFramePr>
          <p:cNvPr id="4" name="Table 3"/>
          <p:cNvGraphicFramePr>
            <a:graphicFrameLocks noGrp="1"/>
          </p:cNvGraphicFramePr>
          <p:nvPr>
            <p:extLst>
              <p:ext uri="{D42A27DB-BD31-4B8C-83A1-F6EECF244321}">
                <p14:modId xmlns:p14="http://schemas.microsoft.com/office/powerpoint/2010/main" val="4281389919"/>
              </p:ext>
            </p:extLst>
          </p:nvPr>
        </p:nvGraphicFramePr>
        <p:xfrm>
          <a:off x="323528" y="2564904"/>
          <a:ext cx="8229600" cy="2861310"/>
        </p:xfrm>
        <a:graphic>
          <a:graphicData uri="http://schemas.openxmlformats.org/drawingml/2006/table">
            <a:tbl>
              <a:tblPr/>
              <a:tblGrid>
                <a:gridCol w="2743200"/>
                <a:gridCol w="2743200"/>
                <a:gridCol w="2743200"/>
              </a:tblGrid>
              <a:tr h="0">
                <a:tc>
                  <a:txBody>
                    <a:bodyPr/>
                    <a:lstStyle/>
                    <a:p>
                      <a:pPr>
                        <a:lnSpc>
                          <a:spcPct val="150000"/>
                        </a:lnSpc>
                      </a:pPr>
                      <a:r>
                        <a:rPr lang="en-US" sz="2400" b="1">
                          <a:latin typeface="Arial" panose="020B0604020202020204" pitchFamily="34" charset="0"/>
                          <a:cs typeface="Arial" panose="020B0604020202020204" pitchFamily="34" charset="0"/>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b="1">
                          <a:latin typeface="Arial" panose="020B0604020202020204" pitchFamily="34" charset="0"/>
                          <a:cs typeface="Arial" panose="020B0604020202020204" pitchFamily="34" charset="0"/>
                        </a:rPr>
                        <a:t>Bagging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b="1" dirty="0">
                          <a:latin typeface="Arial" panose="020B0604020202020204" pitchFamily="34" charset="0"/>
                          <a:cs typeface="Arial" panose="020B0604020202020204" pitchFamily="34" charset="0"/>
                        </a:rPr>
                        <a:t>Boosting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150000"/>
                        </a:lnSpc>
                      </a:pPr>
                      <a:r>
                        <a:rPr lang="en-US" sz="2400">
                          <a:latin typeface="Arial" panose="020B0604020202020204" pitchFamily="34" charset="0"/>
                          <a:cs typeface="Arial" panose="020B0604020202020204" pitchFamily="34" charset="0"/>
                        </a:rPr>
                        <a:t>Training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a:latin typeface="Arial" panose="020B0604020202020204" pitchFamily="34" charset="0"/>
                          <a:cs typeface="Arial" panose="020B0604020202020204" pitchFamily="34" charset="0"/>
                        </a:rPr>
                        <a:t>Parallel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a:latin typeface="Arial" panose="020B0604020202020204" pitchFamily="34" charset="0"/>
                          <a:cs typeface="Arial" panose="020B0604020202020204" pitchFamily="34" charset="0"/>
                        </a:rPr>
                        <a:t>Sequential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150000"/>
                        </a:lnSpc>
                      </a:pPr>
                      <a:r>
                        <a:rPr lang="en-US" sz="2400">
                          <a:latin typeface="Arial" panose="020B0604020202020204" pitchFamily="34" charset="0"/>
                          <a:cs typeface="Arial" panose="020B0604020202020204" pitchFamily="34" charset="0"/>
                        </a:rPr>
                        <a:t>Sampling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a:latin typeface="Arial" panose="020B0604020202020204" pitchFamily="34" charset="0"/>
                          <a:cs typeface="Arial" panose="020B0604020202020204" pitchFamily="34" charset="0"/>
                        </a:rPr>
                        <a:t>Bootstrap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a:latin typeface="Arial" panose="020B0604020202020204" pitchFamily="34" charset="0"/>
                          <a:cs typeface="Arial" panose="020B0604020202020204" pitchFamily="34" charset="0"/>
                        </a:rPr>
                        <a:t>Weighted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150000"/>
                        </a:lnSpc>
                      </a:pPr>
                      <a:r>
                        <a:rPr lang="en-US" sz="2400">
                          <a:latin typeface="Arial" panose="020B0604020202020204" pitchFamily="34" charset="0"/>
                          <a:cs typeface="Arial" panose="020B0604020202020204" pitchFamily="34" charset="0"/>
                        </a:rPr>
                        <a:t>Focus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a:latin typeface="Arial" panose="020B0604020202020204" pitchFamily="34" charset="0"/>
                          <a:cs typeface="Arial" panose="020B0604020202020204" pitchFamily="34" charset="0"/>
                        </a:rPr>
                        <a:t>Reduce variance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a:latin typeface="Arial" panose="020B0604020202020204" pitchFamily="34" charset="0"/>
                          <a:cs typeface="Arial" panose="020B0604020202020204" pitchFamily="34" charset="0"/>
                        </a:rPr>
                        <a:t>Reduce bias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150000"/>
                        </a:lnSpc>
                      </a:pPr>
                      <a:r>
                        <a:rPr lang="en-US" sz="2400">
                          <a:latin typeface="Arial" panose="020B0604020202020204" pitchFamily="34" charset="0"/>
                          <a:cs typeface="Arial" panose="020B0604020202020204" pitchFamily="34" charset="0"/>
                        </a:rPr>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a:latin typeface="Arial" panose="020B0604020202020204" pitchFamily="34" charset="0"/>
                          <a:cs typeface="Arial" panose="020B0604020202020204" pitchFamily="34" charset="0"/>
                        </a:rPr>
                        <a:t>Random Forest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err="1">
                          <a:latin typeface="Arial" panose="020B0604020202020204" pitchFamily="34" charset="0"/>
                          <a:cs typeface="Arial" panose="020B0604020202020204" pitchFamily="34" charset="0"/>
                        </a:rPr>
                        <a:t>AdaBoost</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36816785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548680"/>
            <a:ext cx="8229600" cy="504056"/>
          </a:xfrm>
        </p:spPr>
        <p:txBody>
          <a:bodyPr>
            <a:noAutofit/>
          </a:bodyPr>
          <a:lstStyle/>
          <a:p>
            <a:pPr algn="ctr"/>
            <a:r>
              <a:rPr lang="en-US" sz="4000" b="1" dirty="0" smtClean="0"/>
              <a:t>Gradient Boosting:</a:t>
            </a:r>
            <a:endParaRPr lang="en-US" sz="4000" b="1" dirty="0"/>
          </a:p>
        </p:txBody>
      </p:sp>
      <p:sp>
        <p:nvSpPr>
          <p:cNvPr id="3" name="Content Placeholder 2"/>
          <p:cNvSpPr>
            <a:spLocks noGrp="1"/>
          </p:cNvSpPr>
          <p:nvPr>
            <p:ph idx="1"/>
          </p:nvPr>
        </p:nvSpPr>
        <p:spPr>
          <a:xfrm>
            <a:off x="220688" y="1268760"/>
            <a:ext cx="8579296" cy="5040560"/>
          </a:xfrm>
        </p:spPr>
        <p:txBody>
          <a:bodyPr>
            <a:normAutofit/>
          </a:bodyPr>
          <a:lstStyle/>
          <a:p>
            <a:pPr>
              <a:lnSpc>
                <a:spcPct val="150000"/>
              </a:lnSpc>
              <a:buFont typeface="Wingdings" panose="05000000000000000000" pitchFamily="2" charset="2"/>
              <a:buChar char="Ø"/>
            </a:pPr>
            <a:r>
              <a:rPr lang="en-US" sz="2400" b="1" dirty="0">
                <a:latin typeface="Arial" panose="020B0604020202020204" pitchFamily="34" charset="0"/>
                <a:cs typeface="Arial" panose="020B0604020202020204" pitchFamily="34" charset="0"/>
              </a:rPr>
              <a:t>Gradient Boosting </a:t>
            </a:r>
            <a:r>
              <a:rPr lang="en-US" sz="2400" dirty="0">
                <a:latin typeface="Arial" panose="020B0604020202020204" pitchFamily="34" charset="0"/>
                <a:cs typeface="Arial" panose="020B0604020202020204" pitchFamily="34" charset="0"/>
              </a:rPr>
              <a:t>optimize the model by </a:t>
            </a:r>
            <a:r>
              <a:rPr lang="en-US" sz="2400" b="1" dirty="0">
                <a:latin typeface="Arial" panose="020B0604020202020204" pitchFamily="34" charset="0"/>
                <a:cs typeface="Arial" panose="020B0604020202020204" pitchFamily="34" charset="0"/>
              </a:rPr>
              <a:t>minimizing a loss function</a:t>
            </a:r>
            <a:r>
              <a:rPr lang="en-US" sz="2400" dirty="0">
                <a:latin typeface="Arial" panose="020B0604020202020204" pitchFamily="34" charset="0"/>
                <a:cs typeface="Arial" panose="020B0604020202020204" pitchFamily="34" charset="0"/>
              </a:rPr>
              <a:t>, which measures how well the model's predictions match the actual data</a:t>
            </a:r>
            <a:r>
              <a:rPr lang="en-US" sz="2400" dirty="0" smtClean="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9662126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251520" y="692696"/>
            <a:ext cx="8202170" cy="6001588"/>
          </a:xfrm>
          <a:prstGeom prst="rect">
            <a:avLst/>
          </a:prstGeom>
        </p:spPr>
      </p:pic>
    </p:spTree>
    <p:extLst>
      <p:ext uri="{BB962C8B-B14F-4D97-AF65-F5344CB8AC3E}">
        <p14:creationId xmlns:p14="http://schemas.microsoft.com/office/powerpoint/2010/main" val="296284545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Interpretation of </a:t>
            </a:r>
            <a:r>
              <a:rPr lang="en-US" b="1" dirty="0" smtClean="0"/>
              <a:t>F1(x)</a:t>
            </a:r>
            <a:endParaRPr lang="en-US" b="1" dirty="0"/>
          </a:p>
        </p:txBody>
      </p:sp>
      <p:graphicFrame>
        <p:nvGraphicFramePr>
          <p:cNvPr id="4" name="Table 3"/>
          <p:cNvGraphicFramePr>
            <a:graphicFrameLocks noGrp="1"/>
          </p:cNvGraphicFramePr>
          <p:nvPr>
            <p:extLst>
              <p:ext uri="{D42A27DB-BD31-4B8C-83A1-F6EECF244321}">
                <p14:modId xmlns:p14="http://schemas.microsoft.com/office/powerpoint/2010/main" val="3404410345"/>
              </p:ext>
            </p:extLst>
          </p:nvPr>
        </p:nvGraphicFramePr>
        <p:xfrm>
          <a:off x="457200" y="2204864"/>
          <a:ext cx="7373583" cy="2916875"/>
        </p:xfrm>
        <a:graphic>
          <a:graphicData uri="http://schemas.openxmlformats.org/drawingml/2006/table">
            <a:tbl>
              <a:tblPr/>
              <a:tblGrid>
                <a:gridCol w="2929083"/>
                <a:gridCol w="4444500"/>
              </a:tblGrid>
              <a:tr h="0">
                <a:tc>
                  <a:txBody>
                    <a:bodyPr/>
                    <a:lstStyle/>
                    <a:p>
                      <a:pPr>
                        <a:lnSpc>
                          <a:spcPct val="150000"/>
                        </a:lnSpc>
                      </a:pPr>
                      <a:r>
                        <a:rPr lang="en-US" sz="2400" b="1" dirty="0"/>
                        <a:t>Term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b="1" dirty="0"/>
                        <a:t>Meaning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150000"/>
                        </a:lnSpc>
                      </a:pPr>
                      <a:r>
                        <a:rPr lang="en-US" sz="2400" dirty="0" smtClean="0"/>
                        <a:t>F1(x)</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t>Initial </a:t>
                      </a:r>
                      <a:r>
                        <a:rPr lang="en-US" sz="2400" dirty="0" smtClean="0"/>
                        <a:t>model = mean(y)</a:t>
                      </a:r>
                      <a:endParaRPr lang="en-US"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150000"/>
                        </a:lnSpc>
                      </a:pPr>
                      <a:r>
                        <a:rPr lang="en-US" sz="2400"/>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a:t>Constant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150000"/>
                        </a:lnSpc>
                      </a:pPr>
                      <a:r>
                        <a:rPr lang="en-US" sz="2400"/>
                        <a:t>Depends on 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a:t>❌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150000"/>
                        </a:lnSpc>
                      </a:pPr>
                      <a:r>
                        <a:rPr lang="en-US" sz="2400"/>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50000"/>
                        </a:lnSpc>
                      </a:pPr>
                      <a:r>
                        <a:rPr lang="en-US" sz="2400" dirty="0"/>
                        <a:t>Same for all inputs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54324709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7767" y="1196752"/>
            <a:ext cx="8748464" cy="4389120"/>
          </a:xfrm>
        </p:spPr>
        <p:txBody>
          <a:bodyPr>
            <a:normAutofit/>
          </a:bodyPr>
          <a:lstStyle/>
          <a:p>
            <a:pPr marL="0" lvl="1" indent="393700" algn="just">
              <a:lnSpc>
                <a:spcPct val="150000"/>
              </a:lnSpc>
              <a:buFont typeface="Wingdings" panose="05000000000000000000" pitchFamily="2" charset="2"/>
              <a:buChar char="Ø"/>
            </a:pPr>
            <a:r>
              <a:rPr lang="en-US" dirty="0" smtClean="0"/>
              <a:t>Each </a:t>
            </a:r>
            <a:r>
              <a:rPr lang="en-US" dirty="0"/>
              <a:t>weak learner focuses on improving the overall model by addressing the errors (residuals) of the previous ensemble</a:t>
            </a:r>
            <a:r>
              <a:rPr lang="en-US" dirty="0" smtClean="0"/>
              <a:t>.</a:t>
            </a:r>
          </a:p>
          <a:p>
            <a:pPr marL="266700" lvl="1" indent="-266700">
              <a:lnSpc>
                <a:spcPct val="150000"/>
              </a:lnSpc>
              <a:buFont typeface="Wingdings" panose="05000000000000000000" pitchFamily="2" charset="2"/>
              <a:buChar char="Ø"/>
            </a:pPr>
            <a:r>
              <a:rPr lang="en-US" b="1" dirty="0" smtClean="0"/>
              <a:t>Loss </a:t>
            </a:r>
            <a:r>
              <a:rPr lang="en-US" b="1" dirty="0"/>
              <a:t>Function</a:t>
            </a:r>
            <a:r>
              <a:rPr lang="en-US" dirty="0"/>
              <a:t>:</a:t>
            </a:r>
          </a:p>
          <a:p>
            <a:pPr lvl="1"/>
            <a:endParaRPr lang="en-US" sz="2000" dirty="0"/>
          </a:p>
          <a:p>
            <a:pPr lvl="1" algn="just"/>
            <a:endParaRPr lang="en-US" sz="2000"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996952"/>
            <a:ext cx="8640960" cy="1440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a14="http://schemas.microsoft.com/office/drawing/2010/main" Requires="a14">
          <p:sp>
            <p:nvSpPr>
              <p:cNvPr id="7" name="TextBox 6"/>
              <p:cNvSpPr txBox="1"/>
              <p:nvPr/>
            </p:nvSpPr>
            <p:spPr>
              <a:xfrm>
                <a:off x="1799692" y="4548336"/>
                <a:ext cx="5976664" cy="521553"/>
              </a:xfrm>
              <a:prstGeom prst="rect">
                <a:avLst/>
              </a:prstGeom>
              <a:noFill/>
            </p:spPr>
            <p:txBody>
              <a:bodyPr wrap="square" lIns="0" tIns="0" rIns="0" bIns="0" rtlCol="0">
                <a:spAutoFit/>
              </a:bodyPr>
              <a:lstStyle/>
              <a:p>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 </m:t>
                        </m:r>
                        <m:r>
                          <a:rPr lang="en-US" sz="2400" b="0" i="1" smtClean="0">
                            <a:latin typeface="Cambria Math" panose="02040503050406030204" pitchFamily="18" charset="0"/>
                          </a:rPr>
                          <m:t>𝐿</m:t>
                        </m:r>
                        <m:r>
                          <a:rPr lang="en-US" sz="2400" b="0" i="1" smtClean="0">
                            <a:latin typeface="Cambria Math" panose="02040503050406030204" pitchFamily="18" charset="0"/>
                          </a:rPr>
                          <m:t>(</m:t>
                        </m:r>
                        <m:r>
                          <a:rPr lang="en-US" sz="2400" b="0" i="1" smtClean="0">
                            <a:latin typeface="Cambria Math" panose="02040503050406030204" pitchFamily="18" charset="0"/>
                          </a:rPr>
                          <m:t>𝑦</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𝐹</m:t>
                    </m:r>
                    <m:r>
                      <a:rPr lang="en-US" sz="2400" b="0" i="1" smtClean="0">
                        <a:latin typeface="Cambria Math" panose="02040503050406030204" pitchFamily="18" charset="0"/>
                      </a:rPr>
                      <m:t>(</m:t>
                    </m:r>
                    <m:r>
                      <a:rPr lang="en-US" sz="2400" b="0" i="1" smtClean="0">
                        <a:latin typeface="Cambria Math" panose="02040503050406030204" pitchFamily="18" charset="0"/>
                      </a:rPr>
                      <m:t>𝑥𝑖</m:t>
                    </m:r>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sub>
                      <m:sup>
                        <m:r>
                          <a:rPr lang="en-US" sz="2400" b="0" i="1" smtClean="0">
                            <a:latin typeface="Cambria Math" panose="02040503050406030204" pitchFamily="18" charset="0"/>
                          </a:rPr>
                          <m:t>𝑛</m:t>
                        </m:r>
                      </m:sup>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m:t>
                            </m:r>
                            <m:r>
                              <a:rPr lang="en-US" sz="2400" b="0" i="1" smtClean="0">
                                <a:latin typeface="Cambria Math" panose="02040503050406030204" pitchFamily="18" charset="0"/>
                              </a:rPr>
                              <m:t>𝑦𝑖</m:t>
                            </m:r>
                            <m:r>
                              <a:rPr lang="en-US" sz="2400" b="0" i="1" smtClean="0">
                                <a:latin typeface="Cambria Math" panose="02040503050406030204" pitchFamily="18" charset="0"/>
                              </a:rPr>
                              <m:t>−</m:t>
                            </m:r>
                            <m:r>
                              <a:rPr lang="en-US" sz="2400" b="0" i="1" smtClean="0">
                                <a:latin typeface="Cambria Math" panose="02040503050406030204" pitchFamily="18" charset="0"/>
                              </a:rPr>
                              <m:t>𝐹</m:t>
                            </m:r>
                            <m:r>
                              <a:rPr lang="en-US" sz="2400" b="0" i="1" smtClean="0">
                                <a:latin typeface="Cambria Math" panose="02040503050406030204" pitchFamily="18" charset="0"/>
                              </a:rPr>
                              <m:t>(</m:t>
                            </m:r>
                            <m:r>
                              <a:rPr lang="en-US" sz="2400" b="0" i="1" smtClean="0">
                                <a:latin typeface="Cambria Math" panose="02040503050406030204" pitchFamily="18" charset="0"/>
                              </a:rPr>
                              <m:t>𝑥𝑖</m:t>
                            </m:r>
                            <m:r>
                              <a:rPr lang="en-US" sz="2400" b="0" i="1" smtClean="0">
                                <a:latin typeface="Cambria Math" panose="02040503050406030204" pitchFamily="18" charset="0"/>
                              </a:rPr>
                              <m:t>))</m:t>
                            </m:r>
                          </m:e>
                          <m:sup>
                            <m:r>
                              <a:rPr lang="en-US" sz="2400" b="0" i="1" smtClean="0">
                                <a:latin typeface="Cambria Math" panose="02040503050406030204" pitchFamily="18" charset="0"/>
                              </a:rPr>
                              <m:t>2</m:t>
                            </m:r>
                          </m:sup>
                        </m:sSup>
                      </m:e>
                    </m:nary>
                  </m:oMath>
                </a14:m>
                <a:r>
                  <a:rPr lang="en-US" sz="2400" dirty="0" smtClean="0"/>
                  <a:t>  </a:t>
                </a:r>
                <a:endParaRPr lang="en-US" sz="2400" dirty="0"/>
              </a:p>
            </p:txBody>
          </p:sp>
        </mc:Choice>
        <mc:Fallback>
          <p:sp>
            <p:nvSpPr>
              <p:cNvPr id="7" name="TextBox 6"/>
              <p:cNvSpPr txBox="1">
                <a:spLocks noRot="1" noChangeAspect="1" noMove="1" noResize="1" noEditPoints="1" noAdjustHandles="1" noChangeArrowheads="1" noChangeShapeType="1" noTextEdit="1"/>
              </p:cNvSpPr>
              <p:nvPr/>
            </p:nvSpPr>
            <p:spPr>
              <a:xfrm>
                <a:off x="1799692" y="4548336"/>
                <a:ext cx="5976664" cy="521553"/>
              </a:xfrm>
              <a:prstGeom prst="rect">
                <a:avLst/>
              </a:prstGeom>
              <a:blipFill rotWithShape="0">
                <a:blip r:embed="rId3"/>
                <a:stretch>
                  <a:fillRect/>
                </a:stretch>
              </a:blipFill>
            </p:spPr>
            <p:txBody>
              <a:bodyPr/>
              <a:lstStyle/>
              <a:p>
                <a:r>
                  <a:rPr lang="en-US">
                    <a:noFill/>
                  </a:rPr>
                  <a:t> </a:t>
                </a:r>
              </a:p>
            </p:txBody>
          </p:sp>
        </mc:Fallback>
      </mc:AlternateContent>
      <p:pic>
        <p:nvPicPr>
          <p:cNvPr id="8" name="Picture 7"/>
          <p:cNvPicPr>
            <a:picLocks noChangeAspect="1"/>
          </p:cNvPicPr>
          <p:nvPr/>
        </p:nvPicPr>
        <p:blipFill>
          <a:blip r:embed="rId4"/>
          <a:stretch>
            <a:fillRect/>
          </a:stretch>
        </p:blipFill>
        <p:spPr>
          <a:xfrm>
            <a:off x="1929941" y="5121031"/>
            <a:ext cx="2880320" cy="1152129"/>
          </a:xfrm>
          <a:prstGeom prst="rect">
            <a:avLst/>
          </a:prstGeom>
        </p:spPr>
      </p:pic>
    </p:spTree>
    <p:extLst>
      <p:ext uri="{BB962C8B-B14F-4D97-AF65-F5344CB8AC3E}">
        <p14:creationId xmlns:p14="http://schemas.microsoft.com/office/powerpoint/2010/main" val="103025291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2132856"/>
            <a:ext cx="8229600" cy="1143000"/>
          </a:xfrm>
        </p:spPr>
        <p:txBody>
          <a:bodyPr>
            <a:normAutofit fontScale="90000"/>
          </a:bodyPr>
          <a:lstStyle/>
          <a:p>
            <a:r>
              <a:rPr lang="en-US" b="1" dirty="0"/>
              <a:t>Algorithm behind Gradient </a:t>
            </a:r>
            <a:r>
              <a:rPr lang="en-US" b="1" dirty="0" smtClean="0"/>
              <a:t>boosting</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840422736"/>
              </p:ext>
            </p:extLst>
          </p:nvPr>
        </p:nvGraphicFramePr>
        <p:xfrm>
          <a:off x="244116" y="4149080"/>
          <a:ext cx="9108504" cy="2011680"/>
        </p:xfrm>
        <a:graphic>
          <a:graphicData uri="http://schemas.openxmlformats.org/drawingml/2006/table">
            <a:tbl>
              <a:tblPr firstRow="1" bandRow="1">
                <a:tableStyleId>{5C22544A-7EE6-4342-B048-85BDC9FD1C3A}</a:tableStyleId>
              </a:tblPr>
              <a:tblGrid>
                <a:gridCol w="9108504"/>
              </a:tblGrid>
              <a:tr h="370840">
                <a:tc>
                  <a:txBody>
                    <a:bodyPr/>
                    <a:lstStyle/>
                    <a:p>
                      <a:pPr marL="285750" indent="-285750">
                        <a:lnSpc>
                          <a:spcPct val="150000"/>
                        </a:lnSpc>
                        <a:buFont typeface="Wingdings" panose="05000000000000000000" pitchFamily="2" charset="2"/>
                        <a:buChar char="Ø"/>
                      </a:pPr>
                      <a:r>
                        <a:rPr lang="en-US" sz="2400" dirty="0" smtClean="0">
                          <a:latin typeface="Arial" panose="020B0604020202020204" pitchFamily="34" charset="0"/>
                          <a:cs typeface="Arial" panose="020B0604020202020204" pitchFamily="34" charset="0"/>
                        </a:rPr>
                        <a:t>Inputs for start: training set{(xi,yi)}for</a:t>
                      </a:r>
                      <a:r>
                        <a:rPr lang="en-US" sz="2400" baseline="0" dirty="0" smtClean="0">
                          <a:latin typeface="Arial" panose="020B0604020202020204" pitchFamily="34" charset="0"/>
                          <a:cs typeface="Arial" panose="020B0604020202020204" pitchFamily="34" charset="0"/>
                        </a:rPr>
                        <a:t> n values,</a:t>
                      </a:r>
                    </a:p>
                    <a:p>
                      <a:pPr marL="285750" indent="-285750">
                        <a:lnSpc>
                          <a:spcPct val="150000"/>
                        </a:lnSpc>
                        <a:buFont typeface="Wingdings" panose="05000000000000000000" pitchFamily="2" charset="2"/>
                        <a:buChar char="Ø"/>
                      </a:pPr>
                      <a:r>
                        <a:rPr lang="en-US" sz="2400" baseline="0" dirty="0" smtClean="0">
                          <a:latin typeface="Arial" panose="020B0604020202020204" pitchFamily="34" charset="0"/>
                          <a:cs typeface="Arial" panose="020B0604020202020204" pitchFamily="34" charset="0"/>
                        </a:rPr>
                        <a:t>Differentiable loss function</a:t>
                      </a:r>
                    </a:p>
                    <a:p>
                      <a:pPr marL="285750" indent="-285750">
                        <a:lnSpc>
                          <a:spcPct val="150000"/>
                        </a:lnSpc>
                        <a:buFont typeface="Wingdings" panose="05000000000000000000" pitchFamily="2" charset="2"/>
                        <a:buChar char="Ø"/>
                      </a:pPr>
                      <a:r>
                        <a:rPr lang="en-US" sz="2400" baseline="0" dirty="0" smtClean="0">
                          <a:latin typeface="Arial" panose="020B0604020202020204" pitchFamily="34" charset="0"/>
                          <a:cs typeface="Arial" panose="020B0604020202020204" pitchFamily="34" charset="0"/>
                        </a:rPr>
                        <a:t>Number of iterations </a:t>
                      </a:r>
                      <a:r>
                        <a:rPr lang="en-US" sz="2400" baseline="0" dirty="0" smtClean="0">
                          <a:latin typeface="Arial" panose="020B0604020202020204" pitchFamily="34" charset="0"/>
                          <a:cs typeface="Arial" panose="020B0604020202020204" pitchFamily="34" charset="0"/>
                        </a:rPr>
                        <a:t>M</a:t>
                      </a:r>
                      <a:endParaRPr lang="en-US" sz="2400" baseline="0" dirty="0" smtClean="0">
                        <a:latin typeface="Arial" panose="020B0604020202020204" pitchFamily="34" charset="0"/>
                        <a:cs typeface="Arial" panose="020B0604020202020204" pitchFamily="34" charset="0"/>
                      </a:endParaRPr>
                    </a:p>
                    <a:p>
                      <a:endParaRPr lang="en-US" dirty="0"/>
                    </a:p>
                  </a:txBody>
                  <a:tcPr/>
                </a:tc>
              </a:tr>
            </a:tbl>
          </a:graphicData>
        </a:graphic>
      </p:graphicFrame>
    </p:spTree>
    <p:extLst>
      <p:ext uri="{BB962C8B-B14F-4D97-AF65-F5344CB8AC3E}">
        <p14:creationId xmlns:p14="http://schemas.microsoft.com/office/powerpoint/2010/main" val="171276417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07504" y="1196752"/>
            <a:ext cx="9005081" cy="5256584"/>
          </a:xfrm>
          <a:prstGeom prst="rect">
            <a:avLst/>
          </a:prstGeom>
        </p:spPr>
      </p:pic>
      <p:sp>
        <p:nvSpPr>
          <p:cNvPr id="7" name="Rectangle 6"/>
          <p:cNvSpPr/>
          <p:nvPr/>
        </p:nvSpPr>
        <p:spPr>
          <a:xfrm>
            <a:off x="4355976" y="1552750"/>
            <a:ext cx="2880320"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Essentially mean of  </a:t>
            </a:r>
            <a:r>
              <a:rPr lang="en-US" dirty="0" err="1" smtClean="0"/>
              <a:t>yi</a:t>
            </a:r>
            <a:endParaRPr lang="en-US" dirty="0"/>
          </a:p>
        </p:txBody>
      </p:sp>
      <p:sp>
        <p:nvSpPr>
          <p:cNvPr id="8" name="Rectangle 7"/>
          <p:cNvSpPr/>
          <p:nvPr/>
        </p:nvSpPr>
        <p:spPr>
          <a:xfrm>
            <a:off x="4355976" y="2340796"/>
            <a:ext cx="2142492"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Negative gradient</a:t>
            </a:r>
            <a:endParaRPr lang="en-US" dirty="0"/>
          </a:p>
        </p:txBody>
      </p:sp>
      <p:sp>
        <p:nvSpPr>
          <p:cNvPr id="9" name="Oval 8"/>
          <p:cNvSpPr/>
          <p:nvPr/>
        </p:nvSpPr>
        <p:spPr>
          <a:xfrm>
            <a:off x="611560" y="1680001"/>
            <a:ext cx="792088" cy="4320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622901" y="2484812"/>
            <a:ext cx="1656184" cy="43204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70867" y="6268670"/>
            <a:ext cx="8889228" cy="369332"/>
          </a:xfrm>
          <a:prstGeom prst="rect">
            <a:avLst/>
          </a:prstGeom>
        </p:spPr>
        <p:txBody>
          <a:bodyPr wrap="none">
            <a:spAutoFit/>
          </a:bodyPr>
          <a:lstStyle/>
          <a:p>
            <a:pPr marL="285750" indent="-285750">
              <a:buFont typeface="Wingdings" panose="05000000000000000000" pitchFamily="2" charset="2"/>
              <a:buChar char="Ø"/>
            </a:pPr>
            <a:r>
              <a:rPr lang="en-US" dirty="0"/>
              <a:t>The negative sign is used because: We want to move in the direction that reduces </a:t>
            </a:r>
            <a:r>
              <a:rPr lang="en-US" dirty="0" smtClean="0"/>
              <a:t>loss.</a:t>
            </a:r>
            <a:endParaRPr lang="en-US" dirty="0"/>
          </a:p>
        </p:txBody>
      </p:sp>
    </p:spTree>
    <p:extLst>
      <p:ext uri="{BB962C8B-B14F-4D97-AF65-F5344CB8AC3E}">
        <p14:creationId xmlns:p14="http://schemas.microsoft.com/office/powerpoint/2010/main" val="370949921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5408" y="500482"/>
            <a:ext cx="6056466" cy="1850828"/>
          </a:xfrm>
          <a:prstGeom prst="rect">
            <a:avLst/>
          </a:prstGeom>
        </p:spPr>
        <p:txBody>
          <a:bodyPr wrap="none">
            <a:spAutoFit/>
          </a:bodyPr>
          <a:lstStyle/>
          <a:p>
            <a:pPr marL="342900" indent="-342900">
              <a:lnSpc>
                <a:spcPct val="200000"/>
              </a:lnSpc>
              <a:buFont typeface="Wingdings" panose="05000000000000000000" pitchFamily="2" charset="2"/>
              <a:buChar char="Ø"/>
            </a:pPr>
            <a:r>
              <a:rPr lang="el-GR" sz="2000" dirty="0" smtClean="0">
                <a:latin typeface="Arial" panose="020B0604020202020204" pitchFamily="34" charset="0"/>
                <a:cs typeface="Arial" panose="020B0604020202020204" pitchFamily="34" charset="0"/>
              </a:rPr>
              <a:t>Γ</a:t>
            </a:r>
            <a:r>
              <a:rPr lang="en-US" sz="2000" dirty="0">
                <a:latin typeface="Arial" panose="020B0604020202020204" pitchFamily="34" charset="0"/>
                <a:cs typeface="Arial" panose="020B0604020202020204" pitchFamily="34" charset="0"/>
              </a:rPr>
              <a:t>m = What is the best step size for this iteration</a:t>
            </a:r>
            <a:r>
              <a:rPr lang="en-US" sz="2000" dirty="0" smtClean="0">
                <a:latin typeface="Arial" panose="020B0604020202020204" pitchFamily="34" charset="0"/>
                <a:cs typeface="Arial" panose="020B0604020202020204" pitchFamily="34" charset="0"/>
              </a:rPr>
              <a:t>?</a:t>
            </a:r>
          </a:p>
          <a:p>
            <a:pPr marL="342900" indent="-342900">
              <a:lnSpc>
                <a:spcPct val="200000"/>
              </a:lnSpc>
              <a:buFont typeface="Wingdings" panose="05000000000000000000" pitchFamily="2" charset="2"/>
              <a:buChar char="Ø"/>
            </a:pPr>
            <a:r>
              <a:rPr lang="en-US" sz="2000" dirty="0"/>
              <a:t>γₘ is like an adaptive learning rate per </a:t>
            </a:r>
            <a:r>
              <a:rPr lang="en-US" sz="2000" dirty="0" smtClean="0"/>
              <a:t>iteration</a:t>
            </a:r>
          </a:p>
          <a:p>
            <a:pPr marL="342900" indent="-342900">
              <a:lnSpc>
                <a:spcPct val="200000"/>
              </a:lnSpc>
              <a:buFont typeface="Wingdings" panose="05000000000000000000" pitchFamily="2" charset="2"/>
              <a:buChar char="Ø"/>
            </a:pPr>
            <a:r>
              <a:rPr lang="el-GR" sz="2000" dirty="0"/>
              <a:t>γₘ </a:t>
            </a:r>
            <a:r>
              <a:rPr lang="en-US" sz="2000" dirty="0" smtClean="0"/>
              <a:t>controls: Contribution </a:t>
            </a:r>
            <a:r>
              <a:rPr lang="en-US" sz="2000" dirty="0"/>
              <a:t>of new learner</a:t>
            </a:r>
            <a:endParaRPr lang="en-US" sz="2000"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stretch>
            <a:fillRect/>
          </a:stretch>
        </p:blipFill>
        <p:spPr>
          <a:xfrm>
            <a:off x="190089" y="2351310"/>
            <a:ext cx="7585639" cy="1221706"/>
          </a:xfrm>
          <a:prstGeom prst="rect">
            <a:avLst/>
          </a:prstGeom>
        </p:spPr>
      </p:pic>
      <p:sp>
        <p:nvSpPr>
          <p:cNvPr id="4" name="Rectangle 3"/>
          <p:cNvSpPr/>
          <p:nvPr/>
        </p:nvSpPr>
        <p:spPr>
          <a:xfrm>
            <a:off x="171067" y="3573016"/>
            <a:ext cx="8810694" cy="3276282"/>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sz="2000" dirty="0"/>
              <a:t>In this step, we calculate the optimal value of γ (gamma) that minimizes the loss </a:t>
            </a:r>
            <a:r>
              <a:rPr lang="en-US" sz="2000" dirty="0" smtClean="0"/>
              <a:t>function.</a:t>
            </a:r>
          </a:p>
          <a:p>
            <a:pPr marL="285750" indent="-285750">
              <a:lnSpc>
                <a:spcPct val="150000"/>
              </a:lnSpc>
              <a:buFont typeface="Wingdings" panose="05000000000000000000" pitchFamily="2" charset="2"/>
              <a:buChar char="Ø"/>
            </a:pPr>
            <a:r>
              <a:rPr lang="en-US" sz="2000" dirty="0" smtClean="0"/>
              <a:t>Here</a:t>
            </a:r>
            <a:r>
              <a:rPr lang="en-US" sz="2000" dirty="0"/>
              <a:t>, </a:t>
            </a:r>
            <a:r>
              <a:rPr lang="en-US" sz="2000" dirty="0" err="1" smtClean="0"/>
              <a:t>yi</a:t>
            </a:r>
            <a:r>
              <a:rPr lang="en-US" sz="2000" dirty="0" smtClean="0"/>
              <a:t>​ </a:t>
            </a:r>
            <a:r>
              <a:rPr lang="en-US" sz="2000" dirty="0"/>
              <a:t>is the actual value, Fm−</a:t>
            </a:r>
            <a:r>
              <a:rPr lang="en-US" sz="2000" dirty="0" smtClean="0"/>
              <a:t>1(xi) </a:t>
            </a:r>
            <a:r>
              <a:rPr lang="en-US" sz="2000" dirty="0"/>
              <a:t>is the prediction from the previous model, and </a:t>
            </a:r>
            <a:r>
              <a:rPr lang="en-US" sz="2000" dirty="0" err="1" smtClean="0"/>
              <a:t>hm</a:t>
            </a:r>
            <a:r>
              <a:rPr lang="en-US" sz="2000" dirty="0" smtClean="0"/>
              <a:t>(xi) </a:t>
            </a:r>
            <a:r>
              <a:rPr lang="en-US" sz="2000" dirty="0"/>
              <a:t>is the output of the new weak learner (trained on pseudo residuals</a:t>
            </a:r>
            <a:r>
              <a:rPr lang="en-US" sz="2000" dirty="0" smtClean="0"/>
              <a:t>).</a:t>
            </a:r>
          </a:p>
          <a:p>
            <a:pPr marL="285750" indent="-285750">
              <a:lnSpc>
                <a:spcPct val="150000"/>
              </a:lnSpc>
              <a:buFont typeface="Wingdings" panose="05000000000000000000" pitchFamily="2" charset="2"/>
              <a:buChar char="Ø"/>
            </a:pPr>
            <a:r>
              <a:rPr lang="en-US" sz="2000" dirty="0" smtClean="0"/>
              <a:t>Gamma </a:t>
            </a:r>
            <a:r>
              <a:rPr lang="en-US" sz="2000" dirty="0"/>
              <a:t>determines how much of the new model should be added to the previous model to minimize the loss.”</a:t>
            </a:r>
          </a:p>
        </p:txBody>
      </p:sp>
    </p:spTree>
    <p:extLst>
      <p:ext uri="{BB962C8B-B14F-4D97-AF65-F5344CB8AC3E}">
        <p14:creationId xmlns:p14="http://schemas.microsoft.com/office/powerpoint/2010/main" val="209328974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889499325"/>
              </p:ext>
            </p:extLst>
          </p:nvPr>
        </p:nvGraphicFramePr>
        <p:xfrm>
          <a:off x="467544" y="980728"/>
          <a:ext cx="8229600" cy="4001262"/>
        </p:xfrm>
        <a:graphic>
          <a:graphicData uri="http://schemas.openxmlformats.org/drawingml/2006/table">
            <a:tbl>
              <a:tblPr/>
              <a:tblGrid>
                <a:gridCol w="3168352"/>
                <a:gridCol w="5061248"/>
              </a:tblGrid>
              <a:tr h="0">
                <a:tc>
                  <a:txBody>
                    <a:bodyPr/>
                    <a:lstStyle/>
                    <a:p>
                      <a:pPr>
                        <a:lnSpc>
                          <a:spcPct val="200000"/>
                        </a:lnSpc>
                      </a:pPr>
                      <a:r>
                        <a:rPr lang="en-US" sz="2400" b="1" dirty="0">
                          <a:latin typeface="Arial" panose="020B0604020202020204" pitchFamily="34" charset="0"/>
                          <a:cs typeface="Arial" panose="020B0604020202020204" pitchFamily="34" charset="0"/>
                        </a:rPr>
                        <a:t>Term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00000"/>
                        </a:lnSpc>
                      </a:pPr>
                      <a:r>
                        <a:rPr lang="en-US" sz="2400" b="1" dirty="0">
                          <a:latin typeface="Arial" panose="020B0604020202020204" pitchFamily="34" charset="0"/>
                          <a:cs typeface="Arial" panose="020B0604020202020204" pitchFamily="34" charset="0"/>
                        </a:rPr>
                        <a:t>Meaning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200000"/>
                        </a:lnSpc>
                      </a:pPr>
                      <a:r>
                        <a:rPr lang="en-US" sz="2400" dirty="0">
                          <a:latin typeface="Arial" panose="020B0604020202020204" pitchFamily="34" charset="0"/>
                          <a:cs typeface="Arial" panose="020B0604020202020204" pitchFamily="34" charset="0"/>
                        </a:rPr>
                        <a:t>(</a:t>
                      </a:r>
                      <a:r>
                        <a:rPr lang="en-US" sz="2400" dirty="0" err="1" smtClean="0">
                          <a:latin typeface="Arial" panose="020B0604020202020204" pitchFamily="34" charset="0"/>
                          <a:cs typeface="Arial" panose="020B0604020202020204" pitchFamily="34" charset="0"/>
                        </a:rPr>
                        <a:t>yi</a:t>
                      </a:r>
                      <a:r>
                        <a:rPr lang="en-US" sz="2400" dirty="0">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00000"/>
                        </a:lnSpc>
                      </a:pPr>
                      <a:r>
                        <a:rPr lang="en-US" sz="2400">
                          <a:latin typeface="Arial" panose="020B0604020202020204" pitchFamily="34" charset="0"/>
                          <a:cs typeface="Arial" panose="020B0604020202020204" pitchFamily="34" charset="0"/>
                        </a:rPr>
                        <a:t>Actual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200000"/>
                        </a:lnSpc>
                      </a:pPr>
                      <a:r>
                        <a:rPr lang="en-US" sz="2400" dirty="0">
                          <a:latin typeface="Arial" panose="020B0604020202020204" pitchFamily="34" charset="0"/>
                          <a:cs typeface="Arial" panose="020B0604020202020204" pitchFamily="34" charset="0"/>
                        </a:rPr>
                        <a:t>(</a:t>
                      </a:r>
                      <a:r>
                        <a:rPr lang="en-US" sz="2400" dirty="0" smtClean="0">
                          <a:latin typeface="Arial" panose="020B0604020202020204" pitchFamily="34" charset="0"/>
                          <a:cs typeface="Arial" panose="020B0604020202020204" pitchFamily="34" charset="0"/>
                        </a:rPr>
                        <a:t>F{m-1</a:t>
                      </a:r>
                      <a:r>
                        <a:rPr lang="en-US" sz="2400" dirty="0">
                          <a:latin typeface="Arial" panose="020B0604020202020204" pitchFamily="34" charset="0"/>
                          <a:cs typeface="Arial" panose="020B0604020202020204" pitchFamily="34" charset="0"/>
                        </a:rPr>
                        <a:t>}(</a:t>
                      </a:r>
                      <a:r>
                        <a:rPr lang="en-US" sz="2400" dirty="0" smtClean="0">
                          <a:latin typeface="Arial" panose="020B0604020202020204" pitchFamily="34" charset="0"/>
                          <a:cs typeface="Arial" panose="020B0604020202020204" pitchFamily="34" charset="0"/>
                        </a:rPr>
                        <a:t>xi</a:t>
                      </a:r>
                      <a:r>
                        <a:rPr lang="en-US" sz="2400" dirty="0">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00000"/>
                        </a:lnSpc>
                      </a:pPr>
                      <a:r>
                        <a:rPr lang="en-US" sz="2400">
                          <a:latin typeface="Arial" panose="020B0604020202020204" pitchFamily="34" charset="0"/>
                          <a:cs typeface="Arial" panose="020B0604020202020204" pitchFamily="34" charset="0"/>
                        </a:rPr>
                        <a:t>Previous prediction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200000"/>
                        </a:lnSpc>
                      </a:pPr>
                      <a:r>
                        <a:rPr lang="en-US" sz="2400" dirty="0">
                          <a:latin typeface="Arial" panose="020B0604020202020204" pitchFamily="34" charset="0"/>
                          <a:cs typeface="Arial" panose="020B0604020202020204" pitchFamily="34" charset="0"/>
                        </a:rPr>
                        <a:t>(</a:t>
                      </a:r>
                      <a:r>
                        <a:rPr lang="en-US" sz="2400" dirty="0" err="1" smtClean="0">
                          <a:latin typeface="Arial" panose="020B0604020202020204" pitchFamily="34" charset="0"/>
                          <a:cs typeface="Arial" panose="020B0604020202020204" pitchFamily="34" charset="0"/>
                        </a:rPr>
                        <a:t>hm</a:t>
                      </a:r>
                      <a:r>
                        <a:rPr lang="en-US" sz="2400" dirty="0" smtClean="0">
                          <a:latin typeface="Arial" panose="020B0604020202020204" pitchFamily="34" charset="0"/>
                          <a:cs typeface="Arial" panose="020B0604020202020204" pitchFamily="34" charset="0"/>
                        </a:rPr>
                        <a:t>(xi</a:t>
                      </a:r>
                      <a:r>
                        <a:rPr lang="en-US" sz="2400" dirty="0">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00000"/>
                        </a:lnSpc>
                      </a:pPr>
                      <a:r>
                        <a:rPr lang="en-US" sz="2400" dirty="0">
                          <a:latin typeface="Arial" panose="020B0604020202020204" pitchFamily="34" charset="0"/>
                          <a:cs typeface="Arial" panose="020B0604020202020204" pitchFamily="34" charset="0"/>
                        </a:rPr>
                        <a:t>New model (residual learner)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0">
                <a:tc>
                  <a:txBody>
                    <a:bodyPr/>
                    <a:lstStyle/>
                    <a:p>
                      <a:pPr>
                        <a:lnSpc>
                          <a:spcPct val="200000"/>
                        </a:lnSpc>
                      </a:pPr>
                      <a:r>
                        <a:rPr lang="el-GR" sz="2400" dirty="0">
                          <a:latin typeface="Arial" panose="020B0604020202020204" pitchFamily="34" charset="0"/>
                          <a:cs typeface="Arial" panose="020B0604020202020204" pitchFamily="34" charset="0"/>
                        </a:rPr>
                        <a:t>(γ)</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200000"/>
                        </a:lnSpc>
                      </a:pPr>
                      <a:r>
                        <a:rPr lang="en-US" sz="2400" dirty="0">
                          <a:latin typeface="Arial" panose="020B0604020202020204" pitchFamily="34" charset="0"/>
                          <a:cs typeface="Arial" panose="020B0604020202020204" pitchFamily="34" charset="0"/>
                        </a:rPr>
                        <a:t>How much to trust new 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3" name="Rectangle 2"/>
          <p:cNvSpPr/>
          <p:nvPr/>
        </p:nvSpPr>
        <p:spPr>
          <a:xfrm>
            <a:off x="471092" y="5301208"/>
            <a:ext cx="5181028" cy="1200329"/>
          </a:xfrm>
          <a:prstGeom prst="rect">
            <a:avLst/>
          </a:prstGeom>
        </p:spPr>
        <p:txBody>
          <a:bodyPr wrap="square">
            <a:spAutoFit/>
          </a:bodyPr>
          <a:lstStyle/>
          <a:p>
            <a:pPr marL="342900" indent="-342900">
              <a:buFont typeface="Wingdings" panose="05000000000000000000" pitchFamily="2" charset="2"/>
              <a:buChar char="Ø"/>
            </a:pPr>
            <a:r>
              <a:rPr lang="en-US" sz="2400" dirty="0"/>
              <a:t>Gradient Boosting learns both:</a:t>
            </a:r>
          </a:p>
          <a:p>
            <a:pPr marL="342900" indent="-342900">
              <a:buFont typeface="Wingdings" panose="05000000000000000000" pitchFamily="2" charset="2"/>
              <a:buChar char="Ø"/>
            </a:pPr>
            <a:r>
              <a:rPr lang="en-US" sz="2400" dirty="0"/>
              <a:t>what to add (hₘ(x)) </a:t>
            </a:r>
          </a:p>
          <a:p>
            <a:pPr marL="342900" indent="-342900">
              <a:buFont typeface="Wingdings" panose="05000000000000000000" pitchFamily="2" charset="2"/>
              <a:buChar char="Ø"/>
            </a:pPr>
            <a:r>
              <a:rPr lang="en-US" sz="2400" dirty="0"/>
              <a:t>how much to add (γₘ)” </a:t>
            </a:r>
          </a:p>
        </p:txBody>
      </p:sp>
    </p:spTree>
    <p:extLst>
      <p:ext uri="{BB962C8B-B14F-4D97-AF65-F5344CB8AC3E}">
        <p14:creationId xmlns:p14="http://schemas.microsoft.com/office/powerpoint/2010/main" val="264485524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07504" y="1124744"/>
            <a:ext cx="8379019" cy="4464496"/>
          </a:xfrm>
          <a:prstGeom prst="rect">
            <a:avLst/>
          </a:prstGeom>
        </p:spPr>
      </p:pic>
    </p:spTree>
    <p:extLst>
      <p:ext uri="{BB962C8B-B14F-4D97-AF65-F5344CB8AC3E}">
        <p14:creationId xmlns:p14="http://schemas.microsoft.com/office/powerpoint/2010/main" val="86634271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39552" y="836712"/>
            <a:ext cx="7954485" cy="5639587"/>
          </a:xfrm>
          <a:prstGeom prst="rect">
            <a:avLst/>
          </a:prstGeom>
        </p:spPr>
      </p:pic>
    </p:spTree>
    <p:extLst>
      <p:ext uri="{BB962C8B-B14F-4D97-AF65-F5344CB8AC3E}">
        <p14:creationId xmlns:p14="http://schemas.microsoft.com/office/powerpoint/2010/main" val="295008451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996457907"/>
              </p:ext>
            </p:extLst>
          </p:nvPr>
        </p:nvGraphicFramePr>
        <p:xfrm>
          <a:off x="971600" y="2780928"/>
          <a:ext cx="6096000" cy="1188720"/>
        </p:xfrm>
        <a:graphic>
          <a:graphicData uri="http://schemas.openxmlformats.org/drawingml/2006/table">
            <a:tbl>
              <a:tblPr firstRow="1" bandRow="1">
                <a:tableStyleId>{5C22544A-7EE6-4342-B048-85BDC9FD1C3A}</a:tableStyleId>
              </a:tblPr>
              <a:tblGrid>
                <a:gridCol w="6096000"/>
              </a:tblGrid>
              <a:tr h="370840">
                <a:tc>
                  <a:txBody>
                    <a:bodyPr/>
                    <a:lstStyle/>
                    <a:p>
                      <a:pPr algn="ctr"/>
                      <a:r>
                        <a:rPr lang="en-US" sz="3600" dirty="0" smtClean="0"/>
                        <a:t>Let us move with an Example</a:t>
                      </a:r>
                      <a:endParaRPr lang="en-US" sz="3600" dirty="0"/>
                    </a:p>
                  </a:txBody>
                  <a:tcPr/>
                </a:tc>
              </a:tr>
            </a:tbl>
          </a:graphicData>
        </a:graphic>
      </p:graphicFrame>
    </p:spTree>
    <p:extLst>
      <p:ext uri="{BB962C8B-B14F-4D97-AF65-F5344CB8AC3E}">
        <p14:creationId xmlns:p14="http://schemas.microsoft.com/office/powerpoint/2010/main" val="94095769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95536" y="620688"/>
            <a:ext cx="8064896" cy="6021288"/>
          </a:xfrm>
          <a:prstGeom prst="rect">
            <a:avLst/>
          </a:prstGeom>
        </p:spPr>
      </p:pic>
    </p:spTree>
    <p:extLst>
      <p:ext uri="{BB962C8B-B14F-4D97-AF65-F5344CB8AC3E}">
        <p14:creationId xmlns:p14="http://schemas.microsoft.com/office/powerpoint/2010/main" val="174338733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39552" y="1124744"/>
            <a:ext cx="7805247" cy="4752528"/>
          </a:xfrm>
          <a:prstGeom prst="rect">
            <a:avLst/>
          </a:prstGeom>
        </p:spPr>
      </p:pic>
    </p:spTree>
    <p:extLst>
      <p:ext uri="{BB962C8B-B14F-4D97-AF65-F5344CB8AC3E}">
        <p14:creationId xmlns:p14="http://schemas.microsoft.com/office/powerpoint/2010/main" val="22795550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7504" y="692696"/>
            <a:ext cx="8640960" cy="5904656"/>
          </a:xfrm>
          <a:prstGeom prst="rect">
            <a:avLst/>
          </a:prstGeom>
        </p:spPr>
      </p:pic>
    </p:spTree>
    <p:extLst>
      <p:ext uri="{BB962C8B-B14F-4D97-AF65-F5344CB8AC3E}">
        <p14:creationId xmlns:p14="http://schemas.microsoft.com/office/powerpoint/2010/main" val="156935065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314768"/>
            <a:ext cx="2520279" cy="4585871"/>
          </a:xfrm>
          <a:prstGeom prst="rect">
            <a:avLst/>
          </a:prstGeom>
        </p:spPr>
        <p:txBody>
          <a:bodyPr wrap="square">
            <a:spAutoFit/>
          </a:bodyPr>
          <a:lstStyle/>
          <a:p>
            <a:pPr marL="285750" indent="-285750">
              <a:buFont typeface="Wingdings" panose="05000000000000000000" pitchFamily="2" charset="2"/>
              <a:buChar char="Ø"/>
            </a:pPr>
            <a:r>
              <a:rPr lang="en-US" sz="2000" b="1" dirty="0" smtClean="0"/>
              <a:t>Basic Concepts</a:t>
            </a:r>
          </a:p>
          <a:p>
            <a:endParaRPr lang="en-US" sz="2000" b="1" dirty="0" smtClean="0"/>
          </a:p>
          <a:p>
            <a:pPr marL="285750" indent="-285750">
              <a:buFont typeface="Wingdings" panose="05000000000000000000" pitchFamily="2" charset="2"/>
              <a:buChar char="Ø"/>
            </a:pPr>
            <a:r>
              <a:rPr lang="en-US" dirty="0"/>
              <a:t>Gradient boosting involves iteratively adding models to improve predictions</a:t>
            </a:r>
            <a:r>
              <a:rPr lang="en-US" dirty="0" smtClean="0"/>
              <a:t>.</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smtClean="0"/>
          </a:p>
          <a:p>
            <a:endParaRPr lang="en-US" dirty="0" smtClean="0"/>
          </a:p>
          <a:p>
            <a:pPr marL="285750" indent="-285750">
              <a:buFont typeface="Wingdings" panose="05000000000000000000" pitchFamily="2" charset="2"/>
              <a:buChar char="Ø"/>
            </a:pPr>
            <a:r>
              <a:rPr lang="en-US" dirty="0" smtClean="0"/>
              <a:t> </a:t>
            </a:r>
            <a:r>
              <a:rPr lang="en-US" dirty="0"/>
              <a:t>It minimizes a loss function by adding new models that correct the errors made by previous models</a:t>
            </a:r>
            <a:r>
              <a:rPr lang="en-US" dirty="0" smtClean="0"/>
              <a:t>.</a:t>
            </a:r>
          </a:p>
          <a:p>
            <a:endParaRPr lang="en-US" dirty="0"/>
          </a:p>
        </p:txBody>
      </p:sp>
      <p:pic>
        <p:nvPicPr>
          <p:cNvPr id="3" name="Picture 2"/>
          <p:cNvPicPr>
            <a:picLocks noChangeAspect="1"/>
          </p:cNvPicPr>
          <p:nvPr/>
        </p:nvPicPr>
        <p:blipFill>
          <a:blip r:embed="rId2"/>
          <a:stretch>
            <a:fillRect/>
          </a:stretch>
        </p:blipFill>
        <p:spPr>
          <a:xfrm>
            <a:off x="2807296" y="692696"/>
            <a:ext cx="6336704" cy="6048672"/>
          </a:xfrm>
          <a:prstGeom prst="rect">
            <a:avLst/>
          </a:prstGeom>
        </p:spPr>
      </p:pic>
    </p:spTree>
    <p:extLst>
      <p:ext uri="{BB962C8B-B14F-4D97-AF65-F5344CB8AC3E}">
        <p14:creationId xmlns:p14="http://schemas.microsoft.com/office/powerpoint/2010/main" val="341607454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049331325"/>
              </p:ext>
            </p:extLst>
          </p:nvPr>
        </p:nvGraphicFramePr>
        <p:xfrm>
          <a:off x="863588" y="2852936"/>
          <a:ext cx="7488832" cy="1854200"/>
        </p:xfrm>
        <a:graphic>
          <a:graphicData uri="http://schemas.openxmlformats.org/drawingml/2006/table">
            <a:tbl>
              <a:tblPr firstRow="1" bandRow="1">
                <a:tableStyleId>{5C22544A-7EE6-4342-B048-85BDC9FD1C3A}</a:tableStyleId>
              </a:tblPr>
              <a:tblGrid>
                <a:gridCol w="1872208"/>
                <a:gridCol w="1872208"/>
                <a:gridCol w="1872208"/>
                <a:gridCol w="1872208"/>
              </a:tblGrid>
              <a:tr h="370840">
                <a:tc>
                  <a:txBody>
                    <a:bodyPr/>
                    <a:lstStyle/>
                    <a:p>
                      <a:r>
                        <a:rPr lang="en-US" dirty="0" smtClean="0"/>
                        <a:t>R&amp;D</a:t>
                      </a:r>
                      <a:endParaRPr lang="en-US" dirty="0"/>
                    </a:p>
                  </a:txBody>
                  <a:tcPr/>
                </a:tc>
                <a:tc>
                  <a:txBody>
                    <a:bodyPr/>
                    <a:lstStyle/>
                    <a:p>
                      <a:r>
                        <a:rPr lang="en-US" dirty="0" smtClean="0"/>
                        <a:t>OPS</a:t>
                      </a:r>
                      <a:endParaRPr lang="en-US" dirty="0"/>
                    </a:p>
                  </a:txBody>
                  <a:tcPr/>
                </a:tc>
                <a:tc>
                  <a:txBody>
                    <a:bodyPr/>
                    <a:lstStyle/>
                    <a:p>
                      <a:r>
                        <a:rPr lang="en-US" dirty="0" smtClean="0"/>
                        <a:t>Market</a:t>
                      </a:r>
                      <a:endParaRPr lang="en-US" dirty="0"/>
                    </a:p>
                  </a:txBody>
                  <a:tcPr/>
                </a:tc>
                <a:tc>
                  <a:txBody>
                    <a:bodyPr/>
                    <a:lstStyle/>
                    <a:p>
                      <a:r>
                        <a:rPr lang="en-US" dirty="0" smtClean="0"/>
                        <a:t>Profit</a:t>
                      </a:r>
                      <a:endParaRPr lang="en-US" dirty="0"/>
                    </a:p>
                  </a:txBody>
                  <a:tcPr/>
                </a:tc>
              </a:tr>
              <a:tr h="370840">
                <a:tc>
                  <a:txBody>
                    <a:bodyPr/>
                    <a:lstStyle/>
                    <a:p>
                      <a:r>
                        <a:rPr lang="en-US" dirty="0" smtClean="0"/>
                        <a:t>165</a:t>
                      </a:r>
                      <a:endParaRPr lang="en-US" dirty="0"/>
                    </a:p>
                  </a:txBody>
                  <a:tcPr/>
                </a:tc>
                <a:tc>
                  <a:txBody>
                    <a:bodyPr/>
                    <a:lstStyle/>
                    <a:p>
                      <a:r>
                        <a:rPr lang="en-US" dirty="0" smtClean="0"/>
                        <a:t>132</a:t>
                      </a:r>
                      <a:endParaRPr lang="en-US" dirty="0"/>
                    </a:p>
                  </a:txBody>
                  <a:tcPr/>
                </a:tc>
                <a:tc>
                  <a:txBody>
                    <a:bodyPr/>
                    <a:lstStyle/>
                    <a:p>
                      <a:r>
                        <a:rPr lang="en-US" dirty="0" smtClean="0"/>
                        <a:t>472</a:t>
                      </a:r>
                      <a:endParaRPr lang="en-US" dirty="0"/>
                    </a:p>
                  </a:txBody>
                  <a:tcPr/>
                </a:tc>
                <a:tc>
                  <a:txBody>
                    <a:bodyPr/>
                    <a:lstStyle/>
                    <a:p>
                      <a:r>
                        <a:rPr lang="en-US" dirty="0" smtClean="0"/>
                        <a:t>192</a:t>
                      </a:r>
                      <a:endParaRPr lang="en-US" dirty="0"/>
                    </a:p>
                  </a:txBody>
                  <a:tcPr/>
                </a:tc>
              </a:tr>
              <a:tr h="370840">
                <a:tc>
                  <a:txBody>
                    <a:bodyPr/>
                    <a:lstStyle/>
                    <a:p>
                      <a:r>
                        <a:rPr lang="en-US" dirty="0" smtClean="0"/>
                        <a:t>101</a:t>
                      </a:r>
                      <a:endParaRPr lang="en-US" dirty="0"/>
                    </a:p>
                  </a:txBody>
                  <a:tcPr/>
                </a:tc>
                <a:tc>
                  <a:txBody>
                    <a:bodyPr/>
                    <a:lstStyle/>
                    <a:p>
                      <a:r>
                        <a:rPr lang="en-US" dirty="0" smtClean="0"/>
                        <a:t>92</a:t>
                      </a:r>
                      <a:endParaRPr lang="en-US" dirty="0"/>
                    </a:p>
                  </a:txBody>
                  <a:tcPr/>
                </a:tc>
                <a:tc>
                  <a:txBody>
                    <a:bodyPr/>
                    <a:lstStyle/>
                    <a:p>
                      <a:r>
                        <a:rPr lang="en-US" dirty="0" smtClean="0"/>
                        <a:t>250</a:t>
                      </a:r>
                      <a:endParaRPr lang="en-US" dirty="0"/>
                    </a:p>
                  </a:txBody>
                  <a:tcPr/>
                </a:tc>
                <a:tc>
                  <a:txBody>
                    <a:bodyPr/>
                    <a:lstStyle/>
                    <a:p>
                      <a:r>
                        <a:rPr lang="en-US" dirty="0" smtClean="0"/>
                        <a:t>144</a:t>
                      </a:r>
                      <a:endParaRPr lang="en-US" dirty="0"/>
                    </a:p>
                  </a:txBody>
                  <a:tcPr/>
                </a:tc>
              </a:tr>
              <a:tr h="370840">
                <a:tc>
                  <a:txBody>
                    <a:bodyPr/>
                    <a:lstStyle/>
                    <a:p>
                      <a:r>
                        <a:rPr lang="en-US" dirty="0" smtClean="0"/>
                        <a:t>29</a:t>
                      </a:r>
                      <a:endParaRPr lang="en-US" dirty="0"/>
                    </a:p>
                  </a:txBody>
                  <a:tcPr/>
                </a:tc>
                <a:tc>
                  <a:txBody>
                    <a:bodyPr/>
                    <a:lstStyle/>
                    <a:p>
                      <a:r>
                        <a:rPr lang="en-US" dirty="0" smtClean="0"/>
                        <a:t>127</a:t>
                      </a:r>
                      <a:endParaRPr lang="en-US" dirty="0"/>
                    </a:p>
                  </a:txBody>
                  <a:tcPr/>
                </a:tc>
                <a:tc>
                  <a:txBody>
                    <a:bodyPr/>
                    <a:lstStyle/>
                    <a:p>
                      <a:r>
                        <a:rPr lang="en-US" dirty="0" smtClean="0"/>
                        <a:t>201</a:t>
                      </a:r>
                      <a:endParaRPr lang="en-US" dirty="0"/>
                    </a:p>
                  </a:txBody>
                  <a:tcPr/>
                </a:tc>
                <a:tc>
                  <a:txBody>
                    <a:bodyPr/>
                    <a:lstStyle/>
                    <a:p>
                      <a:r>
                        <a:rPr lang="en-US" dirty="0" smtClean="0"/>
                        <a:t>91</a:t>
                      </a:r>
                      <a:endParaRPr lang="en-US" dirty="0"/>
                    </a:p>
                  </a:txBody>
                  <a:tcPr/>
                </a:tc>
              </a:tr>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661226044"/>
              </p:ext>
            </p:extLst>
          </p:nvPr>
        </p:nvGraphicFramePr>
        <p:xfrm>
          <a:off x="323528" y="1052736"/>
          <a:ext cx="8568952" cy="1080120"/>
        </p:xfrm>
        <a:graphic>
          <a:graphicData uri="http://schemas.openxmlformats.org/drawingml/2006/table">
            <a:tbl>
              <a:tblPr firstRow="1" bandRow="1">
                <a:tableStyleId>{5C22544A-7EE6-4342-B048-85BDC9FD1C3A}</a:tableStyleId>
              </a:tblPr>
              <a:tblGrid>
                <a:gridCol w="8568952"/>
              </a:tblGrid>
              <a:tr h="1080120">
                <a:tc>
                  <a:txBody>
                    <a:bodyPr/>
                    <a:lstStyle/>
                    <a:p>
                      <a:pPr algn="ctr"/>
                      <a:r>
                        <a:rPr lang="en-US" sz="2400" dirty="0" smtClean="0"/>
                        <a:t>Why first model essentially Mean:</a:t>
                      </a:r>
                      <a:r>
                        <a:rPr lang="en-US" sz="2400" baseline="0" dirty="0" smtClean="0"/>
                        <a:t> Let us understand with the example:</a:t>
                      </a:r>
                      <a:endParaRPr lang="en-US" sz="2400" dirty="0"/>
                    </a:p>
                  </a:txBody>
                  <a:tcPr/>
                </a:tc>
              </a:tr>
            </a:tbl>
          </a:graphicData>
        </a:graphic>
      </p:graphicFrame>
      <p:pic>
        <p:nvPicPr>
          <p:cNvPr id="6" name="Picture 5"/>
          <p:cNvPicPr>
            <a:picLocks noChangeAspect="1"/>
          </p:cNvPicPr>
          <p:nvPr/>
        </p:nvPicPr>
        <p:blipFill>
          <a:blip r:embed="rId2"/>
          <a:stretch>
            <a:fillRect/>
          </a:stretch>
        </p:blipFill>
        <p:spPr>
          <a:xfrm>
            <a:off x="1043608" y="4797152"/>
            <a:ext cx="6768752" cy="1944216"/>
          </a:xfrm>
          <a:prstGeom prst="rect">
            <a:avLst/>
          </a:prstGeom>
        </p:spPr>
      </p:pic>
    </p:spTree>
    <p:extLst>
      <p:ext uri="{BB962C8B-B14F-4D97-AF65-F5344CB8AC3E}">
        <p14:creationId xmlns:p14="http://schemas.microsoft.com/office/powerpoint/2010/main" val="190513745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0497" y="1052736"/>
            <a:ext cx="4536504" cy="5125165"/>
          </a:xfrm>
          <a:prstGeom prst="rect">
            <a:avLst/>
          </a:prstGeom>
        </p:spPr>
      </p:pic>
      <p:pic>
        <p:nvPicPr>
          <p:cNvPr id="6" name="Picture 5"/>
          <p:cNvPicPr>
            <a:picLocks noChangeAspect="1"/>
          </p:cNvPicPr>
          <p:nvPr/>
        </p:nvPicPr>
        <p:blipFill>
          <a:blip r:embed="rId3"/>
          <a:stretch>
            <a:fillRect/>
          </a:stretch>
        </p:blipFill>
        <p:spPr>
          <a:xfrm>
            <a:off x="4932040" y="980728"/>
            <a:ext cx="4005703" cy="1584176"/>
          </a:xfrm>
          <a:prstGeom prst="rect">
            <a:avLst/>
          </a:prstGeom>
        </p:spPr>
      </p:pic>
      <p:sp>
        <p:nvSpPr>
          <p:cNvPr id="2" name="Right Arrow 1"/>
          <p:cNvSpPr/>
          <p:nvPr/>
        </p:nvSpPr>
        <p:spPr>
          <a:xfrm>
            <a:off x="4581711" y="1916155"/>
            <a:ext cx="432048"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ouble Brace 4"/>
          <p:cNvSpPr/>
          <p:nvPr/>
        </p:nvSpPr>
        <p:spPr>
          <a:xfrm>
            <a:off x="5076056" y="1484784"/>
            <a:ext cx="3744416" cy="1058416"/>
          </a:xfrm>
          <a:prstGeom prst="bracePair">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7" name="Right Arrow 6"/>
          <p:cNvSpPr/>
          <p:nvPr/>
        </p:nvSpPr>
        <p:spPr>
          <a:xfrm>
            <a:off x="4716016" y="3284984"/>
            <a:ext cx="720080"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5464274" y="4185084"/>
            <a:ext cx="2808312"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Equating derivative of Sq. loss function = zero</a:t>
            </a:r>
            <a:endParaRPr lang="en-US" dirty="0"/>
          </a:p>
        </p:txBody>
      </p:sp>
      <p:sp>
        <p:nvSpPr>
          <p:cNvPr id="9" name="Right Arrow 8"/>
          <p:cNvSpPr/>
          <p:nvPr/>
        </p:nvSpPr>
        <p:spPr>
          <a:xfrm>
            <a:off x="4716016" y="4509120"/>
            <a:ext cx="720080" cy="1440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588496" y="3163466"/>
            <a:ext cx="2808312"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Partial derivative of Sq. loss function</a:t>
            </a:r>
            <a:endParaRPr lang="en-US" dirty="0"/>
          </a:p>
        </p:txBody>
      </p:sp>
      <p:graphicFrame>
        <p:nvGraphicFramePr>
          <p:cNvPr id="11" name="Table 10"/>
          <p:cNvGraphicFramePr>
            <a:graphicFrameLocks noGrp="1"/>
          </p:cNvGraphicFramePr>
          <p:nvPr>
            <p:extLst>
              <p:ext uri="{D42A27DB-BD31-4B8C-83A1-F6EECF244321}">
                <p14:modId xmlns:p14="http://schemas.microsoft.com/office/powerpoint/2010/main" val="3927860941"/>
              </p:ext>
            </p:extLst>
          </p:nvPr>
        </p:nvGraphicFramePr>
        <p:xfrm>
          <a:off x="1403648" y="465195"/>
          <a:ext cx="6096000" cy="370840"/>
        </p:xfrm>
        <a:graphic>
          <a:graphicData uri="http://schemas.openxmlformats.org/drawingml/2006/table">
            <a:tbl>
              <a:tblPr firstRow="1" bandRow="1">
                <a:tableStyleId>{5C22544A-7EE6-4342-B048-85BDC9FD1C3A}</a:tableStyleId>
              </a:tblPr>
              <a:tblGrid>
                <a:gridCol w="6096000"/>
              </a:tblGrid>
              <a:tr h="370840">
                <a:tc>
                  <a:txBody>
                    <a:bodyPr/>
                    <a:lstStyle/>
                    <a:p>
                      <a:r>
                        <a:rPr lang="en-US" dirty="0" smtClean="0"/>
                        <a:t>Steps to find the value of F0 (</a:t>
                      </a:r>
                      <a:r>
                        <a:rPr lang="en-US" baseline="0" dirty="0" smtClean="0"/>
                        <a:t> First model)</a:t>
                      </a:r>
                      <a:endParaRPr lang="en-US" dirty="0"/>
                    </a:p>
                  </a:txBody>
                  <a:tcPr/>
                </a:tc>
              </a:tr>
            </a:tbl>
          </a:graphicData>
        </a:graphic>
      </p:graphicFrame>
      <p:sp>
        <p:nvSpPr>
          <p:cNvPr id="12" name="Rectangle 11"/>
          <p:cNvSpPr/>
          <p:nvPr/>
        </p:nvSpPr>
        <p:spPr>
          <a:xfrm>
            <a:off x="4606107" y="5240633"/>
            <a:ext cx="4572000" cy="1477328"/>
          </a:xfrm>
          <a:prstGeom prst="rect">
            <a:avLst/>
          </a:prstGeom>
        </p:spPr>
        <p:txBody>
          <a:bodyPr>
            <a:spAutoFit/>
          </a:bodyPr>
          <a:lstStyle/>
          <a:p>
            <a:pPr marL="285750" indent="-285750">
              <a:buFont typeface="Wingdings" panose="05000000000000000000" pitchFamily="2" charset="2"/>
              <a:buChar char="Ø"/>
            </a:pPr>
            <a:r>
              <a:rPr lang="en-US" b="1" dirty="0"/>
              <a:t>Repeat</a:t>
            </a:r>
            <a:r>
              <a:rPr lang="en-US" dirty="0"/>
              <a:t>:</a:t>
            </a:r>
          </a:p>
          <a:p>
            <a:pPr lvl="1"/>
            <a:r>
              <a:rPr lang="en-US" dirty="0"/>
              <a:t>Repeat the process for a fixed number of iterations or until the model's performance no longer improves on a validation set.</a:t>
            </a:r>
          </a:p>
        </p:txBody>
      </p:sp>
    </p:spTree>
    <p:extLst>
      <p:ext uri="{BB962C8B-B14F-4D97-AF65-F5344CB8AC3E}">
        <p14:creationId xmlns:p14="http://schemas.microsoft.com/office/powerpoint/2010/main" val="117567321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96752"/>
            <a:ext cx="8229600" cy="576064"/>
          </a:xfrm>
        </p:spPr>
        <p:txBody>
          <a:bodyPr>
            <a:normAutofit fontScale="90000"/>
          </a:bodyPr>
          <a:lstStyle/>
          <a:p>
            <a:pPr algn="ctr"/>
            <a:r>
              <a:rPr lang="en-US" b="1" dirty="0"/>
              <a:t>Final Model</a:t>
            </a:r>
            <a:br>
              <a:rPr lang="en-US" b="1" dirty="0"/>
            </a:br>
            <a:endParaRPr lang="en-US" dirty="0"/>
          </a:p>
        </p:txBody>
      </p:sp>
      <p:sp>
        <p:nvSpPr>
          <p:cNvPr id="3" name="Content Placeholder 2"/>
          <p:cNvSpPr>
            <a:spLocks noGrp="1"/>
          </p:cNvSpPr>
          <p:nvPr>
            <p:ph idx="1"/>
          </p:nvPr>
        </p:nvSpPr>
        <p:spPr>
          <a:xfrm>
            <a:off x="395536" y="1412776"/>
            <a:ext cx="8229600" cy="4389120"/>
          </a:xfrm>
        </p:spPr>
        <p:txBody>
          <a:bodyPr>
            <a:normAutofit/>
          </a:bodyPr>
          <a:lstStyle/>
          <a:p>
            <a:pPr algn="just"/>
            <a:r>
              <a:rPr lang="en-US" sz="2000" dirty="0"/>
              <a:t>After several iterations, the final model is a weighted sum of all the weak learners. The strength of gradient boosting lies in its ability to iteratively improve the model by focusing on the mistakes made in previous steps, thus leading to a highly accurate model.</a:t>
            </a:r>
          </a:p>
        </p:txBody>
      </p:sp>
    </p:spTree>
    <p:extLst>
      <p:ext uri="{BB962C8B-B14F-4D97-AF65-F5344CB8AC3E}">
        <p14:creationId xmlns:p14="http://schemas.microsoft.com/office/powerpoint/2010/main" val="192147287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36680"/>
          </a:xfrm>
        </p:spPr>
        <p:txBody>
          <a:bodyPr>
            <a:normAutofit fontScale="90000"/>
          </a:bodyPr>
          <a:lstStyle/>
          <a:p>
            <a:r>
              <a:rPr lang="en-US" b="1" dirty="0"/>
              <a:t>Example: Predicting House Prices</a:t>
            </a:r>
          </a:p>
        </p:txBody>
      </p:sp>
      <p:pic>
        <p:nvPicPr>
          <p:cNvPr id="4" name="Picture 3"/>
          <p:cNvPicPr>
            <a:picLocks noChangeAspect="1"/>
          </p:cNvPicPr>
          <p:nvPr/>
        </p:nvPicPr>
        <p:blipFill>
          <a:blip r:embed="rId2"/>
          <a:stretch>
            <a:fillRect/>
          </a:stretch>
        </p:blipFill>
        <p:spPr>
          <a:xfrm>
            <a:off x="218467" y="1916832"/>
            <a:ext cx="8707065" cy="3915321"/>
          </a:xfrm>
          <a:prstGeom prst="rect">
            <a:avLst/>
          </a:prstGeom>
        </p:spPr>
      </p:pic>
    </p:spTree>
    <p:extLst>
      <p:ext uri="{BB962C8B-B14F-4D97-AF65-F5344CB8AC3E}">
        <p14:creationId xmlns:p14="http://schemas.microsoft.com/office/powerpoint/2010/main" val="82558885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70702" y="1628800"/>
            <a:ext cx="8564170" cy="3477110"/>
          </a:xfrm>
          <a:prstGeom prst="rect">
            <a:avLst/>
          </a:prstGeom>
        </p:spPr>
      </p:pic>
      <p:sp>
        <p:nvSpPr>
          <p:cNvPr id="2" name="Rectangle 1"/>
          <p:cNvSpPr/>
          <p:nvPr/>
        </p:nvSpPr>
        <p:spPr>
          <a:xfrm>
            <a:off x="2411760" y="5733256"/>
            <a:ext cx="2234907" cy="369332"/>
          </a:xfrm>
          <a:prstGeom prst="rect">
            <a:avLst/>
          </a:prstGeom>
        </p:spPr>
        <p:txBody>
          <a:bodyPr wrap="none">
            <a:spAutoFit/>
          </a:bodyPr>
          <a:lstStyle/>
          <a:p>
            <a:r>
              <a:rPr lang="en-US" dirty="0"/>
              <a:t>F0​(x)=mean(y)=400 </a:t>
            </a:r>
          </a:p>
        </p:txBody>
      </p:sp>
    </p:spTree>
    <p:extLst>
      <p:ext uri="{BB962C8B-B14F-4D97-AF65-F5344CB8AC3E}">
        <p14:creationId xmlns:p14="http://schemas.microsoft.com/office/powerpoint/2010/main" val="220198781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94678" y="1399892"/>
            <a:ext cx="8554644" cy="4058216"/>
          </a:xfrm>
          <a:prstGeom prst="rect">
            <a:avLst/>
          </a:prstGeom>
        </p:spPr>
      </p:pic>
    </p:spTree>
    <p:extLst>
      <p:ext uri="{BB962C8B-B14F-4D97-AF65-F5344CB8AC3E}">
        <p14:creationId xmlns:p14="http://schemas.microsoft.com/office/powerpoint/2010/main" val="146743480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395536" y="1268760"/>
            <a:ext cx="8535591" cy="3115110"/>
          </a:xfrm>
          <a:prstGeom prst="rect">
            <a:avLst/>
          </a:prstGeom>
        </p:spPr>
      </p:pic>
    </p:spTree>
    <p:extLst>
      <p:ext uri="{BB962C8B-B14F-4D97-AF65-F5344CB8AC3E}">
        <p14:creationId xmlns:p14="http://schemas.microsoft.com/office/powerpoint/2010/main" val="97873357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23528" y="1052736"/>
            <a:ext cx="8336007" cy="4968552"/>
          </a:xfrm>
          <a:prstGeom prst="rect">
            <a:avLst/>
          </a:prstGeom>
        </p:spPr>
      </p:pic>
    </p:spTree>
    <p:extLst>
      <p:ext uri="{BB962C8B-B14F-4D97-AF65-F5344CB8AC3E}">
        <p14:creationId xmlns:p14="http://schemas.microsoft.com/office/powerpoint/2010/main" val="69417768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233148084"/>
              </p:ext>
            </p:extLst>
          </p:nvPr>
        </p:nvGraphicFramePr>
        <p:xfrm>
          <a:off x="1547664" y="548681"/>
          <a:ext cx="6096000" cy="442848"/>
        </p:xfrm>
        <a:graphic>
          <a:graphicData uri="http://schemas.openxmlformats.org/drawingml/2006/table">
            <a:tbl>
              <a:tblPr firstRow="1" bandRow="1">
                <a:tableStyleId>{5C22544A-7EE6-4342-B048-85BDC9FD1C3A}</a:tableStyleId>
              </a:tblPr>
              <a:tblGrid>
                <a:gridCol w="6096000"/>
              </a:tblGrid>
              <a:tr h="442848">
                <a:tc>
                  <a:txBody>
                    <a:bodyPr/>
                    <a:lstStyle/>
                    <a:p>
                      <a:pPr algn="ctr"/>
                      <a:r>
                        <a:rPr lang="en-US" dirty="0" smtClean="0"/>
                        <a:t>How</a:t>
                      </a:r>
                      <a:r>
                        <a:rPr lang="en-US" baseline="0" dirty="0" smtClean="0"/>
                        <a:t> it works</a:t>
                      </a:r>
                      <a:endParaRPr lang="en-US" dirty="0"/>
                    </a:p>
                  </a:txBody>
                  <a:tcPr/>
                </a:tc>
              </a:tr>
            </a:tbl>
          </a:graphicData>
        </a:graphic>
      </p:graphicFrame>
      <p:pic>
        <p:nvPicPr>
          <p:cNvPr id="3" name="Picture 2"/>
          <p:cNvPicPr>
            <a:picLocks noChangeAspect="1"/>
          </p:cNvPicPr>
          <p:nvPr/>
        </p:nvPicPr>
        <p:blipFill>
          <a:blip r:embed="rId2"/>
          <a:stretch>
            <a:fillRect/>
          </a:stretch>
        </p:blipFill>
        <p:spPr>
          <a:xfrm>
            <a:off x="342158" y="1052736"/>
            <a:ext cx="8507012" cy="5541218"/>
          </a:xfrm>
          <a:prstGeom prst="rect">
            <a:avLst/>
          </a:prstGeom>
        </p:spPr>
      </p:pic>
    </p:spTree>
    <p:extLst>
      <p:ext uri="{BB962C8B-B14F-4D97-AF65-F5344CB8AC3E}">
        <p14:creationId xmlns:p14="http://schemas.microsoft.com/office/powerpoint/2010/main" val="153093175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2446" y="1556792"/>
            <a:ext cx="8869013" cy="3810532"/>
          </a:xfrm>
          <a:prstGeom prst="rect">
            <a:avLst/>
          </a:prstGeom>
        </p:spPr>
      </p:pic>
    </p:spTree>
    <p:extLst>
      <p:ext uri="{BB962C8B-B14F-4D97-AF65-F5344CB8AC3E}">
        <p14:creationId xmlns:p14="http://schemas.microsoft.com/office/powerpoint/2010/main" val="328184158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67544" y="1484784"/>
            <a:ext cx="8326012" cy="4296375"/>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4167214015"/>
              </p:ext>
            </p:extLst>
          </p:nvPr>
        </p:nvGraphicFramePr>
        <p:xfrm>
          <a:off x="1403648" y="836712"/>
          <a:ext cx="6096000" cy="370840"/>
        </p:xfrm>
        <a:graphic>
          <a:graphicData uri="http://schemas.openxmlformats.org/drawingml/2006/table">
            <a:tbl>
              <a:tblPr firstRow="1" bandRow="1">
                <a:tableStyleId>{5C22544A-7EE6-4342-B048-85BDC9FD1C3A}</a:tableStyleId>
              </a:tblPr>
              <a:tblGrid>
                <a:gridCol w="6096000"/>
              </a:tblGrid>
              <a:tr h="370840">
                <a:tc>
                  <a:txBody>
                    <a:bodyPr/>
                    <a:lstStyle/>
                    <a:p>
                      <a:r>
                        <a:rPr lang="en-US" dirty="0" smtClean="0"/>
                        <a:t>If using some split criterion as discuss in step 3</a:t>
                      </a:r>
                      <a:endParaRPr lang="en-US" dirty="0"/>
                    </a:p>
                  </a:txBody>
                  <a:tcPr/>
                </a:tc>
              </a:tr>
            </a:tbl>
          </a:graphicData>
        </a:graphic>
      </p:graphicFrame>
    </p:spTree>
    <p:extLst>
      <p:ext uri="{BB962C8B-B14F-4D97-AF65-F5344CB8AC3E}">
        <p14:creationId xmlns:p14="http://schemas.microsoft.com/office/powerpoint/2010/main" val="332703617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5178" y="1271286"/>
            <a:ext cx="8373644" cy="4315427"/>
          </a:xfrm>
          <a:prstGeom prst="rect">
            <a:avLst/>
          </a:prstGeom>
        </p:spPr>
      </p:pic>
    </p:spTree>
    <p:extLst>
      <p:ext uri="{BB962C8B-B14F-4D97-AF65-F5344CB8AC3E}">
        <p14:creationId xmlns:p14="http://schemas.microsoft.com/office/powerpoint/2010/main" val="390733436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55576" y="1340768"/>
            <a:ext cx="7262989" cy="4032448"/>
          </a:xfrm>
          <a:prstGeom prst="rect">
            <a:avLst/>
          </a:prstGeom>
        </p:spPr>
      </p:pic>
    </p:spTree>
    <p:extLst>
      <p:ext uri="{BB962C8B-B14F-4D97-AF65-F5344CB8AC3E}">
        <p14:creationId xmlns:p14="http://schemas.microsoft.com/office/powerpoint/2010/main" val="114623858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85231" y="3195605"/>
            <a:ext cx="7973538" cy="466790"/>
          </a:xfrm>
          <a:prstGeom prst="rect">
            <a:avLst/>
          </a:prstGeom>
        </p:spPr>
      </p:pic>
    </p:spTree>
    <p:extLst>
      <p:ext uri="{BB962C8B-B14F-4D97-AF65-F5344CB8AC3E}">
        <p14:creationId xmlns:p14="http://schemas.microsoft.com/office/powerpoint/2010/main" val="186726491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899592" y="1340768"/>
            <a:ext cx="7144747" cy="2591162"/>
          </a:xfrm>
          <a:prstGeom prst="rect">
            <a:avLst/>
          </a:prstGeom>
        </p:spPr>
      </p:pic>
      <p:pic>
        <p:nvPicPr>
          <p:cNvPr id="3" name="Picture 2"/>
          <p:cNvPicPr>
            <a:picLocks noChangeAspect="1"/>
          </p:cNvPicPr>
          <p:nvPr/>
        </p:nvPicPr>
        <p:blipFill>
          <a:blip r:embed="rId4"/>
          <a:stretch>
            <a:fillRect/>
          </a:stretch>
        </p:blipFill>
        <p:spPr>
          <a:xfrm>
            <a:off x="323528" y="4365104"/>
            <a:ext cx="8707065" cy="1667108"/>
          </a:xfrm>
          <a:prstGeom prst="rect">
            <a:avLst/>
          </a:prstGeom>
        </p:spPr>
      </p:pic>
    </p:spTree>
    <p:extLst>
      <p:ext uri="{BB962C8B-B14F-4D97-AF65-F5344CB8AC3E}">
        <p14:creationId xmlns:p14="http://schemas.microsoft.com/office/powerpoint/2010/main" val="295749443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29600" cy="792088"/>
          </a:xfrm>
        </p:spPr>
        <p:txBody>
          <a:bodyPr>
            <a:normAutofit/>
          </a:bodyPr>
          <a:lstStyle/>
          <a:p>
            <a:pPr algn="ctr"/>
            <a:r>
              <a:rPr lang="en-US" sz="4000" b="1" dirty="0" smtClean="0"/>
              <a:t>How GB differs from </a:t>
            </a:r>
            <a:r>
              <a:rPr lang="en-US" sz="4000" b="1" dirty="0" err="1" smtClean="0"/>
              <a:t>Adaboost</a:t>
            </a:r>
            <a:endParaRPr lang="en-US" sz="4000" b="1" dirty="0"/>
          </a:p>
        </p:txBody>
      </p:sp>
      <p:sp>
        <p:nvSpPr>
          <p:cNvPr id="3" name="Content Placeholder 2"/>
          <p:cNvSpPr>
            <a:spLocks noGrp="1"/>
          </p:cNvSpPr>
          <p:nvPr>
            <p:ph idx="1"/>
          </p:nvPr>
        </p:nvSpPr>
        <p:spPr>
          <a:xfrm>
            <a:off x="333872" y="1188673"/>
            <a:ext cx="8496944" cy="5616624"/>
          </a:xfrm>
        </p:spPr>
        <p:txBody>
          <a:bodyPr>
            <a:normAutofit fontScale="85000" lnSpcReduction="10000"/>
          </a:bodyPr>
          <a:lstStyle/>
          <a:p>
            <a:pPr marL="444500" lvl="1" indent="-266700">
              <a:lnSpc>
                <a:spcPct val="150000"/>
              </a:lnSpc>
            </a:pPr>
            <a:r>
              <a:rPr lang="en-US" sz="1800" b="1" dirty="0" smtClean="0"/>
              <a:t>Gradient </a:t>
            </a:r>
            <a:r>
              <a:rPr lang="en-US" sz="1800" b="1" dirty="0"/>
              <a:t>Boosting</a:t>
            </a:r>
            <a:r>
              <a:rPr lang="en-US" sz="1800" b="1" dirty="0" smtClean="0"/>
              <a:t>:</a:t>
            </a:r>
          </a:p>
          <a:p>
            <a:pPr marL="444500" lvl="2" indent="-246063" algn="just">
              <a:lnSpc>
                <a:spcPct val="150000"/>
              </a:lnSpc>
            </a:pPr>
            <a:r>
              <a:rPr lang="en-US" sz="1800" b="1" dirty="0"/>
              <a:t>Boosting Method</a:t>
            </a:r>
            <a:r>
              <a:rPr lang="en-US" sz="1800" dirty="0"/>
              <a:t>: Gradient Boosting builds models sequentially, where each new model tries to correct the errors of the previous models. It does this by fitting the new model to the residual errors (the difference between the actual and predicted values) of the previous model.</a:t>
            </a:r>
          </a:p>
          <a:p>
            <a:pPr marL="444500" lvl="2" indent="-246063" algn="just">
              <a:lnSpc>
                <a:spcPct val="150000"/>
              </a:lnSpc>
            </a:pPr>
            <a:r>
              <a:rPr lang="en-US" sz="1800" b="1" dirty="0"/>
              <a:t>Loss Function</a:t>
            </a:r>
            <a:r>
              <a:rPr lang="en-US" sz="1800" dirty="0"/>
              <a:t>: It explicitly minimizes a specified loss function (e.g., mean squared error for regression, log-loss for classification) using gradient descent. Each new model is added to reduce this loss</a:t>
            </a:r>
            <a:r>
              <a:rPr lang="en-US" sz="1800" dirty="0" smtClean="0"/>
              <a:t>.</a:t>
            </a:r>
          </a:p>
          <a:p>
            <a:pPr marL="444500" lvl="2" indent="-246063" algn="just">
              <a:lnSpc>
                <a:spcPct val="150000"/>
              </a:lnSpc>
            </a:pPr>
            <a:r>
              <a:rPr lang="en-US" sz="1800" b="1" dirty="0"/>
              <a:t>Model Updates</a:t>
            </a:r>
            <a:r>
              <a:rPr lang="en-US" sz="1800" dirty="0"/>
              <a:t>: The model at each stage is updated by adding the new model that predicts the residuals. Formally, the model 𝐹𝑚(𝑥</a:t>
            </a:r>
            <a:r>
              <a:rPr lang="en-US" sz="1800" dirty="0" smtClean="0"/>
              <a:t>) </a:t>
            </a:r>
            <a:r>
              <a:rPr lang="en-US" sz="1800" dirty="0"/>
              <a:t>at stage </a:t>
            </a:r>
            <a:r>
              <a:rPr lang="en-US" sz="1800" dirty="0" smtClean="0"/>
              <a:t>𝑚 </a:t>
            </a:r>
            <a:r>
              <a:rPr lang="en-US" sz="1800" dirty="0"/>
              <a:t>is given by</a:t>
            </a:r>
            <a:r>
              <a:rPr lang="en-US" sz="1800" dirty="0" smtClean="0"/>
              <a:t>:</a:t>
            </a:r>
          </a:p>
          <a:p>
            <a:pPr marL="198437" lvl="2" indent="0" algn="just">
              <a:lnSpc>
                <a:spcPct val="150000"/>
              </a:lnSpc>
              <a:buNone/>
            </a:pPr>
            <a:r>
              <a:rPr lang="en-US" sz="1800" dirty="0" smtClean="0"/>
              <a:t>	where 𝜈 </a:t>
            </a:r>
            <a:r>
              <a:rPr lang="en-US" sz="1800" dirty="0"/>
              <a:t>is the learning rate and ℎ𝑚(𝑥</a:t>
            </a:r>
            <a:r>
              <a:rPr lang="en-US" sz="1800" dirty="0" smtClean="0"/>
              <a:t>) </a:t>
            </a:r>
            <a:r>
              <a:rPr lang="en-US" sz="1800" dirty="0"/>
              <a:t>is the new weak learner</a:t>
            </a:r>
            <a:r>
              <a:rPr lang="en-US" sz="1800" dirty="0" smtClean="0"/>
              <a:t>.</a:t>
            </a:r>
          </a:p>
          <a:p>
            <a:pPr marL="444500" lvl="2" indent="-246063" algn="just">
              <a:lnSpc>
                <a:spcPct val="150000"/>
              </a:lnSpc>
            </a:pPr>
            <a:endParaRPr lang="en-US" sz="1800" dirty="0"/>
          </a:p>
          <a:p>
            <a:pPr marL="444500" lvl="2" indent="-246063" algn="just">
              <a:lnSpc>
                <a:spcPct val="150000"/>
              </a:lnSpc>
            </a:pPr>
            <a:endParaRPr lang="en-US" sz="1800" dirty="0" smtClean="0"/>
          </a:p>
          <a:p>
            <a:pPr marL="444500" lvl="2" indent="-246063" algn="just">
              <a:lnSpc>
                <a:spcPct val="150000"/>
              </a:lnSpc>
            </a:pPr>
            <a:endParaRPr lang="en-US" sz="1800" dirty="0" smtClean="0"/>
          </a:p>
          <a:p>
            <a:pPr>
              <a:lnSpc>
                <a:spcPct val="150000"/>
              </a:lnSpc>
            </a:pPr>
            <a:r>
              <a:rPr lang="en-US" sz="1800" b="1" dirty="0"/>
              <a:t>Flexibility: </a:t>
            </a:r>
            <a:r>
              <a:rPr lang="en-US" sz="1800" dirty="0"/>
              <a:t>Gradient Boosting is more flexible as it can optimize any differentiable loss function</a:t>
            </a:r>
            <a:r>
              <a:rPr lang="en-US" sz="1800" dirty="0" smtClean="0"/>
              <a:t>.</a:t>
            </a:r>
            <a:endParaRPr lang="en-US" sz="1800" b="1" dirty="0"/>
          </a:p>
        </p:txBody>
      </p:sp>
      <p:pic>
        <p:nvPicPr>
          <p:cNvPr id="378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3" y="4997797"/>
            <a:ext cx="2886075"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11247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692696"/>
            <a:ext cx="8496944" cy="5688632"/>
          </a:xfrm>
        </p:spPr>
        <p:txBody>
          <a:bodyPr>
            <a:normAutofit/>
          </a:bodyPr>
          <a:lstStyle/>
          <a:p>
            <a:pPr algn="just">
              <a:lnSpc>
                <a:spcPct val="150000"/>
              </a:lnSpc>
            </a:pPr>
            <a:r>
              <a:rPr lang="en-US" sz="2000" b="1" dirty="0"/>
              <a:t>Adaptive Boosting (</a:t>
            </a:r>
            <a:r>
              <a:rPr lang="en-US" sz="2000" b="1" dirty="0" err="1"/>
              <a:t>AdaBoost</a:t>
            </a:r>
            <a:r>
              <a:rPr lang="en-US" sz="2000" b="1" dirty="0" smtClean="0"/>
              <a:t>):</a:t>
            </a:r>
          </a:p>
          <a:p>
            <a:pPr algn="just">
              <a:lnSpc>
                <a:spcPct val="150000"/>
              </a:lnSpc>
            </a:pPr>
            <a:r>
              <a:rPr lang="en-US" sz="2000" b="1" dirty="0" smtClean="0"/>
              <a:t>Boosting </a:t>
            </a:r>
            <a:r>
              <a:rPr lang="en-US" sz="2000" b="1" dirty="0"/>
              <a:t>Method</a:t>
            </a:r>
            <a:r>
              <a:rPr lang="en-US" sz="2000" dirty="0"/>
              <a:t>: </a:t>
            </a:r>
            <a:r>
              <a:rPr lang="en-US" sz="2000" dirty="0" err="1"/>
              <a:t>AdaBoost</a:t>
            </a:r>
            <a:r>
              <a:rPr lang="en-US" sz="2000" dirty="0"/>
              <a:t> also builds models sequentially, but it adjusts the weights of the training instances based on the errors of the previous models. Instances that are misclassified by previous models get higher weights so that subsequent models focus more on them.</a:t>
            </a:r>
          </a:p>
          <a:p>
            <a:pPr algn="just">
              <a:lnSpc>
                <a:spcPct val="150000"/>
              </a:lnSpc>
            </a:pPr>
            <a:r>
              <a:rPr lang="en-US" sz="2000" b="1" dirty="0"/>
              <a:t>Error Focus</a:t>
            </a:r>
            <a:r>
              <a:rPr lang="en-US" sz="2000" dirty="0"/>
              <a:t>: </a:t>
            </a:r>
            <a:r>
              <a:rPr lang="en-US" sz="2000" dirty="0" err="1"/>
              <a:t>AdaBoost</a:t>
            </a:r>
            <a:r>
              <a:rPr lang="en-US" sz="2000" dirty="0"/>
              <a:t> directly uses the classification error to update the weights of the training instances. Each weak learner is trained on the weighted dataset.</a:t>
            </a:r>
          </a:p>
          <a:p>
            <a:pPr algn="just">
              <a:lnSpc>
                <a:spcPct val="150000"/>
              </a:lnSpc>
            </a:pPr>
            <a:r>
              <a:rPr lang="en-US" sz="2000" b="1" dirty="0"/>
              <a:t>Model Weighting</a:t>
            </a:r>
            <a:r>
              <a:rPr lang="en-US" sz="2000" dirty="0"/>
              <a:t>: The final model is a weighted sum of the weak learners, where each weak learner is weighted based on its accuracy. Formally, the final model 𝐻(𝑥</a:t>
            </a:r>
            <a:r>
              <a:rPr lang="en-US" sz="2000" dirty="0" smtClean="0"/>
              <a:t>)) </a:t>
            </a:r>
            <a:r>
              <a:rPr lang="en-US" sz="2000" dirty="0"/>
              <a:t>is given by</a:t>
            </a:r>
            <a:r>
              <a:rPr lang="en-US" sz="2000" dirty="0" smtClean="0"/>
              <a:t>:</a:t>
            </a:r>
          </a:p>
          <a:p>
            <a:endParaRPr lang="en-US" sz="2000" dirty="0"/>
          </a:p>
        </p:txBody>
      </p:sp>
      <p:pic>
        <p:nvPicPr>
          <p:cNvPr id="2" name="Picture 1"/>
          <p:cNvPicPr>
            <a:picLocks noChangeAspect="1"/>
          </p:cNvPicPr>
          <p:nvPr/>
        </p:nvPicPr>
        <p:blipFill>
          <a:blip r:embed="rId2"/>
          <a:stretch>
            <a:fillRect/>
          </a:stretch>
        </p:blipFill>
        <p:spPr>
          <a:xfrm>
            <a:off x="2771800" y="5909956"/>
            <a:ext cx="2800741" cy="924054"/>
          </a:xfrm>
          <a:prstGeom prst="rect">
            <a:avLst/>
          </a:prstGeom>
        </p:spPr>
      </p:pic>
    </p:spTree>
    <p:extLst>
      <p:ext uri="{BB962C8B-B14F-4D97-AF65-F5344CB8AC3E}">
        <p14:creationId xmlns:p14="http://schemas.microsoft.com/office/powerpoint/2010/main" val="355778288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712" y="1052736"/>
            <a:ext cx="8229600" cy="1143000"/>
          </a:xfrm>
        </p:spPr>
        <p:txBody>
          <a:bodyPr>
            <a:noAutofit/>
          </a:bodyPr>
          <a:lstStyle/>
          <a:p>
            <a:pPr algn="ctr"/>
            <a:r>
              <a:rPr lang="en-US" sz="4000" b="1" dirty="0"/>
              <a:t>Gradient Boosting with Different Loss Functions</a:t>
            </a:r>
            <a:br>
              <a:rPr lang="en-US" sz="4000" b="1" dirty="0"/>
            </a:br>
            <a:endParaRPr lang="en-US" sz="4000" dirty="0"/>
          </a:p>
        </p:txBody>
      </p:sp>
      <p:sp>
        <p:nvSpPr>
          <p:cNvPr id="3" name="Content Placeholder 2"/>
          <p:cNvSpPr>
            <a:spLocks noGrp="1"/>
          </p:cNvSpPr>
          <p:nvPr>
            <p:ph idx="1"/>
          </p:nvPr>
        </p:nvSpPr>
        <p:spPr/>
        <p:txBody>
          <a:bodyPr>
            <a:normAutofit/>
          </a:bodyPr>
          <a:lstStyle/>
          <a:p>
            <a:pPr algn="just"/>
            <a:r>
              <a:rPr lang="en-US" sz="2000" dirty="0"/>
              <a:t>In gradient boosting, you can choose from a variety of loss functions depending on the specific problem and the nature of the data. Common loss functions used in gradient boosting include:</a:t>
            </a:r>
          </a:p>
        </p:txBody>
      </p:sp>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3140968"/>
            <a:ext cx="8319887" cy="32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572654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924712"/>
          </a:xfrm>
        </p:spPr>
        <p:txBody>
          <a:bodyPr>
            <a:normAutofit/>
          </a:bodyPr>
          <a:lstStyle/>
          <a:p>
            <a:r>
              <a:rPr lang="en-US" sz="4000" b="1" dirty="0" smtClean="0"/>
              <a:t>Hyper parameters </a:t>
            </a:r>
            <a:r>
              <a:rPr lang="en-US" sz="4000" b="1" dirty="0"/>
              <a:t>in gradient boosting</a:t>
            </a:r>
          </a:p>
        </p:txBody>
      </p:sp>
      <p:sp>
        <p:nvSpPr>
          <p:cNvPr id="3" name="Content Placeholder 2"/>
          <p:cNvSpPr>
            <a:spLocks noGrp="1"/>
          </p:cNvSpPr>
          <p:nvPr>
            <p:ph idx="1"/>
          </p:nvPr>
        </p:nvSpPr>
        <p:spPr/>
        <p:txBody>
          <a:bodyPr/>
          <a:lstStyle/>
          <a:p>
            <a:r>
              <a:rPr lang="en-US" b="1" dirty="0"/>
              <a:t>Number of Estimators (</a:t>
            </a:r>
            <a:r>
              <a:rPr lang="en-US" b="1" dirty="0" err="1"/>
              <a:t>n_estimators</a:t>
            </a:r>
            <a:r>
              <a:rPr lang="en-US" b="1" dirty="0"/>
              <a:t>)</a:t>
            </a:r>
          </a:p>
          <a:p>
            <a:pPr lvl="1"/>
            <a:r>
              <a:rPr lang="en-US" b="1" dirty="0"/>
              <a:t>Description</a:t>
            </a:r>
            <a:r>
              <a:rPr lang="en-US" dirty="0"/>
              <a:t>: The number of boosting stages (trees) to be built.</a:t>
            </a:r>
          </a:p>
          <a:p>
            <a:pPr lvl="1"/>
            <a:r>
              <a:rPr lang="en-US" b="1" dirty="0"/>
              <a:t>Effect</a:t>
            </a:r>
            <a:r>
              <a:rPr lang="en-US" dirty="0"/>
              <a:t>: Increasing the number of estimators generally improves the model's performance up to a certain point, after which it can lead to overfitting.</a:t>
            </a:r>
          </a:p>
          <a:p>
            <a:pPr lvl="1"/>
            <a:r>
              <a:rPr lang="en-US" b="1" dirty="0"/>
              <a:t>Typical Values</a:t>
            </a:r>
            <a:r>
              <a:rPr lang="en-US" dirty="0"/>
              <a:t>: 100 to 1000, but it depends on the complexity of the dataset.</a:t>
            </a:r>
          </a:p>
          <a:p>
            <a:endParaRPr lang="en-US" dirty="0"/>
          </a:p>
        </p:txBody>
      </p:sp>
    </p:spTree>
    <p:extLst>
      <p:ext uri="{BB962C8B-B14F-4D97-AF65-F5344CB8AC3E}">
        <p14:creationId xmlns:p14="http://schemas.microsoft.com/office/powerpoint/2010/main" val="83536436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24744"/>
            <a:ext cx="8229600" cy="5199856"/>
          </a:xfrm>
        </p:spPr>
        <p:txBody>
          <a:bodyPr>
            <a:normAutofit fontScale="92500"/>
          </a:bodyPr>
          <a:lstStyle/>
          <a:p>
            <a:r>
              <a:rPr lang="en-US" b="1" dirty="0"/>
              <a:t>Learning Rate (</a:t>
            </a:r>
            <a:r>
              <a:rPr lang="en-US" b="1" dirty="0" err="1"/>
              <a:t>learning_rate</a:t>
            </a:r>
            <a:r>
              <a:rPr lang="en-US" b="1" dirty="0"/>
              <a:t>)</a:t>
            </a:r>
          </a:p>
          <a:p>
            <a:pPr lvl="1"/>
            <a:r>
              <a:rPr lang="en-US" b="1" dirty="0"/>
              <a:t>Description</a:t>
            </a:r>
            <a:r>
              <a:rPr lang="en-US" dirty="0"/>
              <a:t>: Also known as the shrinkage rate, it controls the contribution of each weak learner.</a:t>
            </a:r>
          </a:p>
          <a:p>
            <a:pPr lvl="1"/>
            <a:r>
              <a:rPr lang="en-US" b="1" dirty="0"/>
              <a:t>Effect</a:t>
            </a:r>
            <a:r>
              <a:rPr lang="en-US" dirty="0"/>
              <a:t>: A lower learning rate requires a larger number of estimators for the model to perform well. It helps in preventing overfitting.</a:t>
            </a:r>
          </a:p>
          <a:p>
            <a:pPr lvl="1"/>
            <a:r>
              <a:rPr lang="en-US" b="1" dirty="0"/>
              <a:t>Typical Values</a:t>
            </a:r>
            <a:r>
              <a:rPr lang="en-US" dirty="0"/>
              <a:t>: 0.01 to 0.1</a:t>
            </a:r>
            <a:r>
              <a:rPr lang="en-US" dirty="0" smtClean="0"/>
              <a:t>.</a:t>
            </a:r>
          </a:p>
          <a:p>
            <a:r>
              <a:rPr lang="en-US" b="1" dirty="0" smtClean="0"/>
              <a:t>Maximum </a:t>
            </a:r>
            <a:r>
              <a:rPr lang="en-US" b="1" dirty="0"/>
              <a:t>Depth (</a:t>
            </a:r>
            <a:r>
              <a:rPr lang="en-US" b="1" dirty="0" err="1"/>
              <a:t>max_depth</a:t>
            </a:r>
            <a:r>
              <a:rPr lang="en-US" b="1" dirty="0"/>
              <a:t>)</a:t>
            </a:r>
          </a:p>
          <a:p>
            <a:pPr lvl="1"/>
            <a:r>
              <a:rPr lang="en-US" b="1" dirty="0"/>
              <a:t>Description</a:t>
            </a:r>
            <a:r>
              <a:rPr lang="en-US" dirty="0"/>
              <a:t>: The maximum depth of the individual trees.</a:t>
            </a:r>
          </a:p>
          <a:p>
            <a:pPr lvl="1"/>
            <a:r>
              <a:rPr lang="en-US" b="1" dirty="0"/>
              <a:t>Effect</a:t>
            </a:r>
            <a:r>
              <a:rPr lang="en-US" dirty="0"/>
              <a:t>: Controls the complexity of the trees. Deeper trees can capture more complex patterns but are more prone to overfitting.</a:t>
            </a:r>
          </a:p>
          <a:p>
            <a:pPr lvl="1"/>
            <a:r>
              <a:rPr lang="en-US" b="1" dirty="0"/>
              <a:t>Typical Values</a:t>
            </a:r>
            <a:r>
              <a:rPr lang="en-US" dirty="0"/>
              <a:t>: 3 to 10.</a:t>
            </a:r>
          </a:p>
          <a:p>
            <a:pPr lvl="1"/>
            <a:endParaRPr lang="en-US" dirty="0"/>
          </a:p>
          <a:p>
            <a:endParaRPr lang="en-US" dirty="0"/>
          </a:p>
        </p:txBody>
      </p:sp>
    </p:spTree>
    <p:extLst>
      <p:ext uri="{BB962C8B-B14F-4D97-AF65-F5344CB8AC3E}">
        <p14:creationId xmlns:p14="http://schemas.microsoft.com/office/powerpoint/2010/main" val="83935977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764704"/>
            <a:ext cx="8229600" cy="5760640"/>
          </a:xfrm>
        </p:spPr>
        <p:txBody>
          <a:bodyPr>
            <a:normAutofit fontScale="92500" lnSpcReduction="10000"/>
          </a:bodyPr>
          <a:lstStyle/>
          <a:p>
            <a:r>
              <a:rPr lang="en-US" sz="2200" b="1" dirty="0"/>
              <a:t>Max Features (</a:t>
            </a:r>
            <a:r>
              <a:rPr lang="en-US" sz="2200" b="1" dirty="0" err="1"/>
              <a:t>max_features</a:t>
            </a:r>
            <a:r>
              <a:rPr lang="en-US" sz="2200" b="1" dirty="0"/>
              <a:t>)</a:t>
            </a:r>
          </a:p>
          <a:p>
            <a:pPr lvl="1"/>
            <a:r>
              <a:rPr lang="en-US" sz="2200" b="1" dirty="0"/>
              <a:t>Description</a:t>
            </a:r>
            <a:r>
              <a:rPr lang="en-US" sz="2200" dirty="0"/>
              <a:t>: The number of features to consider when looking for the best split.</a:t>
            </a:r>
          </a:p>
          <a:p>
            <a:pPr lvl="1"/>
            <a:r>
              <a:rPr lang="en-US" sz="2200" b="1" dirty="0"/>
              <a:t>Effect</a:t>
            </a:r>
            <a:r>
              <a:rPr lang="en-US" sz="2200" dirty="0"/>
              <a:t>: Reduces overfitting by limiting the number of features each tree can use.</a:t>
            </a:r>
          </a:p>
          <a:p>
            <a:pPr lvl="1"/>
            <a:r>
              <a:rPr lang="en-US" sz="2200" b="1" dirty="0"/>
              <a:t>Typical Values</a:t>
            </a:r>
            <a:r>
              <a:rPr lang="en-US" sz="2200" dirty="0"/>
              <a:t>: 'auto' (all features), '</a:t>
            </a:r>
            <a:r>
              <a:rPr lang="en-US" sz="2200" dirty="0" err="1"/>
              <a:t>sqrt</a:t>
            </a:r>
            <a:r>
              <a:rPr lang="en-US" sz="2200" dirty="0"/>
              <a:t>' (square root of the number of features), 'log2' (logarithm base 2 of the number of features</a:t>
            </a:r>
            <a:r>
              <a:rPr lang="en-US" sz="2200" dirty="0" smtClean="0"/>
              <a:t>).</a:t>
            </a:r>
          </a:p>
          <a:p>
            <a:pPr lvl="1"/>
            <a:endParaRPr lang="en-US" sz="2200" dirty="0"/>
          </a:p>
          <a:p>
            <a:r>
              <a:rPr lang="en-US" sz="2200" b="1" dirty="0"/>
              <a:t>Loss Function (loss)</a:t>
            </a:r>
          </a:p>
          <a:p>
            <a:pPr lvl="1"/>
            <a:r>
              <a:rPr lang="en-US" sz="2200" b="1" dirty="0"/>
              <a:t>Description</a:t>
            </a:r>
            <a:r>
              <a:rPr lang="en-US" sz="2200" dirty="0"/>
              <a:t>: The loss function to be minimized.</a:t>
            </a:r>
          </a:p>
          <a:p>
            <a:pPr lvl="1"/>
            <a:r>
              <a:rPr lang="en-US" sz="2200" b="1" dirty="0"/>
              <a:t>Effect</a:t>
            </a:r>
            <a:r>
              <a:rPr lang="en-US" sz="2200" dirty="0"/>
              <a:t>: Different loss functions are used for regression and classification tasks.</a:t>
            </a:r>
          </a:p>
          <a:p>
            <a:pPr lvl="1"/>
            <a:r>
              <a:rPr lang="en-US" sz="2200" b="1" dirty="0"/>
              <a:t>Typical Values</a:t>
            </a:r>
            <a:r>
              <a:rPr lang="en-US" sz="2200" dirty="0"/>
              <a:t>: 'deviance' (log-loss for classification), 'exponential' (</a:t>
            </a:r>
            <a:r>
              <a:rPr lang="en-US" sz="2200" dirty="0" err="1"/>
              <a:t>AdaBoost</a:t>
            </a:r>
            <a:r>
              <a:rPr lang="en-US" sz="2200" dirty="0"/>
              <a:t>-like for classification), 'ls' (least squares regression), 'lad' (least absolute deviation for regression), '</a:t>
            </a:r>
            <a:r>
              <a:rPr lang="en-US" sz="2200" dirty="0" err="1"/>
              <a:t>huber</a:t>
            </a:r>
            <a:r>
              <a:rPr lang="en-US" sz="2200" dirty="0"/>
              <a:t>' (combination of least squares and least absolute deviation).</a:t>
            </a:r>
          </a:p>
          <a:p>
            <a:pPr lvl="1"/>
            <a:endParaRPr lang="en-US" dirty="0"/>
          </a:p>
          <a:p>
            <a:endParaRPr lang="en-US" dirty="0"/>
          </a:p>
        </p:txBody>
      </p:sp>
    </p:spTree>
    <p:extLst>
      <p:ext uri="{BB962C8B-B14F-4D97-AF65-F5344CB8AC3E}">
        <p14:creationId xmlns:p14="http://schemas.microsoft.com/office/powerpoint/2010/main" val="362374630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908720"/>
            <a:ext cx="8136904" cy="5688632"/>
          </a:xfrm>
        </p:spPr>
        <p:txBody>
          <a:bodyPr/>
          <a:lstStyle/>
          <a:p>
            <a:r>
              <a:rPr lang="en-US" b="1" dirty="0"/>
              <a:t>Alpha (alpha)</a:t>
            </a:r>
          </a:p>
          <a:p>
            <a:pPr lvl="1"/>
            <a:r>
              <a:rPr lang="en-US" b="1" dirty="0"/>
              <a:t>Description</a:t>
            </a:r>
            <a:r>
              <a:rPr lang="en-US" dirty="0"/>
              <a:t>: The quantile for Huber loss and quantile loss.</a:t>
            </a:r>
          </a:p>
          <a:p>
            <a:pPr lvl="1"/>
            <a:r>
              <a:rPr lang="en-US" b="1" dirty="0"/>
              <a:t>Effect</a:t>
            </a:r>
            <a:r>
              <a:rPr lang="en-US" dirty="0"/>
              <a:t>: Controls the robustness of the loss function to outliers.</a:t>
            </a:r>
          </a:p>
          <a:p>
            <a:pPr lvl="1"/>
            <a:r>
              <a:rPr lang="en-US" b="1" dirty="0" smtClean="0"/>
              <a:t>Typical </a:t>
            </a:r>
            <a:r>
              <a:rPr lang="en-US" b="1" dirty="0"/>
              <a:t>Values</a:t>
            </a:r>
            <a:r>
              <a:rPr lang="en-US" dirty="0"/>
              <a:t>: 0.9 for Huber loss.</a:t>
            </a:r>
          </a:p>
        </p:txBody>
      </p:sp>
    </p:spTree>
    <p:extLst>
      <p:ext uri="{BB962C8B-B14F-4D97-AF65-F5344CB8AC3E}">
        <p14:creationId xmlns:p14="http://schemas.microsoft.com/office/powerpoint/2010/main" val="349345035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268760"/>
            <a:ext cx="8712968"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117920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672" y="692696"/>
            <a:ext cx="7593013" cy="595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549996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052736"/>
            <a:ext cx="8229600" cy="708688"/>
          </a:xfrm>
        </p:spPr>
        <p:txBody>
          <a:bodyPr>
            <a:normAutofit fontScale="90000"/>
          </a:bodyPr>
          <a:lstStyle/>
          <a:p>
            <a:pPr algn="ctr"/>
            <a:r>
              <a:rPr lang="en-US" sz="3600" b="1" dirty="0" smtClean="0"/>
              <a:t>Extreme Gradient Boosting</a:t>
            </a:r>
            <a:r>
              <a:rPr lang="en-US" sz="3600" dirty="0"/>
              <a:t> </a:t>
            </a:r>
            <a:r>
              <a:rPr lang="en-US" sz="3600" dirty="0" smtClean="0"/>
              <a:t/>
            </a:r>
            <a:br>
              <a:rPr lang="en-US" sz="3600" dirty="0" smtClean="0"/>
            </a:br>
            <a:r>
              <a:rPr lang="en-US" sz="3600" dirty="0" smtClean="0"/>
              <a:t>(</a:t>
            </a:r>
            <a:r>
              <a:rPr lang="en-US" sz="3600" b="1" dirty="0" err="1" smtClean="0"/>
              <a:t>XGBoost</a:t>
            </a:r>
            <a:r>
              <a:rPr lang="en-US" sz="3600" b="1" dirty="0" smtClean="0"/>
              <a:t>)</a:t>
            </a:r>
            <a:endParaRPr lang="en-US" sz="3600" b="1" dirty="0"/>
          </a:p>
        </p:txBody>
      </p:sp>
      <p:sp>
        <p:nvSpPr>
          <p:cNvPr id="3" name="Content Placeholder 2"/>
          <p:cNvSpPr>
            <a:spLocks noGrp="1"/>
          </p:cNvSpPr>
          <p:nvPr>
            <p:ph idx="1"/>
          </p:nvPr>
        </p:nvSpPr>
        <p:spPr>
          <a:xfrm>
            <a:off x="395536" y="1988840"/>
            <a:ext cx="8229600" cy="4389120"/>
          </a:xfrm>
        </p:spPr>
        <p:txBody>
          <a:bodyPr>
            <a:normAutofit/>
          </a:bodyPr>
          <a:lstStyle/>
          <a:p>
            <a:pPr algn="just"/>
            <a:r>
              <a:rPr lang="en-US" sz="2400" dirty="0"/>
              <a:t>Extreme Gradient Boosting, commonly known as </a:t>
            </a:r>
            <a:r>
              <a:rPr lang="en-US" sz="2400" dirty="0" err="1"/>
              <a:t>XGBoost</a:t>
            </a:r>
            <a:r>
              <a:rPr lang="en-US" sz="2400" dirty="0"/>
              <a:t>, is an optimized implementation of the gradient boosting algorithm designed for speed and performance</a:t>
            </a:r>
            <a:r>
              <a:rPr lang="en-US" sz="2400" dirty="0" smtClean="0"/>
              <a:t>.</a:t>
            </a:r>
          </a:p>
          <a:p>
            <a:pPr marL="0" indent="0" algn="just">
              <a:buNone/>
            </a:pPr>
            <a:r>
              <a:rPr lang="en-US" sz="2400" dirty="0" smtClean="0"/>
              <a:t> </a:t>
            </a:r>
          </a:p>
          <a:p>
            <a:pPr algn="just"/>
            <a:r>
              <a:rPr lang="en-US" sz="2400" dirty="0" smtClean="0"/>
              <a:t>It </a:t>
            </a:r>
            <a:r>
              <a:rPr lang="en-US" sz="2400" dirty="0"/>
              <a:t>has gained significant popularity due to its efficiency and superior performance in various machine learning competitions and practical applications. </a:t>
            </a:r>
          </a:p>
        </p:txBody>
      </p:sp>
    </p:spTree>
    <p:extLst>
      <p:ext uri="{BB962C8B-B14F-4D97-AF65-F5344CB8AC3E}">
        <p14:creationId xmlns:p14="http://schemas.microsoft.com/office/powerpoint/2010/main" val="296614699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404664"/>
            <a:ext cx="8229600" cy="780696"/>
          </a:xfrm>
        </p:spPr>
        <p:txBody>
          <a:bodyPr>
            <a:normAutofit/>
          </a:bodyPr>
          <a:lstStyle/>
          <a:p>
            <a:pPr algn="ctr"/>
            <a:r>
              <a:rPr lang="en-US" sz="3600" b="1" dirty="0"/>
              <a:t>Key Features of </a:t>
            </a:r>
            <a:r>
              <a:rPr lang="en-US" sz="3600" b="1" dirty="0" err="1"/>
              <a:t>XGBoost</a:t>
            </a:r>
            <a:endParaRPr lang="en-US" sz="3600" b="1" dirty="0"/>
          </a:p>
        </p:txBody>
      </p:sp>
      <p:sp>
        <p:nvSpPr>
          <p:cNvPr id="3" name="Content Placeholder 2"/>
          <p:cNvSpPr>
            <a:spLocks noGrp="1"/>
          </p:cNvSpPr>
          <p:nvPr>
            <p:ph idx="1"/>
          </p:nvPr>
        </p:nvSpPr>
        <p:spPr>
          <a:xfrm>
            <a:off x="29776" y="1340768"/>
            <a:ext cx="9006720" cy="5256584"/>
          </a:xfrm>
        </p:spPr>
        <p:txBody>
          <a:bodyPr>
            <a:normAutofit fontScale="92500" lnSpcReduction="20000"/>
          </a:bodyPr>
          <a:lstStyle/>
          <a:p>
            <a:r>
              <a:rPr lang="en-US" sz="2000" b="1" dirty="0" smtClean="0"/>
              <a:t>Regularization</a:t>
            </a:r>
            <a:r>
              <a:rPr lang="en-US" sz="2000" dirty="0" smtClean="0"/>
              <a:t>:</a:t>
            </a:r>
          </a:p>
          <a:p>
            <a:pPr lvl="1"/>
            <a:r>
              <a:rPr lang="en-US" sz="2000" dirty="0" err="1" smtClean="0"/>
              <a:t>XGBoost</a:t>
            </a:r>
            <a:r>
              <a:rPr lang="en-US" sz="2000" dirty="0" smtClean="0"/>
              <a:t> includes L1 (Lasso) and L2 (Ridge) regularization to prevent overfitting and improve the generalization of the model.</a:t>
            </a:r>
          </a:p>
          <a:p>
            <a:pPr lvl="1"/>
            <a:r>
              <a:rPr lang="en-US" sz="2000" dirty="0" smtClean="0"/>
              <a:t>Regularization parameters include alpha (L1 regularization)  and lambda (L2 regularization).</a:t>
            </a:r>
          </a:p>
          <a:p>
            <a:r>
              <a:rPr lang="en-US" sz="2200" b="1" dirty="0"/>
              <a:t>Handling Missing Values</a:t>
            </a:r>
            <a:r>
              <a:rPr lang="en-US" sz="2200" dirty="0"/>
              <a:t>:</a:t>
            </a:r>
          </a:p>
          <a:p>
            <a:pPr lvl="1"/>
            <a:r>
              <a:rPr lang="en-US" sz="2000" dirty="0" err="1"/>
              <a:t>XGBoost</a:t>
            </a:r>
            <a:r>
              <a:rPr lang="en-US" sz="2000" dirty="0"/>
              <a:t> has built-in support for handling missing values, automatically learning the best imputation strategy from the data.</a:t>
            </a:r>
          </a:p>
          <a:p>
            <a:r>
              <a:rPr lang="en-US" sz="2200" b="1" dirty="0" smtClean="0"/>
              <a:t>Parallel </a:t>
            </a:r>
            <a:r>
              <a:rPr lang="en-US" sz="2200" b="1" dirty="0"/>
              <a:t>Processing</a:t>
            </a:r>
            <a:r>
              <a:rPr lang="en-US" sz="2200" dirty="0"/>
              <a:t>:</a:t>
            </a:r>
          </a:p>
          <a:p>
            <a:pPr lvl="1"/>
            <a:r>
              <a:rPr lang="en-US" sz="2000" dirty="0" err="1"/>
              <a:t>XGBoost</a:t>
            </a:r>
            <a:r>
              <a:rPr lang="en-US" sz="2000" dirty="0"/>
              <a:t> can leverage multiple CPU cores for parallel processing, making it much faster than traditional gradient boosting implementations.</a:t>
            </a:r>
          </a:p>
          <a:p>
            <a:r>
              <a:rPr lang="en-US" sz="2000" b="1" dirty="0"/>
              <a:t>Tree Pruning</a:t>
            </a:r>
            <a:r>
              <a:rPr lang="en-US" sz="2000" dirty="0"/>
              <a:t>:</a:t>
            </a:r>
          </a:p>
          <a:p>
            <a:pPr lvl="1"/>
            <a:r>
              <a:rPr lang="en-US" sz="2000" dirty="0"/>
              <a:t>Instead of growing trees to a fixed depth, </a:t>
            </a:r>
            <a:r>
              <a:rPr lang="en-US" sz="2000" dirty="0" err="1"/>
              <a:t>XGBoost</a:t>
            </a:r>
            <a:r>
              <a:rPr lang="en-US" sz="2000" dirty="0"/>
              <a:t> uses a max-depth parameter along with a minimum loss reduction required to make a further partition, effectively pruning trees during training</a:t>
            </a:r>
            <a:r>
              <a:rPr lang="en-US" sz="2000" dirty="0" smtClean="0"/>
              <a:t>.</a:t>
            </a:r>
          </a:p>
          <a:p>
            <a:r>
              <a:rPr lang="en-US" sz="2200" b="1" dirty="0"/>
              <a:t>Cross-Validation</a:t>
            </a:r>
            <a:r>
              <a:rPr lang="en-US" sz="2200" dirty="0"/>
              <a:t>:</a:t>
            </a:r>
          </a:p>
          <a:p>
            <a:pPr lvl="1"/>
            <a:r>
              <a:rPr lang="en-US" sz="2200" dirty="0"/>
              <a:t>Built-in cross-validation allows for more straightforward model tuning and assessment</a:t>
            </a:r>
            <a:r>
              <a:rPr lang="en-US" sz="2200" dirty="0" smtClean="0"/>
              <a:t>.</a:t>
            </a:r>
            <a:endParaRPr lang="en-US" sz="2000" dirty="0"/>
          </a:p>
        </p:txBody>
      </p:sp>
    </p:spTree>
    <p:extLst>
      <p:ext uri="{BB962C8B-B14F-4D97-AF65-F5344CB8AC3E}">
        <p14:creationId xmlns:p14="http://schemas.microsoft.com/office/powerpoint/2010/main" val="163518032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err="1" smtClean="0"/>
              <a:t>HyperParameters</a:t>
            </a:r>
            <a:r>
              <a:rPr lang="en-US" sz="3600" b="1" dirty="0" smtClean="0"/>
              <a:t> </a:t>
            </a:r>
            <a:r>
              <a:rPr lang="en-US" sz="3600" b="1" dirty="0"/>
              <a:t>in </a:t>
            </a:r>
            <a:r>
              <a:rPr lang="en-US" sz="3600" b="1" dirty="0" err="1"/>
              <a:t>XGBoost</a:t>
            </a:r>
            <a:r>
              <a:rPr lang="en-US" sz="3600" b="1" dirty="0"/>
              <a:t/>
            </a:r>
            <a:br>
              <a:rPr lang="en-US" sz="3600" b="1" dirty="0"/>
            </a:br>
            <a:endParaRPr lang="en-US" sz="3600" dirty="0"/>
          </a:p>
        </p:txBody>
      </p:sp>
      <p:sp>
        <p:nvSpPr>
          <p:cNvPr id="3" name="Content Placeholder 2"/>
          <p:cNvSpPr>
            <a:spLocks noGrp="1"/>
          </p:cNvSpPr>
          <p:nvPr>
            <p:ph idx="1"/>
          </p:nvPr>
        </p:nvSpPr>
        <p:spPr>
          <a:xfrm>
            <a:off x="323528" y="1556792"/>
            <a:ext cx="8640960" cy="5184576"/>
          </a:xfrm>
        </p:spPr>
        <p:txBody>
          <a:bodyPr>
            <a:normAutofit/>
          </a:bodyPr>
          <a:lstStyle/>
          <a:p>
            <a:r>
              <a:rPr lang="en-US" sz="2000" dirty="0"/>
              <a:t>Here are some of the critical </a:t>
            </a:r>
            <a:r>
              <a:rPr lang="en-US" sz="2000" dirty="0" err="1"/>
              <a:t>hyperparameters</a:t>
            </a:r>
            <a:r>
              <a:rPr lang="en-US" sz="2000" dirty="0"/>
              <a:t> in </a:t>
            </a:r>
            <a:r>
              <a:rPr lang="en-US" sz="2000" dirty="0" err="1"/>
              <a:t>XGBoost</a:t>
            </a:r>
            <a:r>
              <a:rPr lang="en-US" sz="2000" dirty="0"/>
              <a:t> and their typical values:</a:t>
            </a:r>
          </a:p>
          <a:p>
            <a:pPr lvl="1"/>
            <a:r>
              <a:rPr lang="en-US" sz="2000" b="1" dirty="0" err="1" smtClean="0"/>
              <a:t>n_estimator</a:t>
            </a:r>
            <a:r>
              <a:rPr lang="en-US" sz="2000" b="1" dirty="0" smtClean="0"/>
              <a:t>:</a:t>
            </a:r>
            <a:r>
              <a:rPr lang="en-US" sz="2000" dirty="0" smtClean="0"/>
              <a:t> No of decision tree </a:t>
            </a:r>
          </a:p>
          <a:p>
            <a:pPr lvl="1"/>
            <a:r>
              <a:rPr lang="en-US" sz="2000" b="1" dirty="0" smtClean="0"/>
              <a:t>eta</a:t>
            </a:r>
            <a:r>
              <a:rPr lang="en-US" sz="2000" dirty="0" smtClean="0"/>
              <a:t> </a:t>
            </a:r>
            <a:r>
              <a:rPr lang="en-US" sz="2000" dirty="0"/>
              <a:t>(learning rate): [0.01, 0.1]</a:t>
            </a:r>
          </a:p>
          <a:p>
            <a:pPr lvl="1"/>
            <a:r>
              <a:rPr lang="en-US" sz="2000" b="1" dirty="0" err="1"/>
              <a:t>max_depth</a:t>
            </a:r>
            <a:r>
              <a:rPr lang="en-US" sz="2000" b="1" dirty="0"/>
              <a:t>:</a:t>
            </a:r>
            <a:r>
              <a:rPr lang="en-US" sz="2000" dirty="0"/>
              <a:t> Maximum depth of the tree. Typical values range from 3 to 10.</a:t>
            </a:r>
          </a:p>
          <a:p>
            <a:pPr marL="0" indent="0">
              <a:buNone/>
            </a:pPr>
            <a:r>
              <a:rPr lang="en-US" dirty="0"/>
              <a:t/>
            </a:r>
            <a:br>
              <a:rPr lang="en-US" dirty="0"/>
            </a:br>
            <a:endParaRPr lang="en-US" dirty="0"/>
          </a:p>
        </p:txBody>
      </p:sp>
      <p:pic>
        <p:nvPicPr>
          <p:cNvPr id="522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7" y="4365104"/>
            <a:ext cx="8352928" cy="1526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1144123"/>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sz="4000" b="1" dirty="0" smtClean="0"/>
              <a:t>Keep in Mind:</a:t>
            </a:r>
            <a:endParaRPr lang="en-US" sz="4000" b="1" dirty="0"/>
          </a:p>
        </p:txBody>
      </p:sp>
      <p:sp>
        <p:nvSpPr>
          <p:cNvPr id="3" name="Content Placeholder 2"/>
          <p:cNvSpPr>
            <a:spLocks noGrp="1"/>
          </p:cNvSpPr>
          <p:nvPr>
            <p:ph idx="1"/>
          </p:nvPr>
        </p:nvSpPr>
        <p:spPr>
          <a:xfrm>
            <a:off x="457200" y="1935480"/>
            <a:ext cx="8435280" cy="4389120"/>
          </a:xfrm>
        </p:spPr>
        <p:txBody>
          <a:bodyPr/>
          <a:lstStyle/>
          <a:p>
            <a:r>
              <a:rPr lang="en-US" dirty="0" smtClean="0"/>
              <a:t>From Industry point of view three models are sufficient:</a:t>
            </a:r>
          </a:p>
          <a:p>
            <a:pPr lvl="1"/>
            <a:r>
              <a:rPr lang="en-US" b="1" dirty="0" smtClean="0"/>
              <a:t>Random Forest( high variance)</a:t>
            </a:r>
          </a:p>
          <a:p>
            <a:pPr lvl="1"/>
            <a:r>
              <a:rPr lang="en-US" b="1" dirty="0" smtClean="0"/>
              <a:t>Gradient Boosting(high bias)</a:t>
            </a:r>
          </a:p>
          <a:p>
            <a:pPr lvl="1"/>
            <a:r>
              <a:rPr lang="en-US" b="1" dirty="0"/>
              <a:t> </a:t>
            </a:r>
            <a:r>
              <a:rPr lang="en-US" b="1" dirty="0" smtClean="0"/>
              <a:t>XG Boosting(high bias)</a:t>
            </a:r>
            <a:endParaRPr lang="en-US" b="1" dirty="0"/>
          </a:p>
        </p:txBody>
      </p:sp>
    </p:spTree>
    <p:extLst>
      <p:ext uri="{BB962C8B-B14F-4D97-AF65-F5344CB8AC3E}">
        <p14:creationId xmlns:p14="http://schemas.microsoft.com/office/powerpoint/2010/main" val="205204879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5870</TotalTime>
  <Words>2450</Words>
  <Application>Microsoft Office PowerPoint</Application>
  <PresentationFormat>On-screen Show (4:3)</PresentationFormat>
  <Paragraphs>443</Paragraphs>
  <Slides>72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72</vt:i4>
      </vt:variant>
    </vt:vector>
  </HeadingPairs>
  <TitlesOfParts>
    <vt:vector size="79" baseType="lpstr">
      <vt:lpstr>Arial</vt:lpstr>
      <vt:lpstr>Calibri</vt:lpstr>
      <vt:lpstr>Cambria Math</vt:lpstr>
      <vt:lpstr>Constantia</vt:lpstr>
      <vt:lpstr>Wingdings</vt:lpstr>
      <vt:lpstr>Wingdings 2</vt:lpstr>
      <vt:lpstr>Flow</vt:lpstr>
      <vt:lpstr>Boosting</vt:lpstr>
      <vt:lpstr>Boosting(HBLV)</vt:lpstr>
      <vt:lpstr>PowerPoint Presentation</vt:lpstr>
      <vt:lpstr>Basic Idea:</vt:lpstr>
      <vt:lpstr>Classification of Boosting</vt:lpstr>
      <vt:lpstr>AdaBoost (Adaptive Boosting):</vt:lpstr>
      <vt:lpstr>PowerPoint Presentation</vt:lpstr>
      <vt:lpstr>PowerPoint Presentation</vt:lpstr>
      <vt:lpstr>PowerPoint Presentation</vt:lpstr>
      <vt:lpstr>  Things to kept in mind:</vt:lpstr>
      <vt:lpstr>PowerPoint Presentation</vt:lpstr>
      <vt:lpstr>Algorithm Steps:</vt:lpstr>
      <vt:lpstr>PowerPoint Presentation</vt:lpstr>
      <vt:lpstr>Stage wise Additive method</vt:lpstr>
      <vt:lpstr>ADA boost with numerical example</vt:lpstr>
      <vt:lpstr>PowerPoint Presentation</vt:lpstr>
      <vt:lpstr>PowerPoint Presentation</vt:lpstr>
      <vt:lpstr>Step 3: Calculate alpha: </vt:lpstr>
      <vt:lpstr>Step4: </vt:lpstr>
      <vt:lpstr>Step 5:</vt:lpstr>
      <vt:lpstr>PowerPoint Presentation</vt:lpstr>
      <vt:lpstr>Step 7:Normalize the weight: </vt:lpstr>
      <vt:lpstr>PowerPoint Presentation</vt:lpstr>
      <vt:lpstr>PowerPoint Presentation</vt:lpstr>
      <vt:lpstr>PowerPoint Presentation</vt:lpstr>
      <vt:lpstr>Final Model</vt:lpstr>
      <vt:lpstr>PowerPoint Presentation</vt:lpstr>
      <vt:lpstr>Why Boosting reduces Bias</vt:lpstr>
      <vt:lpstr>Difference between Bagging and Boosting</vt:lpstr>
      <vt:lpstr>Gradient Boosting:</vt:lpstr>
      <vt:lpstr>PowerPoint Presentation</vt:lpstr>
      <vt:lpstr>Interpretation of F1(x)</vt:lpstr>
      <vt:lpstr>PowerPoint Presentation</vt:lpstr>
      <vt:lpstr>Algorithm behind Gradient boosting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Final Model </vt:lpstr>
      <vt:lpstr>Example: Predicting House Prices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GB differs from Adaboost</vt:lpstr>
      <vt:lpstr>PowerPoint Presentation</vt:lpstr>
      <vt:lpstr>Gradient Boosting with Different Loss Functions </vt:lpstr>
      <vt:lpstr>Hyper parameters in gradient boosting</vt:lpstr>
      <vt:lpstr>PowerPoint Presentation</vt:lpstr>
      <vt:lpstr>PowerPoint Presentation</vt:lpstr>
      <vt:lpstr>PowerPoint Presentation</vt:lpstr>
      <vt:lpstr>PowerPoint Presentation</vt:lpstr>
      <vt:lpstr>PowerPoint Presentation</vt:lpstr>
      <vt:lpstr>Extreme Gradient Boosting  (XGBoost)</vt:lpstr>
      <vt:lpstr>Key Features of XGBoost</vt:lpstr>
      <vt:lpstr>HyperParameters in XGBoost </vt:lpstr>
      <vt:lpstr># Keep in Mind: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PANKAJ</dc:creator>
  <cp:lastModifiedBy>Microsoft account</cp:lastModifiedBy>
  <cp:revision>117</cp:revision>
  <dcterms:created xsi:type="dcterms:W3CDTF">2024-05-27T05:47:09Z</dcterms:created>
  <dcterms:modified xsi:type="dcterms:W3CDTF">2026-03-21T18:07:28Z</dcterms:modified>
</cp:coreProperties>
</file>