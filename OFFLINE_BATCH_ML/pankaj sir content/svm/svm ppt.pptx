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2"/>
  </p:notesMasterIdLst>
  <p:sldIdLst>
    <p:sldId id="256" r:id="rId2"/>
    <p:sldId id="442" r:id="rId3"/>
    <p:sldId id="548" r:id="rId4"/>
    <p:sldId id="549" r:id="rId5"/>
    <p:sldId id="550" r:id="rId6"/>
    <p:sldId id="551" r:id="rId7"/>
    <p:sldId id="505" r:id="rId8"/>
    <p:sldId id="443" r:id="rId9"/>
    <p:sldId id="434" r:id="rId10"/>
    <p:sldId id="516" r:id="rId11"/>
    <p:sldId id="514" r:id="rId12"/>
    <p:sldId id="517" r:id="rId13"/>
    <p:sldId id="518" r:id="rId14"/>
    <p:sldId id="506" r:id="rId15"/>
    <p:sldId id="448" r:id="rId16"/>
    <p:sldId id="547" r:id="rId17"/>
    <p:sldId id="449" r:id="rId18"/>
    <p:sldId id="450" r:id="rId19"/>
    <p:sldId id="451" r:id="rId20"/>
    <p:sldId id="452" r:id="rId21"/>
    <p:sldId id="453" r:id="rId22"/>
    <p:sldId id="455" r:id="rId23"/>
    <p:sldId id="456" r:id="rId24"/>
    <p:sldId id="438" r:id="rId25"/>
    <p:sldId id="483" r:id="rId26"/>
    <p:sldId id="484" r:id="rId27"/>
    <p:sldId id="519" r:id="rId28"/>
    <p:sldId id="520" r:id="rId29"/>
    <p:sldId id="521" r:id="rId30"/>
    <p:sldId id="522" r:id="rId31"/>
    <p:sldId id="509" r:id="rId32"/>
    <p:sldId id="513" r:id="rId33"/>
    <p:sldId id="512" r:id="rId34"/>
    <p:sldId id="523" r:id="rId35"/>
    <p:sldId id="524" r:id="rId36"/>
    <p:sldId id="525" r:id="rId37"/>
    <p:sldId id="526" r:id="rId38"/>
    <p:sldId id="527" r:id="rId39"/>
    <p:sldId id="511" r:id="rId40"/>
    <p:sldId id="510" r:id="rId41"/>
    <p:sldId id="485" r:id="rId42"/>
    <p:sldId id="424" r:id="rId43"/>
    <p:sldId id="492" r:id="rId44"/>
    <p:sldId id="528" r:id="rId45"/>
    <p:sldId id="529" r:id="rId46"/>
    <p:sldId id="487" r:id="rId47"/>
    <p:sldId id="488" r:id="rId48"/>
    <p:sldId id="489" r:id="rId49"/>
    <p:sldId id="496" r:id="rId50"/>
    <p:sldId id="497" r:id="rId51"/>
    <p:sldId id="501" r:id="rId52"/>
    <p:sldId id="502" r:id="rId53"/>
    <p:sldId id="498" r:id="rId54"/>
    <p:sldId id="499" r:id="rId55"/>
    <p:sldId id="494" r:id="rId56"/>
    <p:sldId id="342" r:id="rId57"/>
    <p:sldId id="343" r:id="rId58"/>
    <p:sldId id="344" r:id="rId59"/>
    <p:sldId id="359" r:id="rId60"/>
    <p:sldId id="360" r:id="rId61"/>
    <p:sldId id="361" r:id="rId62"/>
    <p:sldId id="480" r:id="rId63"/>
    <p:sldId id="543" r:id="rId64"/>
    <p:sldId id="544" r:id="rId65"/>
    <p:sldId id="481" r:id="rId66"/>
    <p:sldId id="482" r:id="rId67"/>
    <p:sldId id="369" r:id="rId68"/>
    <p:sldId id="545" r:id="rId69"/>
    <p:sldId id="542" r:id="rId70"/>
    <p:sldId id="362" r:id="rId71"/>
    <p:sldId id="530" r:id="rId72"/>
    <p:sldId id="531" r:id="rId73"/>
    <p:sldId id="540" r:id="rId74"/>
    <p:sldId id="541" r:id="rId75"/>
    <p:sldId id="475" r:id="rId76"/>
    <p:sldId id="533" r:id="rId77"/>
    <p:sldId id="538" r:id="rId78"/>
    <p:sldId id="539" r:id="rId79"/>
    <p:sldId id="476" r:id="rId80"/>
    <p:sldId id="534" r:id="rId81"/>
    <p:sldId id="535" r:id="rId82"/>
    <p:sldId id="536" r:id="rId83"/>
    <p:sldId id="537" r:id="rId84"/>
    <p:sldId id="473" r:id="rId85"/>
    <p:sldId id="269" r:id="rId86"/>
    <p:sldId id="463" r:id="rId87"/>
    <p:sldId id="464" r:id="rId88"/>
    <p:sldId id="465" r:id="rId89"/>
    <p:sldId id="466" r:id="rId90"/>
    <p:sldId id="467" r:id="rId91"/>
    <p:sldId id="468" r:id="rId92"/>
    <p:sldId id="469" r:id="rId93"/>
    <p:sldId id="470" r:id="rId94"/>
    <p:sldId id="471" r:id="rId95"/>
    <p:sldId id="409" r:id="rId96"/>
    <p:sldId id="412" r:id="rId97"/>
    <p:sldId id="546" r:id="rId98"/>
    <p:sldId id="429" r:id="rId99"/>
    <p:sldId id="430" r:id="rId100"/>
    <p:sldId id="431" r:id="rId10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3272C-F37F-4992-AADC-FF8813070FE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E8072-3DB0-48B6-B76E-E213C31E0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28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51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4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04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51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2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34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4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29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1344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18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8667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56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53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0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69AFF-84C0-4953-84E5-8418ECA72EC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6D29064-E512-4193-BAFB-B209605C0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8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6903" y="908720"/>
            <a:ext cx="5826719" cy="1646302"/>
          </a:xfrm>
        </p:spPr>
        <p:txBody>
          <a:bodyPr/>
          <a:lstStyle/>
          <a:p>
            <a:r>
              <a:rPr lang="en-US" b="1" dirty="0" smtClean="0"/>
              <a:t>Support Vector Machine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656" y="2780928"/>
            <a:ext cx="5826719" cy="1096899"/>
          </a:xfrm>
        </p:spPr>
        <p:txBody>
          <a:bodyPr/>
          <a:lstStyle/>
          <a:p>
            <a:r>
              <a:rPr lang="en-US" dirty="0"/>
              <a:t>Understanding Support Vector Machines</a:t>
            </a:r>
          </a:p>
          <a:p>
            <a:r>
              <a:rPr lang="en-US" dirty="0"/>
              <a:t>From Intuition to Mathematical Formulation</a:t>
            </a:r>
          </a:p>
        </p:txBody>
      </p:sp>
    </p:spTree>
    <p:extLst>
      <p:ext uri="{BB962C8B-B14F-4D97-AF65-F5344CB8AC3E}">
        <p14:creationId xmlns:p14="http://schemas.microsoft.com/office/powerpoint/2010/main" val="83215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08912" cy="129614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1990s while neural networks were struggling due to computational limits,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became a very powerful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alternative.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can handle both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regression and classification problems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linear and nonlinear data.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However it is most preferred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nonlinear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problems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24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982205"/>
              </p:ext>
            </p:extLst>
          </p:nvPr>
        </p:nvGraphicFramePr>
        <p:xfrm>
          <a:off x="467544" y="692696"/>
          <a:ext cx="6408712" cy="3888434"/>
        </p:xfrm>
        <a:graphic>
          <a:graphicData uri="http://schemas.openxmlformats.org/drawingml/2006/table">
            <a:tbl>
              <a:tblPr/>
              <a:tblGrid>
                <a:gridCol w="3204356"/>
                <a:gridCol w="3204356"/>
              </a:tblGrid>
              <a:tr h="518458">
                <a:tc>
                  <a:txBody>
                    <a:bodyPr/>
                    <a:lstStyle/>
                    <a:p>
                      <a:r>
                        <a:rPr lang="en-US" sz="1800" b="1" dirty="0"/>
                        <a:t>Problem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Why Nonlinear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7301">
                <a:tc>
                  <a:txBody>
                    <a:bodyPr/>
                    <a:lstStyle/>
                    <a:p>
                      <a:r>
                        <a:rPr lang="en-US" sz="1800" dirty="0"/>
                        <a:t>Fraud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irregular transaction patterns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458">
                <a:tc>
                  <a:txBody>
                    <a:bodyPr/>
                    <a:lstStyle/>
                    <a:p>
                      <a:r>
                        <a:rPr lang="en-US" sz="1800" dirty="0"/>
                        <a:t>Image recognition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complex pixel 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7301">
                <a:tc>
                  <a:txBody>
                    <a:bodyPr/>
                    <a:lstStyle/>
                    <a:p>
                      <a:r>
                        <a:rPr lang="en-US" sz="1800" dirty="0"/>
                        <a:t>Medical diagnosis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nonlinear feature interactions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458">
                <a:tc>
                  <a:txBody>
                    <a:bodyPr/>
                    <a:lstStyle/>
                    <a:p>
                      <a:r>
                        <a:rPr lang="en-US" sz="1800"/>
                        <a:t>Handwritten digits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shape variations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458">
                <a:tc>
                  <a:txBody>
                    <a:bodyPr/>
                    <a:lstStyle/>
                    <a:p>
                      <a:r>
                        <a:rPr lang="en-US" sz="1800"/>
                        <a:t>Network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irregular traffic patterns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3327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971" y="260648"/>
            <a:ext cx="7274769" cy="1320800"/>
          </a:xfrm>
        </p:spPr>
        <p:txBody>
          <a:bodyPr/>
          <a:lstStyle/>
          <a:p>
            <a:pPr algn="ctr"/>
            <a:r>
              <a:rPr lang="en-US" b="1" dirty="0"/>
              <a:t>Age vs Income → classify loan approval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670442"/>
            <a:ext cx="6347714" cy="278057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young low income → reject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young high income → approve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middle age moderate income → approve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very old moderate income →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reject</a:t>
            </a:r>
          </a:p>
          <a:p>
            <a:r>
              <a:rPr lang="en-US" dirty="0"/>
              <a:t>The boundary becomes </a:t>
            </a:r>
            <a:r>
              <a:rPr lang="en-US" b="1" dirty="0"/>
              <a:t>curved</a:t>
            </a:r>
            <a:r>
              <a:rPr lang="en-US" dirty="0"/>
              <a:t>, not straight.</a:t>
            </a:r>
          </a:p>
          <a:p>
            <a:r>
              <a:rPr lang="en-US" dirty="0"/>
              <a:t>SVM handles this naturally.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5576" y="4869160"/>
            <a:ext cx="21602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Approve| </a:t>
            </a:r>
            <a:r>
              <a:rPr lang="en-US" dirty="0"/>
              <a:t>Reject</a:t>
            </a:r>
          </a:p>
          <a:p>
            <a:r>
              <a:rPr lang="en-US" dirty="0" smtClean="0"/>
              <a:t>----------|--------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499993" y="4554449"/>
            <a:ext cx="24573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_______</a:t>
            </a:r>
            <a:endParaRPr lang="en-US" dirty="0"/>
          </a:p>
          <a:p>
            <a:r>
              <a:rPr lang="en-US" dirty="0"/>
              <a:t>   /    </a:t>
            </a:r>
            <a:r>
              <a:rPr lang="en-US" dirty="0" smtClean="0"/>
              <a:t>       </a:t>
            </a:r>
            <a:r>
              <a:rPr lang="en-US" dirty="0"/>
              <a:t>\</a:t>
            </a:r>
          </a:p>
          <a:p>
            <a:r>
              <a:rPr lang="en-US" dirty="0"/>
              <a:t>  / Approve \</a:t>
            </a:r>
          </a:p>
          <a:p>
            <a:r>
              <a:rPr lang="en-US" dirty="0"/>
              <a:t> /          </a:t>
            </a:r>
            <a:r>
              <a:rPr lang="en-US" dirty="0" smtClean="0"/>
              <a:t>      \</a:t>
            </a:r>
          </a:p>
          <a:p>
            <a:r>
              <a:rPr lang="en-US" dirty="0" smtClean="0"/>
              <a:t>Reject       </a:t>
            </a:r>
            <a:r>
              <a:rPr lang="en-US" dirty="0" smtClean="0"/>
              <a:t>Reject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499993" y="5515491"/>
            <a:ext cx="17685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64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354" y="404664"/>
            <a:ext cx="6347713" cy="1320800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Tumor classification (benign vs malignant)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64" y="1930400"/>
            <a:ext cx="7155087" cy="3880773"/>
          </a:xfrm>
        </p:spPr>
        <p:txBody>
          <a:bodyPr/>
          <a:lstStyle/>
          <a:p>
            <a:r>
              <a:rPr lang="en-US" dirty="0"/>
              <a:t>Tumor radius</a:t>
            </a:r>
          </a:p>
          <a:p>
            <a:r>
              <a:rPr lang="en-US" dirty="0"/>
              <a:t>Texture</a:t>
            </a:r>
          </a:p>
          <a:p>
            <a:r>
              <a:rPr lang="en-US" dirty="0"/>
              <a:t>Smoothness</a:t>
            </a:r>
          </a:p>
          <a:p>
            <a:r>
              <a:rPr lang="en-US" dirty="0"/>
              <a:t>Area</a:t>
            </a:r>
          </a:p>
          <a:p>
            <a:r>
              <a:rPr lang="en-US" dirty="0" smtClean="0"/>
              <a:t>Compactness</a:t>
            </a:r>
          </a:p>
          <a:p>
            <a:r>
              <a:rPr lang="en-US" dirty="0"/>
              <a:t>small tumors → benign</a:t>
            </a:r>
          </a:p>
          <a:p>
            <a:r>
              <a:rPr lang="en-US" dirty="0"/>
              <a:t>very large tumors → malignant</a:t>
            </a:r>
          </a:p>
          <a:p>
            <a:r>
              <a:rPr lang="en-US" dirty="0"/>
              <a:t>medium tumors with irregular texture → </a:t>
            </a:r>
            <a:r>
              <a:rPr lang="en-US" dirty="0" smtClean="0"/>
              <a:t>malignant</a:t>
            </a:r>
          </a:p>
          <a:p>
            <a:r>
              <a:rPr lang="en-US" dirty="0"/>
              <a:t>Boundary becomes </a:t>
            </a:r>
            <a:r>
              <a:rPr lang="en-US" b="1" dirty="0"/>
              <a:t>nonlinear in feature space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933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616" y="163325"/>
            <a:ext cx="6347713" cy="1320800"/>
          </a:xfrm>
        </p:spPr>
        <p:txBody>
          <a:bodyPr/>
          <a:lstStyle/>
          <a:p>
            <a:r>
              <a:rPr lang="en-US" b="1" dirty="0"/>
              <a:t>What Nonlinear Means Here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18245" y="1221814"/>
            <a:ext cx="760254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Nonlinear means the decision boundary is not: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straight line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Instead it may be: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Circle, parabola, complex curve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23528" y="2723728"/>
            <a:ext cx="6407696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 problems where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ese patterns appear are: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Credit card fraud detection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Medical diagnosis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Handwriting recognition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Speech recognition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 classification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That’s why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SVM kernels became very popular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049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96" y="86876"/>
            <a:ext cx="2741662" cy="50405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is SVM?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280" y="810638"/>
            <a:ext cx="7654080" cy="2978402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Support Vector Machine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or SVM, is a supervised learning algorithm used for classification and regression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tasks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SVM (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LinearSVC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→ for linearly separable data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Kernel SVM (SVC) → for nonlinear data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Its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primary goal is to find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optimal hyperplane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that best separates data points belonging to different classes.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429000"/>
            <a:ext cx="6264696" cy="324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34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764704"/>
            <a:ext cx="7200800" cy="1320800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So if we are about to study for SVM. We need to understand, </a:t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 plane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vector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What is  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15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2865512" cy="57606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Hyperplane: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096" y="908720"/>
            <a:ext cx="7351240" cy="40324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hyperplane is a decision boundary that separates data points into different classes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 2D space, it’s a line; in a 3D space, it’s a plane; and in higher dimensions, it’s a hyperplane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hyperplane is equidistant from the closest data points of both classes.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closest points are called support vectors.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51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4664"/>
            <a:ext cx="6740876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5536" y="3429000"/>
            <a:ext cx="7646786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Solid line in the above plot represents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hyperplane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an SVM classifier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line not only separates the two classes but also stays as far away from the closest training instances as possible. 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6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7632848" cy="367240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sz="3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think of an SVM </a:t>
            </a:r>
            <a:r>
              <a:rPr lang="en-US" sz="3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classifier as fitting </a:t>
            </a:r>
            <a:r>
              <a:rPr lang="en-US" sz="3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widest </a:t>
            </a:r>
            <a:r>
              <a:rPr lang="en-US" sz="3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possible street (represented by the parallel dashed lines) between the classes. This is called large margin classification</a:t>
            </a:r>
            <a:r>
              <a:rPr lang="en-US" sz="3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US" sz="3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adding more training instances “off the street” will not affect the decision boundary at all.</a:t>
            </a:r>
          </a:p>
          <a:p>
            <a:endParaRPr lang="en-US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5799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6347713" cy="792088"/>
          </a:xfrm>
        </p:spPr>
        <p:txBody>
          <a:bodyPr/>
          <a:lstStyle/>
          <a:p>
            <a:r>
              <a:rPr lang="en-US" b="1" dirty="0"/>
              <a:t>Support Vectors: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8761"/>
            <a:ext cx="7776864" cy="2664296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Support vectors are the data points closest to the hyperplane.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points determine the position and orientation of the hyperplane.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264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16632"/>
            <a:ext cx="6347713" cy="1320800"/>
          </a:xfrm>
        </p:spPr>
        <p:txBody>
          <a:bodyPr>
            <a:normAutofit/>
          </a:bodyPr>
          <a:lstStyle/>
          <a:p>
            <a:r>
              <a:rPr lang="en-US" b="1" dirty="0"/>
              <a:t>Margin:</a:t>
            </a:r>
          </a:p>
        </p:txBody>
      </p:sp>
      <p:sp>
        <p:nvSpPr>
          <p:cNvPr id="5" name="Rectangle 4"/>
          <p:cNvSpPr/>
          <p:nvPr/>
        </p:nvSpPr>
        <p:spPr>
          <a:xfrm>
            <a:off x="-18223" y="908720"/>
            <a:ext cx="840664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margin is the distance between the hyperplane and the nearest data points from each class.</a:t>
            </a:r>
          </a:p>
          <a:p>
            <a:pPr marL="263525" lvl="1" indent="1936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/>
              <a:t>Large </a:t>
            </a:r>
            <a:r>
              <a:rPr lang="en-US" sz="2400" b="1" dirty="0"/>
              <a:t>Margin:</a:t>
            </a:r>
            <a:r>
              <a:rPr lang="en-US" sz="2400" dirty="0"/>
              <a:t> Preferred as it implies better generalization. It is a good margin.</a:t>
            </a:r>
          </a:p>
          <a:p>
            <a:pPr marL="263525" lvl="1" indent="1936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Small margin </a:t>
            </a:r>
            <a:r>
              <a:rPr lang="en-US" sz="2400" dirty="0" smtClean="0"/>
              <a:t>may </a:t>
            </a:r>
            <a:r>
              <a:rPr lang="en-US" sz="2400" dirty="0"/>
              <a:t>lead to poor generalization.</a:t>
            </a:r>
          </a:p>
          <a:p>
            <a:pPr marL="263525" lvl="1" indent="1936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Therefore, a larger margin is </a:t>
            </a:r>
            <a:r>
              <a:rPr lang="en-US" sz="2400" dirty="0" err="1"/>
              <a:t>preferred.</a:t>
            </a:r>
            <a:r>
              <a:rPr lang="en-US" sz="2400" b="1" dirty="0" err="1" smtClean="0"/>
              <a:t>Hard</a:t>
            </a:r>
            <a:r>
              <a:rPr lang="en-US" sz="2400" b="1" dirty="0" smtClean="0"/>
              <a:t> </a:t>
            </a:r>
            <a:r>
              <a:rPr lang="en-US" sz="2400" b="1" dirty="0"/>
              <a:t>Margin:</a:t>
            </a:r>
            <a:r>
              <a:rPr lang="en-US" sz="2400" dirty="0"/>
              <a:t> Primal solution with linearly separable data.</a:t>
            </a:r>
          </a:p>
          <a:p>
            <a:pPr marL="263525" lvl="1" indent="1936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Soft Margin:</a:t>
            </a:r>
            <a:r>
              <a:rPr lang="en-US" sz="2400" dirty="0"/>
              <a:t> </a:t>
            </a:r>
            <a:r>
              <a:rPr lang="en-US" sz="2400" dirty="0" smtClean="0"/>
              <a:t>for </a:t>
            </a:r>
            <a:r>
              <a:rPr lang="en-US" sz="2400" dirty="0"/>
              <a:t>non linearly separable data, allowing some misclassification.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3936699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04664"/>
            <a:ext cx="7164288" cy="30243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two classes can be separated by a straight line (or hyperplane), the data is linearly separable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 to logistic regression, many lines or planes can separate the classes.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However, SVM selects the hyperplane that maximizes the margin.</a:t>
            </a:r>
            <a:endParaRPr lang="en-US" sz="24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plane that separate positive and negative point as wide as possible is the best line.</a:t>
            </a:r>
          </a:p>
        </p:txBody>
      </p:sp>
    </p:spTree>
    <p:extLst>
      <p:ext uri="{BB962C8B-B14F-4D97-AF65-F5344CB8AC3E}">
        <p14:creationId xmlns:p14="http://schemas.microsoft.com/office/powerpoint/2010/main" val="2552729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9860" y="116632"/>
            <a:ext cx="723049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Many lines can separate the two </a:t>
            </a:r>
            <a:r>
              <a:rPr lang="en-US" dirty="0" smtClean="0"/>
              <a:t>classes. But </a:t>
            </a:r>
            <a:r>
              <a:rPr lang="en-US" dirty="0"/>
              <a:t>not all of them generalize well to new data</a:t>
            </a:r>
            <a:r>
              <a:rPr lang="en-US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If many lines can separate the classes, SVM chooses the line that leaves the </a:t>
            </a:r>
            <a:r>
              <a:rPr lang="en-US" b="1" dirty="0"/>
              <a:t>largest safety gap</a:t>
            </a:r>
            <a:r>
              <a:rPr lang="en-US" dirty="0"/>
              <a:t> between the classes.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25" y="2636912"/>
            <a:ext cx="7056559" cy="292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0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628800"/>
            <a:ext cx="7092280" cy="279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72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7056784" cy="1320800"/>
          </a:xfrm>
        </p:spPr>
        <p:txBody>
          <a:bodyPr/>
          <a:lstStyle/>
          <a:p>
            <a:r>
              <a:rPr lang="en-US" b="1" dirty="0" smtClean="0"/>
              <a:t>Now tell me which one is the best hyperplane here?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132856"/>
            <a:ext cx="5544616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4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about this? 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43" y="2060848"/>
            <a:ext cx="5616624" cy="377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7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099" y="44624"/>
            <a:ext cx="6347713" cy="1320800"/>
          </a:xfrm>
        </p:spPr>
        <p:txBody>
          <a:bodyPr/>
          <a:lstStyle/>
          <a:p>
            <a:r>
              <a:rPr lang="en-US" b="1" dirty="0" smtClean="0"/>
              <a:t>Convex Hull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69576" y="836712"/>
            <a:ext cx="8822904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convex hull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the smallest convex polygon that contains all the points of that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class.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If data is linearly separable: The two convex hulls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do not intersect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Find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shortest line segment connecting the two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hulls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segment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connects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boundary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points. Those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boundary points are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support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vectors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ake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that shortest line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segment, Draw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plane that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bisects it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perpendicularly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plane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is: Maximum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Margin 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Hyperplane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4298057"/>
            <a:ext cx="5486048" cy="255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22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26407"/>
            <a:ext cx="7920880" cy="826329"/>
          </a:xfrm>
        </p:spPr>
        <p:txBody>
          <a:bodyPr/>
          <a:lstStyle/>
          <a:p>
            <a:r>
              <a:rPr lang="en-US" b="1" dirty="0"/>
              <a:t>What is </a:t>
            </a:r>
            <a:r>
              <a:rPr lang="en-US" b="1" dirty="0" smtClean="0"/>
              <a:t>margin width(λ) ?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52736"/>
            <a:ext cx="6336704" cy="583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23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640960" cy="1320800"/>
          </a:xfrm>
        </p:spPr>
        <p:txBody>
          <a:bodyPr/>
          <a:lstStyle/>
          <a:p>
            <a:r>
              <a:rPr lang="en-US" b="1" dirty="0"/>
              <a:t>SVM actually defines three parallel planes.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37432"/>
            <a:ext cx="5112568" cy="528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1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Which one is better?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951503" cy="365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0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But the challenge starts here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1" y="1988840"/>
            <a:ext cx="3384376" cy="20630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1648702"/>
            <a:ext cx="2880320" cy="24031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291" y="4437112"/>
            <a:ext cx="2952328" cy="223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2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4437112"/>
            <a:ext cx="4248472" cy="2162477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6119" y="278764"/>
            <a:ext cx="6347713" cy="699164"/>
          </a:xfrm>
        </p:spPr>
        <p:txBody>
          <a:bodyPr/>
          <a:lstStyle/>
          <a:p>
            <a:r>
              <a:rPr lang="en-US" b="1" dirty="0"/>
              <a:t>Hinge </a:t>
            </a:r>
            <a:r>
              <a:rPr lang="en-US" b="1" dirty="0" smtClean="0"/>
              <a:t>Loss: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0986" y="977928"/>
            <a:ext cx="7691374" cy="345918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It is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loss function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used in Support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Vector Machines (SVMs) for binary classification tasks. It helps in maximizing the margin between classes, ensuring robust separation of data points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Hinge loss penalizes points inside the margin or misclassified, but ignores those safely outside.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L(t)=max(0,1−t)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3068960"/>
            <a:ext cx="3384376" cy="122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5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6347713" cy="1320800"/>
          </a:xfrm>
        </p:spPr>
        <p:txBody>
          <a:bodyPr/>
          <a:lstStyle/>
          <a:p>
            <a:r>
              <a:rPr lang="en-US" b="1" dirty="0"/>
              <a:t>What </a:t>
            </a:r>
            <a:r>
              <a:rPr lang="en-US" b="1" dirty="0" smtClean="0"/>
              <a:t>is t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7704856" cy="554461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 =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⋅f(x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called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margin value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measures how correct the prediction is, not what the class is.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Where 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true class label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For SVM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y ∈ {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−1,+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1}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f(x)=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w.x+b--&gt;.It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model 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not the class.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Predicted class is: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^ = sign(f(x)) 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So: If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f(x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&gt; 0 →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1, 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f(x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&lt; 0 →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−1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054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145699"/>
              </p:ext>
            </p:extLst>
          </p:nvPr>
        </p:nvGraphicFramePr>
        <p:xfrm>
          <a:off x="587958" y="2420888"/>
          <a:ext cx="6936370" cy="3026942"/>
        </p:xfrm>
        <a:graphic>
          <a:graphicData uri="http://schemas.openxmlformats.org/drawingml/2006/table">
            <a:tbl>
              <a:tblPr/>
              <a:tblGrid>
                <a:gridCol w="1422114"/>
                <a:gridCol w="2201888"/>
                <a:gridCol w="3312368"/>
              </a:tblGrid>
              <a:tr h="558062">
                <a:tc>
                  <a:txBody>
                    <a:bodyPr/>
                    <a:lstStyle/>
                    <a:p>
                      <a:r>
                        <a:rPr lang="en-US" sz="2400" b="1" dirty="0"/>
                        <a:t>Value of 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Loss</a:t>
                      </a:r>
                      <a:endParaRPr 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062">
                <a:tc>
                  <a:txBody>
                    <a:bodyPr/>
                    <a:lstStyle/>
                    <a:p>
                      <a:r>
                        <a:rPr lang="en-US" sz="2400" dirty="0"/>
                        <a:t>( t &gt; 1 )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Correct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0  and outside margin</a:t>
                      </a:r>
                    </a:p>
                    <a:p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062">
                <a:tc>
                  <a:txBody>
                    <a:bodyPr/>
                    <a:lstStyle/>
                    <a:p>
                      <a:r>
                        <a:rPr lang="en-US" sz="2400" dirty="0"/>
                        <a:t>( 0 &lt; t &lt; 1 )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Correct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&gt;0 but inside margin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062">
                <a:tc>
                  <a:txBody>
                    <a:bodyPr/>
                    <a:lstStyle/>
                    <a:p>
                      <a:r>
                        <a:rPr lang="en-US" sz="2400" dirty="0"/>
                        <a:t>( t &lt; 0 )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Misclassified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large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404664"/>
            <a:ext cx="75243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 hinge loss depends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on: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yf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(x)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which measures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how correct the prediction 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5530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780934"/>
              </p:ext>
            </p:extLst>
          </p:nvPr>
        </p:nvGraphicFramePr>
        <p:xfrm>
          <a:off x="467544" y="260648"/>
          <a:ext cx="6348414" cy="2880321"/>
        </p:xfrm>
        <a:graphic>
          <a:graphicData uri="http://schemas.openxmlformats.org/drawingml/2006/table">
            <a:tbl>
              <a:tblPr/>
              <a:tblGrid>
                <a:gridCol w="2116138"/>
                <a:gridCol w="2116138"/>
                <a:gridCol w="2116138"/>
              </a:tblGrid>
              <a:tr h="960107">
                <a:tc>
                  <a:txBody>
                    <a:bodyPr/>
                    <a:lstStyle/>
                    <a:p>
                      <a:r>
                        <a:rPr lang="en-US" sz="2400" b="1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Loss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14">
                <a:tc>
                  <a:txBody>
                    <a:bodyPr/>
                    <a:lstStyle/>
                    <a:p>
                      <a:r>
                        <a:rPr lang="en-US" sz="1800" dirty="0"/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Squared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Minimize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50">
                <a:tc>
                  <a:txBody>
                    <a:bodyPr/>
                    <a:lstStyle/>
                    <a:p>
                      <a:r>
                        <a:rPr lang="en-US" sz="1800" dirty="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Maximize likelihood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50">
                <a:tc>
                  <a:txBody>
                    <a:bodyPr/>
                    <a:lstStyle/>
                    <a:p>
                      <a:r>
                        <a:rPr lang="en-US" sz="1800"/>
                        <a:t>Support Vector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Hinge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Maximize margin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67544" y="3356992"/>
            <a:ext cx="712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Linear </a:t>
            </a:r>
            <a:r>
              <a:rPr lang="en-US" b="1" dirty="0" smtClean="0"/>
              <a:t>Regression</a:t>
            </a:r>
            <a:r>
              <a:rPr lang="en-US" dirty="0" smtClean="0"/>
              <a:t>: Loss </a:t>
            </a:r>
            <a:r>
              <a:rPr lang="en-US" dirty="0"/>
              <a:t>= (y − ŷ)² + Regularization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0620" y="3968641"/>
            <a:ext cx="71977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Logistic </a:t>
            </a:r>
            <a:r>
              <a:rPr lang="en-US" b="1" dirty="0" smtClean="0"/>
              <a:t>Regression</a:t>
            </a:r>
            <a:r>
              <a:rPr lang="en-US" dirty="0" smtClean="0"/>
              <a:t>: Loss </a:t>
            </a:r>
            <a:r>
              <a:rPr lang="en-US" dirty="0"/>
              <a:t>= log(1 + e^(−y f(x))) + Regularization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7544" y="4580290"/>
            <a:ext cx="69847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SVM:</a:t>
            </a:r>
            <a:r>
              <a:rPr lang="en-US" dirty="0" smtClean="0"/>
              <a:t>  Loss </a:t>
            </a:r>
            <a:r>
              <a:rPr lang="en-US" dirty="0"/>
              <a:t>= max(0 , 1 − y f(x)) +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3334442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11" y="332656"/>
            <a:ext cx="4879937" cy="504056"/>
          </a:xfrm>
        </p:spPr>
        <p:txBody>
          <a:bodyPr>
            <a:noAutofit/>
          </a:bodyPr>
          <a:lstStyle/>
          <a:p>
            <a:r>
              <a:rPr lang="en-US" b="1" dirty="0"/>
              <a:t>How SVM </a:t>
            </a:r>
            <a:r>
              <a:rPr lang="en-US" b="1" dirty="0" smtClean="0"/>
              <a:t>Works?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412776"/>
            <a:ext cx="7704856" cy="2304256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Finding the Hyperplane: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Maximizes the margin between different classes.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Uses support vectors to determine the decision boundary.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Decision Boundary: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Separates positive and negative classes as widely as possible.</a:t>
            </a:r>
          </a:p>
        </p:txBody>
      </p:sp>
    </p:spTree>
    <p:extLst>
      <p:ext uri="{BB962C8B-B14F-4D97-AF65-F5344CB8AC3E}">
        <p14:creationId xmlns:p14="http://schemas.microsoft.com/office/powerpoint/2010/main" val="15659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43608" y="1196752"/>
            <a:ext cx="5474569" cy="875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b="1" dirty="0" smtClean="0"/>
              <a:t>Linearly </a:t>
            </a:r>
            <a:r>
              <a:rPr lang="en-US" b="1" dirty="0"/>
              <a:t>separable data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924944"/>
            <a:ext cx="3112590" cy="89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763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7504" y="6979"/>
            <a:ext cx="7400784" cy="2240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In case of </a:t>
            </a:r>
            <a:r>
              <a:rPr lang="en-US" sz="2400" b="1" dirty="0" smtClean="0"/>
              <a:t>linearly separable data </a:t>
            </a:r>
            <a:r>
              <a:rPr lang="en-US" sz="2400" dirty="0" smtClean="0"/>
              <a:t>we can draw thousands of line between two classes and looking for a line which at equidistant from two classes which is called hyperplane.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492896"/>
            <a:ext cx="5400600" cy="424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7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3789040"/>
            <a:ext cx="5400600" cy="27592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504" y="332656"/>
            <a:ext cx="770485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If data is not linearly separable in the original feature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space,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use kernel methods to make it linearly separable in a higher-dimensional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space.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Kernel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lifts data so straight line works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83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3284984"/>
            <a:ext cx="7560840" cy="3456384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plot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shows the decision boundaries of three possible linear classifiers.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decision boundary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dashed line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can not separate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classes properly. 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other two models work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perfectly,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but their decision boundaries come so close to the instances that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makes them difficult to perform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well on new instances.</a:t>
            </a:r>
          </a:p>
          <a:p>
            <a:pPr algn="just"/>
            <a:endParaRPr lang="en-US" sz="2000" dirty="0" smtClean="0"/>
          </a:p>
          <a:p>
            <a:pPr algn="just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76672"/>
            <a:ext cx="5688632" cy="2462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116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2d to 3d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628800"/>
            <a:ext cx="5808645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91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7128792" cy="1320800"/>
          </a:xfrm>
        </p:spPr>
        <p:txBody>
          <a:bodyPr/>
          <a:lstStyle/>
          <a:p>
            <a:r>
              <a:rPr lang="en-US" b="1" dirty="0"/>
              <a:t>Step 1: Original 2D Data (Not Linearly Separable)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12191"/>
              </p:ext>
            </p:extLst>
          </p:nvPr>
        </p:nvGraphicFramePr>
        <p:xfrm>
          <a:off x="662638" y="1628800"/>
          <a:ext cx="6162540" cy="2664294"/>
        </p:xfrm>
        <a:graphic>
          <a:graphicData uri="http://schemas.openxmlformats.org/drawingml/2006/table">
            <a:tbl>
              <a:tblPr/>
              <a:tblGrid>
                <a:gridCol w="1540635"/>
                <a:gridCol w="1540635"/>
                <a:gridCol w="1540635"/>
                <a:gridCol w="1540635"/>
              </a:tblGrid>
              <a:tr h="444049">
                <a:tc>
                  <a:txBody>
                    <a:bodyPr/>
                    <a:lstStyle/>
                    <a:p>
                      <a:r>
                        <a:rPr lang="en-US" dirty="0"/>
                        <a:t>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x₁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x₂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049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+1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049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049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049">
                <a:tc>
                  <a:txBody>
                    <a:bodyPr/>
                    <a:lstStyle/>
                    <a:p>
                      <a:r>
                        <a:rPr lang="en-US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049">
                <a:tc>
                  <a:txBody>
                    <a:bodyPr/>
                    <a:lstStyle/>
                    <a:p>
                      <a:r>
                        <a:rPr lang="en-US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62638" y="5229200"/>
            <a:ext cx="65016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 straight line can separate center from all outer points.</a:t>
            </a:r>
          </a:p>
        </p:txBody>
      </p:sp>
    </p:spTree>
    <p:extLst>
      <p:ext uri="{BB962C8B-B14F-4D97-AF65-F5344CB8AC3E}">
        <p14:creationId xmlns:p14="http://schemas.microsoft.com/office/powerpoint/2010/main" val="1033385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352928" cy="1320800"/>
          </a:xfrm>
        </p:spPr>
        <p:txBody>
          <a:bodyPr/>
          <a:lstStyle/>
          <a:p>
            <a:r>
              <a:rPr lang="en-US" b="1" dirty="0"/>
              <a:t>Step </a:t>
            </a:r>
            <a:r>
              <a:rPr lang="en-US" b="1" dirty="0" smtClean="0"/>
              <a:t>2:Define Feature Transformation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600020"/>
            <a:ext cx="6325624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3011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7346777" cy="1320800"/>
          </a:xfrm>
        </p:spPr>
        <p:txBody>
          <a:bodyPr/>
          <a:lstStyle/>
          <a:p>
            <a:r>
              <a:rPr lang="en-US" b="1" dirty="0"/>
              <a:t>Step 3: Apply Transformation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24744"/>
            <a:ext cx="4344006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92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8640"/>
            <a:ext cx="7200799" cy="1320800"/>
          </a:xfrm>
        </p:spPr>
        <p:txBody>
          <a:bodyPr/>
          <a:lstStyle/>
          <a:p>
            <a:r>
              <a:rPr lang="en-US" b="1" dirty="0"/>
              <a:t>Step 4: Look at New Coordinates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08720"/>
            <a:ext cx="5472608" cy="569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474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412776"/>
            <a:ext cx="6347713" cy="1320800"/>
          </a:xfrm>
        </p:spPr>
        <p:txBody>
          <a:bodyPr/>
          <a:lstStyle/>
          <a:p>
            <a:r>
              <a:rPr lang="en-US" b="1" dirty="0"/>
              <a:t>So nonlinear in 2D becomes </a:t>
            </a:r>
            <a:r>
              <a:rPr lang="en-US" b="1" dirty="0" smtClean="0"/>
              <a:t>linear </a:t>
            </a:r>
            <a:r>
              <a:rPr lang="en-US" b="1" dirty="0"/>
              <a:t>in </a:t>
            </a:r>
            <a:r>
              <a:rPr lang="en-US" b="1" dirty="0" smtClean="0"/>
              <a:t>3D.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79512" y="3933056"/>
            <a:ext cx="76328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Feature mapping lifts data into higher dimension where a simple linear separator becomes possible.</a:t>
            </a:r>
          </a:p>
        </p:txBody>
      </p:sp>
    </p:spTree>
    <p:extLst>
      <p:ext uri="{BB962C8B-B14F-4D97-AF65-F5344CB8AC3E}">
        <p14:creationId xmlns:p14="http://schemas.microsoft.com/office/powerpoint/2010/main" val="25015495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347713" cy="648072"/>
          </a:xfrm>
        </p:spPr>
        <p:txBody>
          <a:bodyPr/>
          <a:lstStyle/>
          <a:p>
            <a:r>
              <a:rPr lang="en-US" b="1" dirty="0" smtClean="0"/>
              <a:t>Kernel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7416824" cy="55446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SVM, we always try to find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linear hyperplane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that separates classes.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But sometimes data is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not linearly separable in the original feature space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Then SVM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uses a technique called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Kernel Trick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kernel function: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Takes low-dimensional input space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Implicitly maps it to a higher-dimensional space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Makes non-separable data linearly separable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Then SVM finds a linear hyperplane in that higher space.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87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2736"/>
            <a:ext cx="5925377" cy="55954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073" y="0"/>
            <a:ext cx="6347713" cy="908720"/>
          </a:xfrm>
        </p:spPr>
        <p:txBody>
          <a:bodyPr/>
          <a:lstStyle/>
          <a:p>
            <a:r>
              <a:rPr lang="en-US" b="1" dirty="0" smtClean="0"/>
              <a:t>Common kernel Tricks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6290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3566" y="1908142"/>
            <a:ext cx="6347713" cy="1016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Kernel = Polynomial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4941168"/>
            <a:ext cx="4341389" cy="6315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5279" y="532412"/>
            <a:ext cx="71642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But 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case of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non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linearly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separable data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is not simple to draw hyperplane and polynomial kernel come into picture.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3509" y="3213103"/>
            <a:ext cx="74278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Polynomial kernel creates polynomial decision boundary, means where we are increasing the magnitude of each point polynomially.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547933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6632"/>
            <a:ext cx="6381397" cy="278092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717032"/>
            <a:ext cx="7255521" cy="195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7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692696"/>
            <a:ext cx="6840760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3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Polynomial kernel expands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59" y="1772816"/>
            <a:ext cx="6967991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2070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450068"/>
              </p:ext>
            </p:extLst>
          </p:nvPr>
        </p:nvGraphicFramePr>
        <p:xfrm>
          <a:off x="323528" y="692696"/>
          <a:ext cx="6768753" cy="4898896"/>
        </p:xfrm>
        <a:graphic>
          <a:graphicData uri="http://schemas.openxmlformats.org/drawingml/2006/table">
            <a:tbl>
              <a:tblPr/>
              <a:tblGrid>
                <a:gridCol w="1612790"/>
                <a:gridCol w="2899712"/>
                <a:gridCol w="2256251"/>
              </a:tblGrid>
              <a:tr h="847886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472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Polynomial degree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Controls boundary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1562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Bias term (coef0)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Controls influence of lower-order terms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4724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Controls overfitting vs margin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52992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9552" y="332656"/>
            <a:ext cx="6347713" cy="1320800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Kernel = RBF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Radial Basis Function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251" y="1646917"/>
            <a:ext cx="6059681" cy="9610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8830" y="2607995"/>
            <a:ext cx="816758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measures similarity between two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points.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‖x − y‖² = squared Euclidean </a:t>
            </a:r>
            <a:r>
              <a:rPr lang="en-US" sz="2400" dirty="0" smtClean="0"/>
              <a:t>distance between </a:t>
            </a:r>
            <a:r>
              <a:rPr lang="en-US" sz="2400" dirty="0"/>
              <a:t>x and </a:t>
            </a:r>
            <a:r>
              <a:rPr lang="en-US" sz="2400" dirty="0" smtClean="0"/>
              <a:t>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two points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are: Very close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→ distance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small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Far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apart → distance large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Then: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If </a:t>
            </a:r>
            <a:r>
              <a:rPr lang="en-US" sz="2400" dirty="0"/>
              <a:t>distance </a:t>
            </a:r>
            <a:r>
              <a:rPr lang="en-US" sz="2400" dirty="0" smtClean="0"/>
              <a:t>small: K(x, y</a:t>
            </a:r>
            <a:r>
              <a:rPr lang="en-US" sz="2400" dirty="0"/>
              <a:t>)≈</a:t>
            </a:r>
            <a:r>
              <a:rPr lang="en-US" sz="2400" dirty="0" smtClean="0"/>
              <a:t>1 </a:t>
            </a:r>
            <a:r>
              <a:rPr lang="en-US" sz="2400" dirty="0" smtClean="0">
                <a:sym typeface="Wingdings" panose="05000000000000000000" pitchFamily="2" charset="2"/>
              </a:rPr>
              <a:t>  Very similar </a:t>
            </a:r>
            <a:endParaRPr lang="en-US" sz="24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If </a:t>
            </a:r>
            <a:r>
              <a:rPr lang="en-US" sz="2400" dirty="0"/>
              <a:t>distance </a:t>
            </a:r>
            <a:r>
              <a:rPr lang="en-US" sz="2400" dirty="0" smtClean="0"/>
              <a:t>large: K(</a:t>
            </a:r>
            <a:r>
              <a:rPr lang="en-US" sz="2400" dirty="0" err="1" smtClean="0"/>
              <a:t>x,y</a:t>
            </a:r>
            <a:r>
              <a:rPr lang="en-US" sz="2400" dirty="0"/>
              <a:t>)≈</a:t>
            </a:r>
            <a:r>
              <a:rPr lang="en-US" sz="2400" dirty="0" smtClean="0"/>
              <a:t>0 </a:t>
            </a:r>
            <a:r>
              <a:rPr lang="en-US" sz="2400" dirty="0" smtClean="0">
                <a:sym typeface="Wingdings" panose="05000000000000000000" pitchFamily="2" charset="2"/>
              </a:rPr>
              <a:t>  very different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4980776"/>
            <a:ext cx="2593536" cy="38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63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332656"/>
            <a:ext cx="7704856" cy="3880773"/>
          </a:xfrm>
        </p:spPr>
        <p:txBody>
          <a:bodyPr/>
          <a:lstStyle/>
          <a:p>
            <a:r>
              <a:rPr lang="en-US" sz="2400" b="1" dirty="0"/>
              <a:t>Why “Radial”?</a:t>
            </a:r>
          </a:p>
          <a:p>
            <a:r>
              <a:rPr lang="en-US" sz="2400" dirty="0"/>
              <a:t>Because similarity depends only on distance.</a:t>
            </a:r>
          </a:p>
          <a:p>
            <a:r>
              <a:rPr lang="en-US" sz="2400" dirty="0"/>
              <a:t>It forms circular (radial) influence around each point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Instead of drawing straight line</a:t>
            </a:r>
            <a:r>
              <a:rPr lang="en-US" sz="2400" dirty="0" smtClean="0"/>
              <a:t>: RBF </a:t>
            </a:r>
            <a:r>
              <a:rPr lang="en-US" sz="2400" dirty="0"/>
              <a:t>allows curved boundary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What Is </a:t>
            </a:r>
            <a:r>
              <a:rPr lang="el-GR" sz="2400" dirty="0"/>
              <a:t>γ (</a:t>
            </a:r>
            <a:r>
              <a:rPr lang="en-US" sz="2400" dirty="0"/>
              <a:t>Gamma</a:t>
            </a:r>
            <a:r>
              <a:rPr lang="en-US" sz="2400" dirty="0" smtClean="0"/>
              <a:t>)?</a:t>
            </a:r>
          </a:p>
          <a:p>
            <a:r>
              <a:rPr lang="en-US" sz="2400" dirty="0"/>
              <a:t>Controls how far influence of a point spreads.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4077072"/>
            <a:ext cx="5688632" cy="224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370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548680"/>
            <a:ext cx="6768752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972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0"/>
            <a:ext cx="4968552" cy="64807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Example: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360" y="581444"/>
            <a:ext cx="7313959" cy="438912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let’s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take the one-dimensional dataset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,add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two landmarks to it at x1 = –2 and x1 = 1 (see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plot). </a:t>
            </a:r>
          </a:p>
          <a:p>
            <a:pPr algn="just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let’s define the similarity function to be the Gaussian Radial Basis Function (RBF) with γ = 0.3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429000"/>
            <a:ext cx="6256993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187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4" y="764704"/>
            <a:ext cx="7160474" cy="438912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a bell-shaped function varying from 0 (very far away from the landmark) to 1 (at the landmark).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compute the new features. For example, let’s look at the instance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x1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–1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located at a distance of 1 from the first landmark, and 2 from the second landmark.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Therefore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its new features are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x₂ =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(−0.3 × 1²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≈ 0.74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x₃ =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(−0.3 × 2²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≈ 0.30. </a:t>
            </a: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03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6832"/>
            <a:ext cx="6731949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3528" y="332656"/>
            <a:ext cx="7920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plot shows the trans formed dataset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dropping the original features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Now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linearly separable.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4845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0688"/>
            <a:ext cx="6840760" cy="5445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03315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184"/>
            <a:ext cx="6948264" cy="3179792"/>
          </a:xfrm>
        </p:spPr>
        <p:txBody>
          <a:bodyPr>
            <a:noAutofit/>
          </a:bodyPr>
          <a:lstStyle/>
          <a:p>
            <a:pPr marL="355600" lvl="1" indent="-355600" algn="just"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plots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show models trained with different values of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hyper parameters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gamma (γ) and C.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lvl="1" indent="-355600"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plots show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that increasing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gamma makes the bell-shape curve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narrower,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as a result each instance’s range of influence is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smaller.</a:t>
            </a:r>
          </a:p>
          <a:p>
            <a:pPr marL="355600" lvl="1" indent="-355600" algn="just"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Conversely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 small gamma value makes the bell-shaped curve wider, so instances have a larger range of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influence.</a:t>
            </a:r>
          </a:p>
          <a:p>
            <a:pPr marL="355600" lvl="1" indent="-355600" algn="just"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So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γ acts like a regularization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hyperparameter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if your model is overfitting, you should reduce it, and if it is under fitting, you should increase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74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88640"/>
            <a:ext cx="7992888" cy="64087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balance is crucial because it determines whether the SVM will fit the training data too closely (overfitting) or be too general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High gamma: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Model is sensitive to training data, potentially overfitting.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Low gamma: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Model is smoother and more generalized, potentially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 dirty="0"/>
          </a:p>
          <a:p>
            <a:pPr marL="0" lvl="1" indent="0">
              <a:buClr>
                <a:schemeClr val="accent3"/>
              </a:buClr>
              <a:buSzPct val="95000"/>
              <a:buNone/>
            </a:pP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55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Kernel = Sigmoid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930400"/>
            <a:ext cx="3258005" cy="5906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2955883"/>
            <a:ext cx="2880320" cy="25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306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88640"/>
            <a:ext cx="8229600" cy="708688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Hard </a:t>
            </a:r>
            <a:r>
              <a:rPr lang="en-US" sz="3600" b="1" dirty="0"/>
              <a:t>Margin </a:t>
            </a:r>
            <a:r>
              <a:rPr lang="en-US" sz="3600" b="1" dirty="0" smtClean="0"/>
              <a:t>limitation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" y="1124744"/>
            <a:ext cx="7305203" cy="3096344"/>
          </a:xfrm>
        </p:spPr>
        <p:txBody>
          <a:bodyPr>
            <a:normAutofit/>
          </a:bodyPr>
          <a:lstStyle/>
          <a:p>
            <a:r>
              <a:rPr lang="en-US" sz="2000" dirty="0"/>
              <a:t>If we strictly impose that all instances be </a:t>
            </a:r>
            <a:r>
              <a:rPr lang="en-US" sz="2000" dirty="0" smtClean="0"/>
              <a:t>‘off </a:t>
            </a:r>
            <a:r>
              <a:rPr lang="en-US" sz="2000" dirty="0"/>
              <a:t>the </a:t>
            </a:r>
            <a:r>
              <a:rPr lang="en-US" sz="2000" dirty="0" smtClean="0"/>
              <a:t>street’ </a:t>
            </a:r>
            <a:r>
              <a:rPr lang="en-US" sz="2000" dirty="0"/>
              <a:t>and on the right side, this is called </a:t>
            </a:r>
            <a:r>
              <a:rPr lang="en-US" sz="2000" b="1" dirty="0"/>
              <a:t>hard margin </a:t>
            </a:r>
            <a:r>
              <a:rPr lang="en-US" sz="2000" dirty="0"/>
              <a:t>classification. </a:t>
            </a:r>
            <a:endParaRPr lang="en-US" sz="2000" dirty="0" smtClean="0"/>
          </a:p>
          <a:p>
            <a:r>
              <a:rPr lang="en-US" sz="2000" dirty="0"/>
              <a:t>There are two main issues with hard margin </a:t>
            </a:r>
            <a:r>
              <a:rPr lang="en-US" sz="2000" dirty="0" smtClean="0"/>
              <a:t>classification</a:t>
            </a:r>
            <a:r>
              <a:rPr lang="en-US" sz="2000" dirty="0"/>
              <a:t>. </a:t>
            </a:r>
            <a:endParaRPr lang="en-US" sz="2000" dirty="0" smtClean="0"/>
          </a:p>
          <a:p>
            <a:pPr lvl="1"/>
            <a:r>
              <a:rPr lang="en-US" sz="2000" dirty="0" smtClean="0"/>
              <a:t>First</a:t>
            </a:r>
            <a:r>
              <a:rPr lang="en-US" sz="2000" dirty="0"/>
              <a:t>, it only works if the data is linearly separable, </a:t>
            </a:r>
            <a:r>
              <a:rPr lang="en-US" sz="2000" dirty="0" smtClean="0"/>
              <a:t>and</a:t>
            </a:r>
          </a:p>
          <a:p>
            <a:pPr lvl="1"/>
            <a:r>
              <a:rPr lang="en-US" sz="2000" dirty="0" smtClean="0"/>
              <a:t>Second </a:t>
            </a:r>
            <a:r>
              <a:rPr lang="en-US" sz="2000" dirty="0"/>
              <a:t>it is quite </a:t>
            </a:r>
            <a:r>
              <a:rPr lang="en-US" sz="2000" dirty="0" smtClean="0"/>
              <a:t>sensitive </a:t>
            </a:r>
            <a:r>
              <a:rPr lang="en-US" sz="2000" dirty="0"/>
              <a:t>to outliers. </a:t>
            </a:r>
            <a:endParaRPr lang="en-US" sz="2000" dirty="0" smtClean="0"/>
          </a:p>
          <a:p>
            <a:pPr lvl="1"/>
            <a:r>
              <a:rPr lang="en-US" sz="2000" dirty="0" smtClean="0"/>
              <a:t>Just </a:t>
            </a:r>
            <a:r>
              <a:rPr lang="en-US" sz="2000" dirty="0"/>
              <a:t>one additional outlier</a:t>
            </a:r>
            <a:r>
              <a:rPr lang="en-US" sz="2000" dirty="0" smtClean="0"/>
              <a:t>: </a:t>
            </a:r>
            <a:r>
              <a:rPr lang="en-US" sz="2000" dirty="0"/>
              <a:t>it is impossible to find a hard </a:t>
            </a:r>
            <a:r>
              <a:rPr lang="en-US" sz="2000" dirty="0" smtClean="0"/>
              <a:t>margin.</a:t>
            </a:r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221088"/>
            <a:ext cx="4392488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802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11" y="188640"/>
            <a:ext cx="7488832" cy="94584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While 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decision boundary ends up very different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without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780" y="3796067"/>
            <a:ext cx="4464496" cy="2455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556792"/>
            <a:ext cx="4320480" cy="1816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3751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88640"/>
            <a:ext cx="7056784" cy="563190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avoid these issues it is preferable to use a more flexible model.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objective is to find a good balance between keeping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street as large as possible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limiting the margin violations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(i.e., instances that end up in the middle of the street or even on the wrong side).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called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soft margin classification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balance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can be controlled using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hyper parameter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60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04664"/>
            <a:ext cx="6912768" cy="864096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Hard margin linear SVM classifier objective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132856"/>
            <a:ext cx="7200800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411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260" y="158332"/>
            <a:ext cx="7452320" cy="996720"/>
          </a:xfrm>
        </p:spPr>
        <p:txBody>
          <a:bodyPr>
            <a:noAutofit/>
          </a:bodyPr>
          <a:lstStyle/>
          <a:p>
            <a:r>
              <a:rPr lang="en-US" b="1" dirty="0"/>
              <a:t>Soft margin linear SVM </a:t>
            </a:r>
            <a:r>
              <a:rPr lang="en-US" b="1" dirty="0" smtClean="0"/>
              <a:t>classifier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7451129" cy="50822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To get the soft margin objective, we need to introduce a slack variable ζ(</a:t>
            </a:r>
            <a:r>
              <a:rPr lang="en-US" dirty="0" err="1"/>
              <a:t>i</a:t>
            </a:r>
            <a:r>
              <a:rPr lang="en-US" dirty="0"/>
              <a:t>) ≥ 0 for each instance</a:t>
            </a:r>
            <a:r>
              <a:rPr lang="en-US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dirty="0"/>
              <a:t>ζ(</a:t>
            </a:r>
            <a:r>
              <a:rPr lang="en-US" dirty="0" err="1"/>
              <a:t>i</a:t>
            </a:r>
            <a:r>
              <a:rPr lang="en-US" dirty="0"/>
              <a:t>) measures how much the </a:t>
            </a:r>
            <a:r>
              <a:rPr lang="en-US" dirty="0" err="1"/>
              <a:t>ith</a:t>
            </a:r>
            <a:r>
              <a:rPr lang="en-US" dirty="0"/>
              <a:t> instance is allowed to violate the margin.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We </a:t>
            </a:r>
            <a:r>
              <a:rPr lang="en-US" dirty="0"/>
              <a:t>now have two conflicting objectives: 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dirty="0" smtClean="0"/>
              <a:t>making </a:t>
            </a:r>
            <a:r>
              <a:rPr lang="en-US" dirty="0"/>
              <a:t>the slack variables as small as possible to reduce the margin violations, 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dirty="0" smtClean="0"/>
              <a:t>and </a:t>
            </a:r>
            <a:r>
              <a:rPr lang="en-US" dirty="0"/>
              <a:t>making </a:t>
            </a:r>
            <a:r>
              <a:rPr lang="en-US" dirty="0" smtClean="0"/>
              <a:t>            as </a:t>
            </a:r>
            <a:r>
              <a:rPr lang="en-US" dirty="0"/>
              <a:t>small as possible to increase the margin. 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is where the C </a:t>
            </a:r>
            <a:r>
              <a:rPr lang="en-US" dirty="0" smtClean="0"/>
              <a:t>hyper parameter </a:t>
            </a:r>
            <a:r>
              <a:rPr lang="en-US" dirty="0"/>
              <a:t>comes in: </a:t>
            </a:r>
            <a:endParaRPr lang="en-US" dirty="0" smtClean="0"/>
          </a:p>
          <a:p>
            <a:pPr lvl="2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allows us to define the tradeoff between these two objectives.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077072"/>
            <a:ext cx="6953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925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412776"/>
            <a:ext cx="4970197" cy="11521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1520" y="404664"/>
            <a:ext cx="69733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Soft Margin SVM objective function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237970"/>
            <a:ext cx="7189297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14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52736"/>
            <a:ext cx="6912768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604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238" y="548680"/>
            <a:ext cx="8038178" cy="132080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 is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regularization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78238" y="1487886"/>
            <a:ext cx="7102074" cy="380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controls trade-off: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Small C → ignore violations → wider margin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Large C → punish violations → narrower margin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So: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 balances: Margin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size vs Misclassification penalty</a:t>
            </a:r>
          </a:p>
        </p:txBody>
      </p:sp>
    </p:spTree>
    <p:extLst>
      <p:ext uri="{BB962C8B-B14F-4D97-AF65-F5344CB8AC3E}">
        <p14:creationId xmlns:p14="http://schemas.microsoft.com/office/powerpoint/2010/main" val="34821111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559"/>
            <a:ext cx="6372200" cy="3341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495312"/>
            <a:ext cx="6408712" cy="336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28977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Geometric Interpretation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31" y="1556792"/>
            <a:ext cx="5973009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1150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6912768" cy="1320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Soft-margin SVM minimizes model complexity while penalizing classification errors.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852936"/>
            <a:ext cx="3744416" cy="272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766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09" y="0"/>
            <a:ext cx="6347713" cy="1320800"/>
          </a:xfrm>
        </p:spPr>
        <p:txBody>
          <a:bodyPr/>
          <a:lstStyle/>
          <a:p>
            <a:r>
              <a:rPr lang="en-US" b="1" dirty="0"/>
              <a:t>Primal Form of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7488832" cy="2304256"/>
          </a:xfrm>
        </p:spPr>
        <p:txBody>
          <a:bodyPr>
            <a:noAutofit/>
          </a:bodyPr>
          <a:lstStyle/>
          <a:p>
            <a:pPr>
              <a:lnSpc>
                <a:spcPct val="22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Many hyperplanes can separate the positive and negative.</a:t>
            </a:r>
          </a:p>
          <a:p>
            <a:pPr>
              <a:lnSpc>
                <a:spcPct val="22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SVM chooses the hyperplane with the maximum margin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22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Also called decision boundary.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32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04664"/>
            <a:ext cx="7125268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1486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Why Dual Form?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84784"/>
            <a:ext cx="7776864" cy="388077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We introduce the </a:t>
            </a:r>
            <a:r>
              <a:rPr lang="en-US" sz="2400" b="1" dirty="0"/>
              <a:t>dual form</a:t>
            </a:r>
            <a:r>
              <a:rPr lang="en-US" sz="2400" dirty="0"/>
              <a:t> because it allows us to use the </a:t>
            </a:r>
            <a:r>
              <a:rPr lang="en-US" sz="2400" b="1" dirty="0"/>
              <a:t>kernel trick</a:t>
            </a:r>
            <a:r>
              <a:rPr lang="en-US" sz="2400" dirty="0"/>
              <a:t>, which is difficult to apply directly in the primal formulation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In the </a:t>
            </a:r>
            <a:r>
              <a:rPr lang="en-US" sz="2400" b="1" dirty="0"/>
              <a:t>dual formulation</a:t>
            </a:r>
            <a:r>
              <a:rPr lang="en-US" sz="2400" dirty="0"/>
              <a:t>, the optimization depends only on </a:t>
            </a:r>
            <a:r>
              <a:rPr lang="en-US" sz="2400" b="1" dirty="0"/>
              <a:t>dot products between data points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These dot products can be replaced by a </a:t>
            </a:r>
            <a:r>
              <a:rPr lang="en-US" sz="2400" b="1" dirty="0"/>
              <a:t>kernel function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196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88640"/>
            <a:ext cx="7992888" cy="57332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primal SVM works directly with the feature vectors, but the dual SVM depends only on dot products between training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samples.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allows us to replace the dot product with a kernel function and implicitly map data into 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higher dimensional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Dual Form converts constrained problem into α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optimization.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Decision boundary depends only on training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samples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03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87" y="1196752"/>
            <a:ext cx="6696744" cy="43924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95536" y="332656"/>
            <a:ext cx="60051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Dual Optimization Problem</a:t>
            </a:r>
            <a:endParaRPr lang="en-US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4531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04664"/>
            <a:ext cx="6845503" cy="18722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780928"/>
            <a:ext cx="6048672" cy="16219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03" y="4581128"/>
            <a:ext cx="6480720" cy="200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906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9797"/>
            <a:ext cx="7488832" cy="1320800"/>
          </a:xfrm>
        </p:spPr>
        <p:txBody>
          <a:bodyPr/>
          <a:lstStyle/>
          <a:p>
            <a:r>
              <a:rPr lang="en-US" b="1" dirty="0" smtClean="0"/>
              <a:t>The </a:t>
            </a:r>
            <a:r>
              <a:rPr lang="en-US" b="1" dirty="0"/>
              <a:t>Real Prediction Formula?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80728"/>
            <a:ext cx="6964613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804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692696"/>
            <a:ext cx="5720160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743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25" y="476672"/>
            <a:ext cx="9238995" cy="1320800"/>
          </a:xfrm>
        </p:spPr>
        <p:txBody>
          <a:bodyPr/>
          <a:lstStyle/>
          <a:p>
            <a:r>
              <a:rPr lang="en-US" b="1" dirty="0" smtClean="0"/>
              <a:t>Let us assume we have </a:t>
            </a:r>
            <a:r>
              <a:rPr lang="en-US" b="1" dirty="0"/>
              <a:t>100 Observations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797472"/>
            <a:ext cx="6298137" cy="321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626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04664"/>
            <a:ext cx="6950253" cy="28083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910620"/>
            <a:ext cx="6252697" cy="1800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5536" y="5949280"/>
            <a:ext cx="76196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Each </a:t>
            </a:r>
            <a:r>
              <a:rPr lang="en-US" dirty="0" smtClean="0"/>
              <a:t>αi</a:t>
            </a:r>
            <a:r>
              <a:rPr lang="en-US" dirty="0"/>
              <a:t>​ tells </a:t>
            </a:r>
            <a:r>
              <a:rPr lang="en-US" b="1" dirty="0"/>
              <a:t>how important that training point is in defining the decision boundary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7185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8640"/>
            <a:ext cx="6957312" cy="1320800"/>
          </a:xfrm>
        </p:spPr>
        <p:txBody>
          <a:bodyPr/>
          <a:lstStyle/>
          <a:p>
            <a:r>
              <a:rPr lang="en-US" b="1" dirty="0"/>
              <a:t>What Does α Represent Here?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96752"/>
            <a:ext cx="5678042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126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075" y="188640"/>
            <a:ext cx="7202761" cy="936104"/>
          </a:xfrm>
        </p:spPr>
        <p:txBody>
          <a:bodyPr/>
          <a:lstStyle/>
          <a:p>
            <a:r>
              <a:rPr lang="en-US" b="1" dirty="0"/>
              <a:t>Example With 100 Observations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5112568" cy="449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615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32656"/>
            <a:ext cx="3281508" cy="50405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770" y="1052736"/>
            <a:ext cx="7704856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Because the dual objective considers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pairwise interactions between training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samples. The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term                              </a:t>
            </a:r>
            <a:r>
              <a:rPr lang="en-US" sz="2400" dirty="0" smtClean="0"/>
              <a:t>means:                       </a:t>
            </a:r>
            <a:r>
              <a:rPr lang="en-US" sz="2400" b="1" dirty="0" smtClean="0"/>
              <a:t>interaction </a:t>
            </a:r>
            <a:r>
              <a:rPr lang="en-US" sz="2400" b="1" dirty="0"/>
              <a:t>between sample </a:t>
            </a:r>
            <a:r>
              <a:rPr lang="en-US" sz="2400" b="1" dirty="0" smtClean="0"/>
              <a:t>i </a:t>
            </a:r>
            <a:r>
              <a:rPr lang="en-US" sz="2400" b="1" dirty="0"/>
              <a:t>and sample </a:t>
            </a:r>
            <a:r>
              <a:rPr lang="en-US" sz="2400" b="1" dirty="0" smtClean="0"/>
              <a:t>j.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So </a:t>
            </a:r>
            <a:r>
              <a:rPr lang="en-US" sz="2400" dirty="0"/>
              <a:t>the algorithm </a:t>
            </a:r>
            <a:r>
              <a:rPr lang="en-US" sz="2400" dirty="0" smtClean="0"/>
              <a:t>checks: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how </a:t>
            </a:r>
            <a:r>
              <a:rPr lang="en-US" sz="2400" dirty="0"/>
              <a:t>similar two points </a:t>
            </a:r>
            <a:r>
              <a:rPr lang="en-US" sz="2400" dirty="0" smtClean="0"/>
              <a:t>are?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how </a:t>
            </a:r>
            <a:r>
              <a:rPr lang="en-US" sz="2400" dirty="0"/>
              <a:t>their classes </a:t>
            </a:r>
            <a:r>
              <a:rPr lang="en-US" sz="2400" dirty="0" smtClean="0"/>
              <a:t>relate?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276872"/>
            <a:ext cx="1855258" cy="55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8643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9512" y="116632"/>
            <a:ext cx="86409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What do i and j mean?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They are </a:t>
            </a:r>
            <a:r>
              <a:rPr lang="en-US" sz="2400" b="1" dirty="0"/>
              <a:t>just indices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Example if dataset has 3 samples</a:t>
            </a:r>
            <a:r>
              <a:rPr lang="en-US" sz="2400" dirty="0" smtClean="0"/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dirty="0" smtClean="0"/>
              <a:t>(</a:t>
            </a:r>
            <a:r>
              <a:rPr lang="es-ES" sz="2400" dirty="0"/>
              <a:t>x1​,y1​),(x2​,y2​),(x3​,y3​</a:t>
            </a:r>
            <a:r>
              <a:rPr lang="es-ES" sz="2400" dirty="0" smtClean="0"/>
              <a:t>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Then the double summation evaluates</a:t>
            </a:r>
            <a:r>
              <a:rPr lang="en-US" sz="2400" dirty="0" smtClean="0"/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(i=1,j=1) (</a:t>
            </a:r>
            <a:r>
              <a:rPr lang="en-US" sz="2400" dirty="0" smtClean="0"/>
              <a:t>i=1,j=2)(i=1,j=3)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(i=2,j=1)(i=2,j=2)(i=2,j=3)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(</a:t>
            </a:r>
            <a:r>
              <a:rPr lang="en-US" sz="2400" dirty="0" smtClean="0"/>
              <a:t>i=3,j=1</a:t>
            </a:r>
            <a:r>
              <a:rPr lang="en-US" sz="2400" dirty="0"/>
              <a:t>)(</a:t>
            </a:r>
            <a:r>
              <a:rPr lang="en-US" sz="2400" dirty="0" smtClean="0"/>
              <a:t>i=3,j=2</a:t>
            </a:r>
            <a:r>
              <a:rPr lang="en-US" sz="2400" dirty="0"/>
              <a:t>)(</a:t>
            </a:r>
            <a:r>
              <a:rPr lang="en-US" sz="2400" dirty="0" smtClean="0"/>
              <a:t>i=3,j=3</a:t>
            </a:r>
            <a:r>
              <a:rPr lang="en-US" sz="2400" dirty="0"/>
              <a:t>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429106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with 3 samples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47" y="1484784"/>
            <a:ext cx="7344816" cy="12241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7610" y="3356992"/>
            <a:ext cx="769475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Dual SVM is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computes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every training sample interacts with every other sample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That’s why we see the double summation: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∑ i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∑ j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58725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88640"/>
            <a:ext cx="6239746" cy="30579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789040"/>
            <a:ext cx="5688632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410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921155"/>
              </p:ext>
            </p:extLst>
          </p:nvPr>
        </p:nvGraphicFramePr>
        <p:xfrm>
          <a:off x="467544" y="620688"/>
          <a:ext cx="6480720" cy="5328592"/>
        </p:xfrm>
        <a:graphic>
          <a:graphicData uri="http://schemas.openxmlformats.org/drawingml/2006/table">
            <a:tbl>
              <a:tblPr/>
              <a:tblGrid>
                <a:gridCol w="1879409"/>
                <a:gridCol w="4601311"/>
              </a:tblGrid>
              <a:tr h="649828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9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(x_1)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vector of sample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91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(y_1)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 label of sample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91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(x_1^T x_1)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similarity of sample with itself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91">
                <a:tc>
                  <a:txBody>
                    <a:bodyPr/>
                    <a:lstStyle/>
                    <a:p>
                      <a:r>
                        <a:rPr lang="el-GR" sz="2400" dirty="0" smtClean="0"/>
                        <a:t>α</a:t>
                      </a:r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_1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 assigned to sample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9221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9" y="40"/>
            <a:ext cx="7383614" cy="836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76" y="1124744"/>
            <a:ext cx="6840760" cy="544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278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347713" cy="803176"/>
          </a:xfrm>
        </p:spPr>
        <p:txBody>
          <a:bodyPr/>
          <a:lstStyle/>
          <a:p>
            <a:r>
              <a:rPr lang="en-US" b="1" dirty="0"/>
              <a:t>Problem: Titanic Survival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999848"/>
            <a:ext cx="6347714" cy="2448271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We use only </a:t>
            </a:r>
            <a:r>
              <a:rPr lang="en-US" sz="2400" b="1" dirty="0"/>
              <a:t>Age</a:t>
            </a:r>
            <a:r>
              <a:rPr lang="en-US" sz="2400" dirty="0"/>
              <a:t> as feature.</a:t>
            </a:r>
          </a:p>
          <a:p>
            <a:r>
              <a:rPr lang="en-US" sz="2400" dirty="0"/>
              <a:t>Label:</a:t>
            </a:r>
          </a:p>
          <a:p>
            <a:r>
              <a:rPr lang="en-US" sz="2400" dirty="0"/>
              <a:t>Survived → +1</a:t>
            </a:r>
          </a:p>
          <a:p>
            <a:r>
              <a:rPr lang="en-US" sz="2400" dirty="0"/>
              <a:t>Not Survived → −</a:t>
            </a:r>
            <a:r>
              <a:rPr lang="en-US" sz="2400" dirty="0" smtClean="0"/>
              <a:t>1</a:t>
            </a:r>
          </a:p>
          <a:p>
            <a:r>
              <a:rPr lang="en-US" sz="2400" dirty="0"/>
              <a:t>Training </a:t>
            </a:r>
            <a:r>
              <a:rPr lang="en-US" sz="2400" dirty="0" smtClean="0"/>
              <a:t>Data: In table each one is training point(xi)</a:t>
            </a: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473303"/>
              </p:ext>
            </p:extLst>
          </p:nvPr>
        </p:nvGraphicFramePr>
        <p:xfrm>
          <a:off x="755576" y="3717032"/>
          <a:ext cx="6336705" cy="2592290"/>
        </p:xfrm>
        <a:graphic>
          <a:graphicData uri="http://schemas.openxmlformats.org/drawingml/2006/table">
            <a:tbl>
              <a:tblPr/>
              <a:tblGrid>
                <a:gridCol w="2112235"/>
                <a:gridCol w="2112235"/>
                <a:gridCol w="2112235"/>
              </a:tblGrid>
              <a:tr h="518458">
                <a:tc>
                  <a:txBody>
                    <a:bodyPr/>
                    <a:lstStyle/>
                    <a:p>
                      <a:r>
                        <a:rPr lang="en-US" sz="1800" dirty="0"/>
                        <a:t>Passenger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Survived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458">
                <a:tc>
                  <a:txBody>
                    <a:bodyPr/>
                    <a:lstStyle/>
                    <a:p>
                      <a:r>
                        <a:rPr lang="en-US" sz="1800" dirty="0"/>
                        <a:t>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+1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458">
                <a:tc>
                  <a:txBody>
                    <a:bodyPr/>
                    <a:lstStyle/>
                    <a:p>
                      <a:r>
                        <a:rPr lang="en-US" sz="1800"/>
                        <a:t>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+1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458">
                <a:tc>
                  <a:txBody>
                    <a:bodyPr/>
                    <a:lstStyle/>
                    <a:p>
                      <a:r>
                        <a:rPr lang="en-US" sz="1800"/>
                        <a:t>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458">
                <a:tc>
                  <a:txBody>
                    <a:bodyPr/>
                    <a:lstStyle/>
                    <a:p>
                      <a:r>
                        <a:rPr lang="en-US" sz="1800"/>
                        <a:t>P4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61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560840" cy="1320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 1: Assume SVM Finds Boundary at Age = 21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340768"/>
            <a:ext cx="6336704" cy="535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4617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6986737" cy="1320800"/>
          </a:xfrm>
        </p:spPr>
        <p:txBody>
          <a:bodyPr/>
          <a:lstStyle/>
          <a:p>
            <a:r>
              <a:rPr lang="en-US" b="1" dirty="0"/>
              <a:t>Step 2: Check Margin Condition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20907"/>
            <a:ext cx="6986737" cy="12312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67" y="2420888"/>
            <a:ext cx="725595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16348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6632"/>
            <a:ext cx="6732901" cy="28803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212976"/>
            <a:ext cx="7056784" cy="293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55019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88640"/>
            <a:ext cx="7141829" cy="2808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9552" y="3284984"/>
            <a:ext cx="7560840" cy="2240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Who Becomes Support Vector?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closest opposite-class points: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Age 18 (+1)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Age 25 (−1)</a:t>
            </a:r>
          </a:p>
        </p:txBody>
      </p:sp>
    </p:spTree>
    <p:extLst>
      <p:ext uri="{BB962C8B-B14F-4D97-AF65-F5344CB8AC3E}">
        <p14:creationId xmlns:p14="http://schemas.microsoft.com/office/powerpoint/2010/main" val="246251708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These define margin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31" y="1628800"/>
            <a:ext cx="6427181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832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6347713" cy="1320800"/>
          </a:xfrm>
        </p:spPr>
        <p:txBody>
          <a:bodyPr/>
          <a:lstStyle/>
          <a:p>
            <a:r>
              <a:rPr lang="en-US" b="1" dirty="0"/>
              <a:t>Step 3: Dual 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3" y="1700808"/>
            <a:ext cx="7252898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4412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6347713" cy="936104"/>
          </a:xfrm>
        </p:spPr>
        <p:txBody>
          <a:bodyPr/>
          <a:lstStyle/>
          <a:p>
            <a:r>
              <a:rPr lang="en-US" b="1" dirty="0"/>
              <a:t>Interpretation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23528" y="1185677"/>
            <a:ext cx="729580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drawing line directly,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 says: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new passenger with important passengers (18 and 25).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more similar to 18 → survived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more similar to 25 → not survived</a:t>
            </a:r>
          </a:p>
        </p:txBody>
      </p:sp>
    </p:spTree>
    <p:extLst>
      <p:ext uri="{BB962C8B-B14F-4D97-AF65-F5344CB8AC3E}">
        <p14:creationId xmlns:p14="http://schemas.microsoft.com/office/powerpoint/2010/main" val="206628478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Important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84784"/>
            <a:ext cx="8208912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α never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Only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borderline passengers get α &gt;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Far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passengers get α =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Misclassification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depends on margin condition, not α sign</a:t>
            </a:r>
          </a:p>
        </p:txBody>
      </p:sp>
    </p:spTree>
    <p:extLst>
      <p:ext uri="{BB962C8B-B14F-4D97-AF65-F5344CB8AC3E}">
        <p14:creationId xmlns:p14="http://schemas.microsoft.com/office/powerpoint/2010/main" val="296267731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260649"/>
            <a:ext cx="7274769" cy="1872208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Support vectors = passengers closest to decision boundary.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They alone define survival rule.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36702"/>
              </p:ext>
            </p:extLst>
          </p:nvPr>
        </p:nvGraphicFramePr>
        <p:xfrm>
          <a:off x="683568" y="2144784"/>
          <a:ext cx="6482680" cy="3324726"/>
        </p:xfrm>
        <a:graphic>
          <a:graphicData uri="http://schemas.openxmlformats.org/drawingml/2006/table">
            <a:tbl>
              <a:tblPr/>
              <a:tblGrid>
                <a:gridCol w="2016224"/>
                <a:gridCol w="4466456"/>
              </a:tblGrid>
              <a:tr h="511496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5119">
                <a:tc>
                  <a:txBody>
                    <a:bodyPr/>
                    <a:lstStyle/>
                    <a:p>
                      <a:r>
                        <a:rPr lang="el-GR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α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ᵢ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support vector, far from boundary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496">
                <a:tc>
                  <a:txBody>
                    <a:bodyPr/>
                    <a:lstStyle/>
                    <a:p>
                      <a:r>
                        <a:rPr lang="el-GR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&lt; α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ᵢ &lt; 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margin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5119">
                <a:tc>
                  <a:txBody>
                    <a:bodyPr/>
                    <a:lstStyle/>
                    <a:p>
                      <a:r>
                        <a:rPr lang="el-GR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α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ᵢ = 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Inside margin or misclassified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496">
                <a:tc>
                  <a:txBody>
                    <a:bodyPr/>
                    <a:lstStyle/>
                    <a:p>
                      <a:r>
                        <a:rPr lang="el-GR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α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ᵢ &lt;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49372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126" y="260648"/>
            <a:ext cx="5374010" cy="72008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SVM and Feature scaling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96752"/>
            <a:ext cx="7128792" cy="194421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000" dirty="0"/>
              <a:t>SVMs are sensitive to the feature scales, as </a:t>
            </a:r>
            <a:r>
              <a:rPr lang="en-US" sz="2000" dirty="0" smtClean="0"/>
              <a:t>in </a:t>
            </a:r>
            <a:r>
              <a:rPr lang="en-US" sz="2000" dirty="0"/>
              <a:t>Figure </a:t>
            </a:r>
            <a:r>
              <a:rPr lang="en-US" sz="2000" dirty="0" smtClean="0"/>
              <a:t>on </a:t>
            </a:r>
            <a:r>
              <a:rPr lang="en-US" sz="2000" dirty="0"/>
              <a:t>the left plot, the vertical scale is much larger than the horizontal scale, so the widest possible street is close to horizontal. </a:t>
            </a:r>
            <a:endParaRPr lang="en-US" sz="2000" dirty="0" smtClean="0"/>
          </a:p>
          <a:p>
            <a:pPr algn="just"/>
            <a:r>
              <a:rPr lang="en-US" sz="2000" dirty="0" smtClean="0"/>
              <a:t>After </a:t>
            </a:r>
            <a:r>
              <a:rPr lang="en-US" sz="2000" dirty="0"/>
              <a:t>feature </a:t>
            </a:r>
            <a:r>
              <a:rPr lang="en-US" sz="2000" dirty="0" smtClean="0"/>
              <a:t>scaling, </a:t>
            </a:r>
            <a:r>
              <a:rPr lang="en-US" sz="2000" dirty="0"/>
              <a:t>the decision boundary looks much better (on the right plot).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422" y="3545632"/>
            <a:ext cx="6670154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193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1520" y="332656"/>
            <a:ext cx="2592288" cy="5760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Applications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1520" y="1268760"/>
            <a:ext cx="7128792" cy="3880773"/>
          </a:xfrm>
        </p:spPr>
        <p:txBody>
          <a:bodyPr>
            <a:normAutofit/>
          </a:bodyPr>
          <a:lstStyle/>
          <a:p>
            <a:r>
              <a:rPr lang="en-US" sz="2000" b="1" dirty="0"/>
              <a:t>Content:</a:t>
            </a:r>
            <a:r>
              <a:rPr lang="en-US" sz="2000" dirty="0"/>
              <a:t> SVM finds applications across various domains:</a:t>
            </a:r>
          </a:p>
          <a:p>
            <a:pPr lvl="1"/>
            <a:r>
              <a:rPr lang="en-US" sz="2000" b="1" dirty="0"/>
              <a:t>Image Classification</a:t>
            </a:r>
            <a:r>
              <a:rPr lang="en-US" sz="2000" dirty="0"/>
              <a:t>: Identifying objects and patterns in images.</a:t>
            </a:r>
          </a:p>
          <a:p>
            <a:pPr lvl="1"/>
            <a:r>
              <a:rPr lang="en-US" sz="2000" b="1" dirty="0"/>
              <a:t>Text Classification</a:t>
            </a:r>
            <a:r>
              <a:rPr lang="en-US" sz="2000" dirty="0"/>
              <a:t>: Categorizing documents based on their content.</a:t>
            </a:r>
          </a:p>
          <a:p>
            <a:pPr lvl="1"/>
            <a:r>
              <a:rPr lang="en-US" sz="2000" b="1" dirty="0"/>
              <a:t>Bioinformatics</a:t>
            </a:r>
            <a:r>
              <a:rPr lang="en-US" sz="2000" dirty="0"/>
              <a:t>: Analyzing genetic data for disease diagnosis.</a:t>
            </a:r>
          </a:p>
          <a:p>
            <a:pPr lvl="1"/>
            <a:r>
              <a:rPr lang="en-US" sz="2000" b="1" dirty="0"/>
              <a:t>Finance</a:t>
            </a:r>
            <a:r>
              <a:rPr lang="en-US" sz="2000" dirty="0"/>
              <a:t>: Predicting stock market trends and fraud detection.</a:t>
            </a:r>
          </a:p>
          <a:p>
            <a:pPr lvl="1"/>
            <a:r>
              <a:rPr lang="en-US" sz="2000" b="1" dirty="0"/>
              <a:t>Medicine</a:t>
            </a:r>
            <a:r>
              <a:rPr lang="en-US" sz="2000" dirty="0"/>
              <a:t>: Diagnosing diseases based on medical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6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84784"/>
            <a:ext cx="6770885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0858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91976"/>
            <a:ext cx="6347713" cy="744736"/>
          </a:xfrm>
        </p:spPr>
        <p:txBody>
          <a:bodyPr/>
          <a:lstStyle/>
          <a:p>
            <a:r>
              <a:rPr lang="en-US" b="1" dirty="0"/>
              <a:t>Key Points for SVM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520" y="1052736"/>
            <a:ext cx="7488832" cy="5113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Outlier Handling: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625"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outliers are present, handle them appropriately as they can significantly affect the SVM model's performance.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Overfitting and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Under fitting: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625" lvl="1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Overfitting: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C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625" lvl="1"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Under fitting: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Increase C </a:t>
            </a:r>
          </a:p>
          <a:p>
            <a:pPr marL="0" lvl="1">
              <a:lnSpc>
                <a:spcPct val="150000"/>
              </a:lnSpc>
            </a:pPr>
            <a:r>
              <a:rPr lang="en-US" altLang="en-US" sz="2000" b="1" dirty="0" smtClean="0">
                <a:latin typeface="Arial" panose="020B0604020202020204" pitchFamily="34" charset="0"/>
              </a:rPr>
              <a:t>3. Hyper </a:t>
            </a:r>
            <a:r>
              <a:rPr lang="en-US" altLang="en-US" sz="2000" b="1" dirty="0">
                <a:latin typeface="Arial" panose="020B0604020202020204" pitchFamily="34" charset="0"/>
              </a:rPr>
              <a:t>parameter </a:t>
            </a:r>
            <a:r>
              <a:rPr lang="en-US" altLang="en-US" sz="2000" b="1" dirty="0" smtClean="0">
                <a:latin typeface="Arial" panose="020B0604020202020204" pitchFamily="34" charset="0"/>
              </a:rPr>
              <a:t>Tuning: </a:t>
            </a:r>
            <a:r>
              <a:rPr lang="en-US" altLang="en-US" sz="2000" dirty="0" smtClean="0">
                <a:latin typeface="Arial" panose="020B0604020202020204" pitchFamily="34" charset="0"/>
              </a:rPr>
              <a:t>Grid </a:t>
            </a:r>
            <a:r>
              <a:rPr lang="en-US" altLang="en-US" sz="2000" dirty="0">
                <a:latin typeface="Arial" panose="020B0604020202020204" pitchFamily="34" charset="0"/>
              </a:rPr>
              <a:t>Search or Randomized </a:t>
            </a:r>
            <a:r>
              <a:rPr lang="en-US" altLang="en-US" sz="2000" dirty="0" smtClean="0">
                <a:latin typeface="Arial" panose="020B0604020202020204" pitchFamily="34" charset="0"/>
              </a:rPr>
              <a:t>Search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" panose="020B0604020202020204" pitchFamily="34" charset="0"/>
              </a:rPr>
              <a:t>C (Regularization parameter)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" panose="020B0604020202020204" pitchFamily="34" charset="0"/>
              </a:rPr>
              <a:t>Kernel type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Arial" panose="020B0604020202020204" pitchFamily="34" charset="0"/>
              </a:rPr>
              <a:t>Gamma (for RBF kernel)</a:t>
            </a:r>
          </a:p>
        </p:txBody>
      </p:sp>
    </p:spTree>
    <p:extLst>
      <p:ext uri="{BB962C8B-B14F-4D97-AF65-F5344CB8AC3E}">
        <p14:creationId xmlns:p14="http://schemas.microsoft.com/office/powerpoint/2010/main" val="56582704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32656"/>
            <a:ext cx="7560840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4.High-Dimensional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SVM performs well in high-dimensional spaces, making it a good choice for datasets with many features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SVM works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very well when features are large (p &gt;&gt; n)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5.Kernel Selection: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Choosing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right kernel is crucial for model performance:</a:t>
            </a:r>
          </a:p>
          <a:p>
            <a:pPr marL="46037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Linear Kernel: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Suitable for linearly separable data.</a:t>
            </a:r>
          </a:p>
          <a:p>
            <a:pPr marL="46037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Polynomial Kernel: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data with polynomial relationships.</a:t>
            </a:r>
          </a:p>
          <a:p>
            <a:pPr marL="46037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RBF Kernel (Radial Basis Function):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non-linear data.</a:t>
            </a:r>
          </a:p>
          <a:p>
            <a:pPr marL="46037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Sigmoid Kernel: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Rarely used; logistic regression is preferred for sigmoid-shaped data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Observation vs. Variables: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SVM can handle high-dimensional data well.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training becomes expensive when the dataset size is extremely large.</a:t>
            </a:r>
          </a:p>
        </p:txBody>
      </p:sp>
    </p:spTree>
    <p:extLst>
      <p:ext uri="{BB962C8B-B14F-4D97-AF65-F5344CB8AC3E}">
        <p14:creationId xmlns:p14="http://schemas.microsoft.com/office/powerpoint/2010/main" val="370029463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332656"/>
            <a:ext cx="756084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7. Feature Scaling: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Always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 feature scaling (e.g., StandardScaler or MinMaxScaler) before training an SVM model. SVM is sensitive to the scale of the features.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8. Decision Surface: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SVM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creates a decision boundary (or surface) that separates different classes. The margin is maximized between the closest points of different classes (support vectors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9.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Nonlinear Problems: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Linear SVM handles linearly separable data. Kernel SVM extends SVM to non-linear problems..</a:t>
            </a:r>
          </a:p>
          <a:p>
            <a:pPr marL="87313" lvl="1" indent="-87313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10. Feature Importance: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7313" lvl="1" indent="-87313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While SVM doesn't directly provide feature importance scores, techniques like Recursive Feature Elimination (RFE) can be used to identify important features.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68263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12767</TotalTime>
  <Words>3102</Words>
  <Application>Microsoft Office PowerPoint</Application>
  <PresentationFormat>On-screen Show (4:3)</PresentationFormat>
  <Paragraphs>406</Paragraphs>
  <Slides>100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7" baseType="lpstr">
      <vt:lpstr>Arial Unicode MS</vt:lpstr>
      <vt:lpstr>Arial</vt:lpstr>
      <vt:lpstr>Calibri</vt:lpstr>
      <vt:lpstr>Trebuchet MS</vt:lpstr>
      <vt:lpstr>Wingdings</vt:lpstr>
      <vt:lpstr>Wingdings 3</vt:lpstr>
      <vt:lpstr>Facet</vt:lpstr>
      <vt:lpstr>Support Vector Machine</vt:lpstr>
      <vt:lpstr>In 1990s while neural networks were struggling due to computational limits, SVM became a very powerful alternative.  It can handle both regression and classification problems for linear and nonlinear data.  However it is most preferred for nonlinear classification problems.</vt:lpstr>
      <vt:lpstr>PowerPoint Presentation</vt:lpstr>
      <vt:lpstr>Age vs Income → classify loan approval</vt:lpstr>
      <vt:lpstr>Tumor classification (benign vs malignant) </vt:lpstr>
      <vt:lpstr>What Nonlinear Means Here</vt:lpstr>
      <vt:lpstr>What is SVM? </vt:lpstr>
      <vt:lpstr>So if we are about to study for SVM. We need to understand,  What is hyper plane?  What is support vector? What is  margin?</vt:lpstr>
      <vt:lpstr>Hyperplane: </vt:lpstr>
      <vt:lpstr>PowerPoint Presentation</vt:lpstr>
      <vt:lpstr>PowerPoint Presentation</vt:lpstr>
      <vt:lpstr>Support Vectors:</vt:lpstr>
      <vt:lpstr>Margin:</vt:lpstr>
      <vt:lpstr>PowerPoint Presentation</vt:lpstr>
      <vt:lpstr>PowerPoint Presentation</vt:lpstr>
      <vt:lpstr>PowerPoint Presentation</vt:lpstr>
      <vt:lpstr>Now tell me which one is the best hyperplane here?</vt:lpstr>
      <vt:lpstr>What about this? </vt:lpstr>
      <vt:lpstr>Convex Hull</vt:lpstr>
      <vt:lpstr>What is margin width(λ) ?</vt:lpstr>
      <vt:lpstr>SVM actually defines three parallel planes.</vt:lpstr>
      <vt:lpstr>Which one is better?</vt:lpstr>
      <vt:lpstr>But the challenge starts here</vt:lpstr>
      <vt:lpstr>Hinge Loss:</vt:lpstr>
      <vt:lpstr>What is t ?</vt:lpstr>
      <vt:lpstr>PowerPoint Presentation</vt:lpstr>
      <vt:lpstr>PowerPoint Presentation</vt:lpstr>
      <vt:lpstr>How SVM Works? </vt:lpstr>
      <vt:lpstr>Linearly separable data</vt:lpstr>
      <vt:lpstr>PowerPoint Presentation</vt:lpstr>
      <vt:lpstr>PowerPoint Presentation</vt:lpstr>
      <vt:lpstr>PowerPoint Presentation</vt:lpstr>
      <vt:lpstr>2d to 3d</vt:lpstr>
      <vt:lpstr>Step 1: Original 2D Data (Not Linearly Separable)</vt:lpstr>
      <vt:lpstr>Step 2:Define Feature Transformation</vt:lpstr>
      <vt:lpstr>Step 3: Apply Transformation</vt:lpstr>
      <vt:lpstr>Step 4: Look at New Coordinates</vt:lpstr>
      <vt:lpstr>So nonlinear in 2D becomes linear in 3D.</vt:lpstr>
      <vt:lpstr>Kernel</vt:lpstr>
      <vt:lpstr>Common kernel Tricks</vt:lpstr>
      <vt:lpstr>Kernel = Polynomial</vt:lpstr>
      <vt:lpstr>PowerPoint Presentation</vt:lpstr>
      <vt:lpstr>PowerPoint Presentation</vt:lpstr>
      <vt:lpstr>Polynomial kernel expands</vt:lpstr>
      <vt:lpstr>PowerPoint Presentation</vt:lpstr>
      <vt:lpstr>Kernel = RBF Radial Basis Function </vt:lpstr>
      <vt:lpstr>PowerPoint Presentation</vt:lpstr>
      <vt:lpstr>PowerPoint Presentation</vt:lpstr>
      <vt:lpstr>Example: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Kernel = Sigmoid </vt:lpstr>
      <vt:lpstr>Hard Margin limitation</vt:lpstr>
      <vt:lpstr>PowerPoint Presentation</vt:lpstr>
      <vt:lpstr>PowerPoint Presentation</vt:lpstr>
      <vt:lpstr>Hard margin linear SVM classifier objective</vt:lpstr>
      <vt:lpstr>Soft margin linear SVM classifier</vt:lpstr>
      <vt:lpstr>PowerPoint Presentation</vt:lpstr>
      <vt:lpstr>PowerPoint Presentation</vt:lpstr>
      <vt:lpstr>C is the regularization parameter</vt:lpstr>
      <vt:lpstr>PowerPoint Presentation</vt:lpstr>
      <vt:lpstr>Geometric Interpretation </vt:lpstr>
      <vt:lpstr>Soft-margin SVM minimizes model complexity while penalizing classification errors.</vt:lpstr>
      <vt:lpstr>Primal Form of SVM</vt:lpstr>
      <vt:lpstr>PowerPoint Presentation</vt:lpstr>
      <vt:lpstr>Why Dual Form?</vt:lpstr>
      <vt:lpstr>PowerPoint Presentation</vt:lpstr>
      <vt:lpstr>PowerPoint Presentation</vt:lpstr>
      <vt:lpstr>PowerPoint Presentation</vt:lpstr>
      <vt:lpstr>The Real Prediction Formula?</vt:lpstr>
      <vt:lpstr>PowerPoint Presentation</vt:lpstr>
      <vt:lpstr>Let us assume we have 100 Observations</vt:lpstr>
      <vt:lpstr>PowerPoint Presentation</vt:lpstr>
      <vt:lpstr>What Does α Represent Here?</vt:lpstr>
      <vt:lpstr>Example With 100 Observations</vt:lpstr>
      <vt:lpstr>PowerPoint Presentation</vt:lpstr>
      <vt:lpstr>PowerPoint Presentation</vt:lpstr>
      <vt:lpstr>Example with 3 samples</vt:lpstr>
      <vt:lpstr>PowerPoint Presentation</vt:lpstr>
      <vt:lpstr>PowerPoint Presentation</vt:lpstr>
      <vt:lpstr>PowerPoint Presentation</vt:lpstr>
      <vt:lpstr>Problem: Titanic Survival</vt:lpstr>
      <vt:lpstr>Step 1: Assume SVM Finds Boundary at Age = 21 </vt:lpstr>
      <vt:lpstr>Step 2: Check Margin Condition</vt:lpstr>
      <vt:lpstr>PowerPoint Presentation</vt:lpstr>
      <vt:lpstr>PowerPoint Presentation</vt:lpstr>
      <vt:lpstr>These define margin.</vt:lpstr>
      <vt:lpstr>Step 3: Dual View</vt:lpstr>
      <vt:lpstr>Interpretation</vt:lpstr>
      <vt:lpstr>Important Observations</vt:lpstr>
      <vt:lpstr>PowerPoint Presentation</vt:lpstr>
      <vt:lpstr>SVM and Feature scaling</vt:lpstr>
      <vt:lpstr>Applications </vt:lpstr>
      <vt:lpstr>PowerPoint Presentation</vt:lpstr>
      <vt:lpstr>Key Points for SVM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</dc:title>
  <dc:creator>PANKAJ</dc:creator>
  <cp:lastModifiedBy>Microsoft account</cp:lastModifiedBy>
  <cp:revision>148</cp:revision>
  <dcterms:created xsi:type="dcterms:W3CDTF">2024-05-30T05:26:45Z</dcterms:created>
  <dcterms:modified xsi:type="dcterms:W3CDTF">2026-03-06T07:38:53Z</dcterms:modified>
</cp:coreProperties>
</file>