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4" r:id="rId3"/>
    <p:sldId id="318" r:id="rId4"/>
    <p:sldId id="264" r:id="rId5"/>
    <p:sldId id="319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8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30" r:id="rId73"/>
    <p:sldId id="331" r:id="rId74"/>
    <p:sldId id="332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862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Naïve Bayes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Only for classificatio</a:t>
            </a:r>
            <a:r>
              <a:rPr lang="en-US" dirty="0" smtClean="0"/>
              <a:t>n problems</a:t>
            </a:r>
          </a:p>
          <a:p>
            <a:r>
              <a:rPr lang="en-US" dirty="0" smtClean="0"/>
              <a:t>Specifically on text data as in sentiment 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58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523" y="407527"/>
            <a:ext cx="8596668" cy="1320800"/>
          </a:xfrm>
        </p:spPr>
        <p:txBody>
          <a:bodyPr/>
          <a:lstStyle/>
          <a:p>
            <a:r>
              <a:rPr lang="en-US" b="1" dirty="0" smtClean="0"/>
              <a:t>Before starting remember two things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8327"/>
            <a:ext cx="9813328" cy="388077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Conditional Probability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P(A/B) = P(A and B)/P(B)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Independence: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Means two event are statically independent: 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P(A and B) = P(A).P(B)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44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494" y="2758440"/>
            <a:ext cx="8596668" cy="1320800"/>
          </a:xfrm>
        </p:spPr>
        <p:txBody>
          <a:bodyPr/>
          <a:lstStyle/>
          <a:p>
            <a:r>
              <a:rPr lang="en-US" b="1" dirty="0" smtClean="0"/>
              <a:t>Proof </a:t>
            </a:r>
            <a:r>
              <a:rPr lang="en-US" b="1" dirty="0"/>
              <a:t>of Bayes’ Theorem</a:t>
            </a:r>
          </a:p>
        </p:txBody>
      </p:sp>
    </p:spTree>
    <p:extLst>
      <p:ext uri="{BB962C8B-B14F-4D97-AF65-F5344CB8AC3E}">
        <p14:creationId xmlns:p14="http://schemas.microsoft.com/office/powerpoint/2010/main" val="238434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Bayes Theorem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19134"/>
            <a:ext cx="8344563" cy="431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1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252" y="243840"/>
            <a:ext cx="9785188" cy="1320800"/>
          </a:xfrm>
        </p:spPr>
        <p:txBody>
          <a:bodyPr/>
          <a:lstStyle/>
          <a:p>
            <a:pPr algn="ctr"/>
            <a:r>
              <a:rPr lang="en-US" b="1" dirty="0"/>
              <a:t>Step 1: </a:t>
            </a:r>
            <a:r>
              <a:rPr lang="en-US" b="1" dirty="0" smtClean="0"/>
              <a:t>Conditional </a:t>
            </a:r>
            <a:r>
              <a:rPr lang="en-US" b="1" dirty="0"/>
              <a:t>Probability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551" y="1797178"/>
            <a:ext cx="7943671" cy="414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96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26" y="1740126"/>
            <a:ext cx="9602698" cy="237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8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Important Observation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00" y="1930400"/>
            <a:ext cx="3319660" cy="30323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18" y="1822926"/>
            <a:ext cx="5793298" cy="357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01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Rearranging the First Equation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715338"/>
            <a:ext cx="7716130" cy="24299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04" y="4352766"/>
            <a:ext cx="4127156" cy="25121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978" y="3672198"/>
            <a:ext cx="3846341" cy="315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05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2" y="136092"/>
            <a:ext cx="6688416" cy="21956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64" y="2841155"/>
            <a:ext cx="4617976" cy="33585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485" y="3005849"/>
            <a:ext cx="4013185" cy="319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7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Since Both Right Sides Are Equal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73" y="2413474"/>
            <a:ext cx="4719061" cy="29357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216" y="2548732"/>
            <a:ext cx="4209763" cy="333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1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96" y="1973468"/>
            <a:ext cx="9159256" cy="243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2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 Solve for P(A∣</a:t>
            </a:r>
            <a:r>
              <a:rPr lang="en-US" b="1" dirty="0" smtClean="0"/>
              <a:t>B)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930399"/>
            <a:ext cx="7841826" cy="17457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590" y="4176615"/>
            <a:ext cx="7269810" cy="215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1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134" y="177291"/>
            <a:ext cx="8596668" cy="1320800"/>
          </a:xfrm>
        </p:spPr>
        <p:txBody>
          <a:bodyPr/>
          <a:lstStyle/>
          <a:p>
            <a:r>
              <a:rPr lang="en-US" b="1" dirty="0"/>
              <a:t>Intuition Behind It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42" y="1498091"/>
            <a:ext cx="5860891" cy="452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9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Naive Bayes Context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701925"/>
            <a:ext cx="7867256" cy="408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4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Setup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43" y="1270000"/>
            <a:ext cx="7260208" cy="532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9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X=(x1,x2</a:t>
            </a:r>
            <a:r>
              <a:rPr lang="en-US" b="1" dirty="0" smtClean="0"/>
              <a:t>,...,</a:t>
            </a:r>
            <a:r>
              <a:rPr lang="en-US" b="1" dirty="0" err="1" smtClean="0"/>
              <a:t>xn</a:t>
            </a:r>
            <a:r>
              <a:rPr lang="en-US" b="1" dirty="0" smtClean="0"/>
              <a:t>)?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1595324"/>
            <a:ext cx="4721629" cy="508810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 is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feature vector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 1: Weather dataset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x1​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Outlook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x2​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Temperature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x3​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Humidity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x4​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Wind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 one data point becomes: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=( Sunny, Cool, High, Strong)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242560" y="1595324"/>
            <a:ext cx="629550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 2: Student dataset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x1​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Hours studied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x2​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Attendance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x3​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Internal marks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X=(5,80%,18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22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713" y="158145"/>
            <a:ext cx="8596668" cy="1320800"/>
          </a:xfrm>
        </p:spPr>
        <p:txBody>
          <a:bodyPr/>
          <a:lstStyle/>
          <a:p>
            <a:r>
              <a:rPr lang="en-US" b="1" dirty="0"/>
              <a:t>What is </a:t>
            </a:r>
            <a:r>
              <a:rPr lang="en-US" b="1" dirty="0" smtClean="0"/>
              <a:t>Y ∈ {</a:t>
            </a:r>
            <a:r>
              <a:rPr lang="en-US" b="1" dirty="0"/>
              <a:t>C1,C2,...,</a:t>
            </a:r>
            <a:r>
              <a:rPr lang="en-US" b="1" dirty="0" err="1"/>
              <a:t>Ck</a:t>
            </a:r>
            <a:r>
              <a:rPr lang="en-US" b="1" dirty="0" smtClean="0"/>
              <a:t>} 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885" y="1079934"/>
            <a:ext cx="9680323" cy="388077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target variable (class label)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can take one of k possible classes.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Spam / Not Spam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Yes / No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Pass / Fail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Positive / Negative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 A / Class B / Class C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∈ {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C1,C2,...,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Ck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48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29" y="243840"/>
            <a:ext cx="10124902" cy="1320800"/>
          </a:xfrm>
        </p:spPr>
        <p:txBody>
          <a:bodyPr/>
          <a:lstStyle/>
          <a:p>
            <a:r>
              <a:rPr lang="en-US" b="1" dirty="0"/>
              <a:t>What Are We Trying To </a:t>
            </a:r>
            <a:r>
              <a:rPr lang="en-US" b="1" dirty="0" smtClean="0"/>
              <a:t>Compute? </a:t>
            </a:r>
            <a:r>
              <a:rPr lang="en-US" dirty="0" smtClean="0"/>
              <a:t>P(Y</a:t>
            </a:r>
            <a:r>
              <a:rPr lang="en-US" dirty="0"/>
              <a:t>∣X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77829" y="948485"/>
            <a:ext cx="909056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means: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probability that the class is Y, given the features X?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important interpretation: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are not asking: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is probability of features given class?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are asking: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probability of class given features?</a:t>
            </a:r>
          </a:p>
        </p:txBody>
      </p:sp>
    </p:spTree>
    <p:extLst>
      <p:ext uri="{BB962C8B-B14F-4D97-AF65-F5344CB8AC3E}">
        <p14:creationId xmlns:p14="http://schemas.microsoft.com/office/powerpoint/2010/main" val="100418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45200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X=(Sunny,Cool,High,Strong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want: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P(Yes∣Sunny,Cool,High,Strong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P(No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∣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Sunny,Cool,High,Strong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95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8" y="0"/>
            <a:ext cx="8596668" cy="1320800"/>
          </a:xfrm>
        </p:spPr>
        <p:txBody>
          <a:bodyPr/>
          <a:lstStyle/>
          <a:p>
            <a:r>
              <a:rPr lang="en-US" b="1" dirty="0"/>
              <a:t>Why Do We Take </a:t>
            </a:r>
            <a:r>
              <a:rPr lang="en-US" b="1" dirty="0" err="1"/>
              <a:t>argmax</a:t>
            </a:r>
            <a:r>
              <a:rPr lang="en-US" b="1" dirty="0"/>
              <a:t>?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 rot="10800000" flipV="1">
            <a:off x="6184668" y="3394655"/>
            <a:ext cx="502088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means: Choose the class Y for which probability is maximum.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sz="2400" dirty="0"/>
              <a:t>We want the </a:t>
            </a:r>
            <a:r>
              <a:rPr lang="en-US" sz="2400" b="1" dirty="0"/>
              <a:t>most probable class</a:t>
            </a:r>
            <a:r>
              <a:rPr lang="en-US" sz="2400" dirty="0"/>
              <a:t> given the </a:t>
            </a:r>
            <a:r>
              <a:rPr lang="en-US" sz="2400" dirty="0" smtClean="0"/>
              <a:t>evidence.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2400" dirty="0" smtClean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 smtClean="0"/>
              <a:t>This </a:t>
            </a:r>
            <a:r>
              <a:rPr lang="en-US" sz="2400" dirty="0"/>
              <a:t>is </a:t>
            </a:r>
            <a:r>
              <a:rPr lang="en-US" sz="2400" dirty="0" smtClean="0"/>
              <a:t>called: </a:t>
            </a:r>
            <a:r>
              <a:rPr lang="en-US" sz="2400" b="1" dirty="0" smtClean="0"/>
              <a:t>Maximum </a:t>
            </a:r>
            <a:r>
              <a:rPr lang="en-US" sz="2400" b="1" dirty="0"/>
              <a:t>A Posteriori (MAP) Decision Rule</a:t>
            </a:r>
            <a:endParaRPr lang="en-US" sz="2400" dirty="0"/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62" y="771747"/>
            <a:ext cx="4892575" cy="7249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44" y="1672609"/>
            <a:ext cx="5294334" cy="495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4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 naïve </a:t>
            </a:r>
            <a:r>
              <a:rPr lang="en-US" b="1" dirty="0" err="1" smtClean="0"/>
              <a:t>bayes</a:t>
            </a:r>
            <a:r>
              <a:rPr lang="en-US" b="1" dirty="0" smtClean="0"/>
              <a:t>: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295686"/>
            <a:ext cx="9010996" cy="108819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77333" y="4103716"/>
            <a:ext cx="978007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We are assuming Features are independent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96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 Ignore Evidence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659867"/>
            <a:ext cx="8667107" cy="38847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7334" y="6062395"/>
            <a:ext cx="10783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Argmax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means: choose the class that gives the highest probability.</a:t>
            </a:r>
          </a:p>
        </p:txBody>
      </p:sp>
    </p:spTree>
    <p:extLst>
      <p:ext uri="{BB962C8B-B14F-4D97-AF65-F5344CB8AC3E}">
        <p14:creationId xmlns:p14="http://schemas.microsoft.com/office/powerpoint/2010/main" val="418126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Naive Independence Assumption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01" y="1455079"/>
            <a:ext cx="8022003" cy="517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6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705" y="132284"/>
            <a:ext cx="8596668" cy="1320800"/>
          </a:xfrm>
        </p:spPr>
        <p:txBody>
          <a:bodyPr/>
          <a:lstStyle/>
          <a:p>
            <a:r>
              <a:rPr lang="en-US" b="1" dirty="0"/>
              <a:t>Play Tennis Dataset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705" y="1030059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Given weather conditions: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Outlook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Temperature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Humidity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Windy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Predict: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Y= Play Tennis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(Yes/No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7683" y="4910832"/>
            <a:ext cx="85066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Solve: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Case 1 :P(Yes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∣Sunny,Cool,High,Strong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Case 2: P(No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∣Sunny,Cool,High,Strong)</a:t>
            </a:r>
          </a:p>
        </p:txBody>
      </p:sp>
    </p:spTree>
    <p:extLst>
      <p:ext uri="{BB962C8B-B14F-4D97-AF65-F5344CB8AC3E}">
        <p14:creationId xmlns:p14="http://schemas.microsoft.com/office/powerpoint/2010/main" val="92548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454" y="0"/>
            <a:ext cx="8596668" cy="1320800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964001"/>
              </p:ext>
            </p:extLst>
          </p:nvPr>
        </p:nvGraphicFramePr>
        <p:xfrm>
          <a:off x="871195" y="983074"/>
          <a:ext cx="8538810" cy="5542350"/>
        </p:xfrm>
        <a:graphic>
          <a:graphicData uri="http://schemas.openxmlformats.org/drawingml/2006/table">
            <a:tbl>
              <a:tblPr/>
              <a:tblGrid>
                <a:gridCol w="1389867"/>
                <a:gridCol w="1456403"/>
                <a:gridCol w="1423135"/>
                <a:gridCol w="1423135"/>
                <a:gridCol w="1423135"/>
                <a:gridCol w="1423135"/>
              </a:tblGrid>
              <a:tr h="337906">
                <a:tc>
                  <a:txBody>
                    <a:bodyPr/>
                    <a:lstStyle/>
                    <a:p>
                      <a:r>
                        <a:rPr lang="en-US" sz="2000" b="1" dirty="0" err="1" smtClean="0"/>
                        <a:t>Sr</a:t>
                      </a:r>
                      <a:r>
                        <a:rPr lang="en-US" sz="2000" b="1" dirty="0" smtClean="0"/>
                        <a:t> No.</a:t>
                      </a:r>
                      <a:endParaRPr lang="en-US" sz="2000" b="1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Outlook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Temp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Humidity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Windy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Play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Sunny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Hot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False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2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Sunny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Hot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True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3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Overcast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Hot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False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 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4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Rainy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Mild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False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  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5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Rainy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Cool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Normal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False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Yes  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6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Rainy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Cool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Normal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True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7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Overcast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Cool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Normal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True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Yes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8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Sunny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Mild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False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9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Sunny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Cool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Normal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False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Yes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10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Rainy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Mild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Normal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False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Yes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11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Sunny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Mild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Normal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True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Yes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12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Overcast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Mild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True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Yes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13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Overcast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Hot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Normal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False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Yes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790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14</a:t>
                      </a:r>
                      <a:endParaRPr lang="en-US" sz="2000" dirty="0"/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Rainy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Mild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True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 marL="64691" marR="64691" marT="32345" marB="323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57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Step 1 : Compute </a:t>
            </a:r>
            <a:r>
              <a:rPr lang="en-US" b="1" dirty="0"/>
              <a:t>Priors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11" y="1664393"/>
            <a:ext cx="8056195" cy="422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7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697" y="160713"/>
            <a:ext cx="9148310" cy="1320800"/>
          </a:xfrm>
        </p:spPr>
        <p:txBody>
          <a:bodyPr/>
          <a:lstStyle/>
          <a:p>
            <a:r>
              <a:rPr lang="en-US" b="1" dirty="0" smtClean="0"/>
              <a:t>Step 2: Convert </a:t>
            </a:r>
            <a:r>
              <a:rPr lang="en-US" b="1" dirty="0"/>
              <a:t>Dataset Into Conditional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697" y="1063309"/>
            <a:ext cx="8596668" cy="3880773"/>
          </a:xfrm>
        </p:spPr>
        <p:txBody>
          <a:bodyPr>
            <a:normAutofit/>
          </a:bodyPr>
          <a:lstStyle/>
          <a:p>
            <a:r>
              <a:rPr lang="en-US" sz="3200" b="1" dirty="0"/>
              <a:t>Outlook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655902"/>
              </p:ext>
            </p:extLst>
          </p:nvPr>
        </p:nvGraphicFramePr>
        <p:xfrm>
          <a:off x="411856" y="1973729"/>
          <a:ext cx="3894137" cy="2476892"/>
        </p:xfrm>
        <a:graphic>
          <a:graphicData uri="http://schemas.openxmlformats.org/drawingml/2006/table">
            <a:tbl>
              <a:tblPr/>
              <a:tblGrid>
                <a:gridCol w="1666326"/>
                <a:gridCol w="1180407"/>
                <a:gridCol w="1047404"/>
              </a:tblGrid>
              <a:tr h="61922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Outlook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223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223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Overcast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922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838" y="1278953"/>
            <a:ext cx="3567938" cy="515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96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581" y="160713"/>
            <a:ext cx="8596668" cy="653934"/>
          </a:xfrm>
        </p:spPr>
        <p:txBody>
          <a:bodyPr/>
          <a:lstStyle/>
          <a:p>
            <a:r>
              <a:rPr lang="en-US" b="1" dirty="0" smtClean="0"/>
              <a:t>Temperature:</a:t>
            </a:r>
            <a:endParaRPr lang="en-US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739282"/>
              </p:ext>
            </p:extLst>
          </p:nvPr>
        </p:nvGraphicFramePr>
        <p:xfrm>
          <a:off x="295477" y="1341480"/>
          <a:ext cx="3711257" cy="1828800"/>
        </p:xfrm>
        <a:graphic>
          <a:graphicData uri="http://schemas.openxmlformats.org/drawingml/2006/table">
            <a:tbl>
              <a:tblPr/>
              <a:tblGrid>
                <a:gridCol w="2127614"/>
                <a:gridCol w="881801"/>
                <a:gridCol w="701842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Hot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Mild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Cool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802" y="487680"/>
            <a:ext cx="3057444" cy="547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4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Humidity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7117759"/>
              </p:ext>
            </p:extLst>
          </p:nvPr>
        </p:nvGraphicFramePr>
        <p:xfrm>
          <a:off x="395230" y="1657363"/>
          <a:ext cx="3511752" cy="1784106"/>
        </p:xfrm>
        <a:graphic>
          <a:graphicData uri="http://schemas.openxmlformats.org/drawingml/2006/table">
            <a:tbl>
              <a:tblPr/>
              <a:tblGrid>
                <a:gridCol w="1512875"/>
                <a:gridCol w="951473"/>
                <a:gridCol w="1047404"/>
              </a:tblGrid>
              <a:tr h="809908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Humidity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099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099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668" y="1177971"/>
            <a:ext cx="4071038" cy="452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7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Windy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859826"/>
              </p:ext>
            </p:extLst>
          </p:nvPr>
        </p:nvGraphicFramePr>
        <p:xfrm>
          <a:off x="295478" y="1569259"/>
          <a:ext cx="3079488" cy="2468880"/>
        </p:xfrm>
        <a:graphic>
          <a:graphicData uri="http://schemas.openxmlformats.org/drawingml/2006/table">
            <a:tbl>
              <a:tblPr/>
              <a:tblGrid>
                <a:gridCol w="1184187"/>
                <a:gridCol w="864524"/>
                <a:gridCol w="1030777"/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2400" dirty="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lang="en-US" sz="240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352" y="1270000"/>
            <a:ext cx="3447630" cy="42087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4577" y="5987534"/>
            <a:ext cx="43170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(Strong = True, Weak = False)</a:t>
            </a:r>
          </a:p>
        </p:txBody>
      </p:sp>
    </p:spTree>
    <p:extLst>
      <p:ext uri="{BB962C8B-B14F-4D97-AF65-F5344CB8AC3E}">
        <p14:creationId xmlns:p14="http://schemas.microsoft.com/office/powerpoint/2010/main" val="409747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10342"/>
            <a:ext cx="8596668" cy="1320800"/>
          </a:xfrm>
        </p:spPr>
        <p:txBody>
          <a:bodyPr/>
          <a:lstStyle/>
          <a:p>
            <a:r>
              <a:rPr lang="en-US" b="1" dirty="0"/>
              <a:t>Step 3: Apply Naive Bayes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629" y="1631142"/>
            <a:ext cx="11205555" cy="1311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Yes∣X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∝ P(Yes)P(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Sunny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∣Yes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Cool∣Yes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High∣Yes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Strong∣Yes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Where: X = outlook as sunny, temp as cool, humidity as high, windy as strong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495" y="2814191"/>
            <a:ext cx="3917440" cy="404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2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578" y="298538"/>
            <a:ext cx="10162462" cy="8818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No∣X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∝ P(No)P(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Sunny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∣No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Cool∣No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High∣No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Strong∣No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013" y="1646517"/>
            <a:ext cx="4120427" cy="364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0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 Compare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0.0053&lt;0.058</a:t>
            </a:r>
          </a:p>
          <a:p>
            <a:r>
              <a:rPr lang="en-US" sz="3200" dirty="0"/>
              <a:t> </a:t>
            </a:r>
            <a:r>
              <a:rPr lang="en-US" sz="3200" dirty="0" smtClean="0"/>
              <a:t>No, you will not play tennis.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7218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Introduce </a:t>
            </a:r>
            <a:r>
              <a:rPr lang="en-US" b="1" dirty="0"/>
              <a:t>Laplace Smoothing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94950" y="1270000"/>
            <a:ext cx="864954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Outlook = Sunny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 = Cool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Humidity = Normal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Clothes = Formal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Case 1: P(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Yes∣Sunny,Cool,Normal,Formal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 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Case 2 :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P(</a:t>
            </a:r>
            <a:r>
              <a:rPr lang="en-US" altLang="en-US" sz="2400" dirty="0" err="1" smtClean="0">
                <a:solidFill>
                  <a:schemeClr val="tx1"/>
                </a:solidFill>
                <a:latin typeface="Arial" panose="020B0604020202020204" pitchFamily="34" charset="0"/>
              </a:rPr>
              <a:t>No∣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Sunny,Cool,Normal,Formal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)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06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1: Identify the Problem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7" y="1763807"/>
            <a:ext cx="8787425" cy="312407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7334" y="5103674"/>
            <a:ext cx="68286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Without smoothing: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Entire product becomes 0 for both classes.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Model cannot decide.</a:t>
            </a:r>
          </a:p>
        </p:txBody>
      </p:sp>
    </p:spTree>
    <p:extLst>
      <p:ext uri="{BB962C8B-B14F-4D97-AF65-F5344CB8AC3E}">
        <p14:creationId xmlns:p14="http://schemas.microsoft.com/office/powerpoint/2010/main" val="159088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Apply Laplace Smoothing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65" y="1730895"/>
            <a:ext cx="8945337" cy="377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4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70" y="143659"/>
            <a:ext cx="8596668" cy="1320800"/>
          </a:xfrm>
        </p:spPr>
        <p:txBody>
          <a:bodyPr/>
          <a:lstStyle/>
          <a:p>
            <a:r>
              <a:rPr lang="en-US" b="1" dirty="0"/>
              <a:t>For Clothes Feature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70" y="998946"/>
            <a:ext cx="5987018" cy="28189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65" y="3803406"/>
            <a:ext cx="3288438" cy="305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6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65" y="1036322"/>
            <a:ext cx="8957808" cy="375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2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Other Probabilities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1" y="1606988"/>
            <a:ext cx="4367397" cy="32794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576" y="1588958"/>
            <a:ext cx="4245526" cy="348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9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Compute Posterior for 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131" y="1628574"/>
            <a:ext cx="11006051" cy="732241"/>
          </a:xfrm>
        </p:spPr>
        <p:txBody>
          <a:bodyPr>
            <a:normAutofit/>
          </a:bodyPr>
          <a:lstStyle/>
          <a:p>
            <a:r>
              <a:rPr lang="en-US" sz="2400" dirty="0"/>
              <a:t>P(</a:t>
            </a:r>
            <a:r>
              <a:rPr lang="en-US" sz="2400" dirty="0" err="1"/>
              <a:t>Yes∣X</a:t>
            </a:r>
            <a:r>
              <a:rPr lang="en-US" sz="2400" dirty="0" smtClean="0"/>
              <a:t>) ∝ P(Yes)P(</a:t>
            </a:r>
            <a:r>
              <a:rPr lang="en-US" sz="2400" dirty="0" err="1" smtClean="0"/>
              <a:t>Sunny</a:t>
            </a:r>
            <a:r>
              <a:rPr lang="en-US" sz="2400" dirty="0" err="1"/>
              <a:t>∣Yes</a:t>
            </a:r>
            <a:r>
              <a:rPr lang="en-US" sz="2400" dirty="0"/>
              <a:t>)P(</a:t>
            </a:r>
            <a:r>
              <a:rPr lang="en-US" sz="2400" dirty="0" err="1"/>
              <a:t>Cool∣Yes</a:t>
            </a:r>
            <a:r>
              <a:rPr lang="en-US" sz="2400" dirty="0"/>
              <a:t>)P(</a:t>
            </a:r>
            <a:r>
              <a:rPr lang="en-US" sz="2400" dirty="0" err="1"/>
              <a:t>Normal∣Yes</a:t>
            </a:r>
            <a:r>
              <a:rPr lang="en-US" sz="2400" dirty="0"/>
              <a:t>)P(</a:t>
            </a:r>
            <a:r>
              <a:rPr lang="en-US" sz="2400" dirty="0" err="1"/>
              <a:t>Formal∣Yes</a:t>
            </a:r>
            <a:r>
              <a:rPr lang="en-US" sz="2400" dirty="0" smtClean="0"/>
              <a:t>)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031" y="2360815"/>
            <a:ext cx="4387273" cy="402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12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200" y="177338"/>
            <a:ext cx="8596668" cy="1320800"/>
          </a:xfrm>
        </p:spPr>
        <p:txBody>
          <a:bodyPr/>
          <a:lstStyle/>
          <a:p>
            <a:r>
              <a:rPr lang="en-US" b="1" dirty="0"/>
              <a:t>Step 5: Compute Posterior for 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79440"/>
            <a:ext cx="9709265" cy="748865"/>
          </a:xfrm>
        </p:spPr>
        <p:txBody>
          <a:bodyPr>
            <a:normAutofit/>
          </a:bodyPr>
          <a:lstStyle/>
          <a:p>
            <a:r>
              <a:rPr lang="en-US" sz="2400" dirty="0"/>
              <a:t>P(</a:t>
            </a:r>
            <a:r>
              <a:rPr lang="en-US" sz="2400" dirty="0" err="1"/>
              <a:t>No∣X</a:t>
            </a:r>
            <a:r>
              <a:rPr lang="en-US" sz="2400" dirty="0" smtClean="0"/>
              <a:t>) ∝ P(No)P(</a:t>
            </a:r>
            <a:r>
              <a:rPr lang="en-US" sz="2400" dirty="0" err="1" smtClean="0"/>
              <a:t>Sunny</a:t>
            </a:r>
            <a:r>
              <a:rPr lang="en-US" sz="2400" dirty="0" err="1"/>
              <a:t>∣No</a:t>
            </a:r>
            <a:r>
              <a:rPr lang="en-US" sz="2400" dirty="0"/>
              <a:t>)P(</a:t>
            </a:r>
            <a:r>
              <a:rPr lang="en-US" sz="2400" dirty="0" err="1"/>
              <a:t>Cool∣No</a:t>
            </a:r>
            <a:r>
              <a:rPr lang="en-US" sz="2400" dirty="0"/>
              <a:t>)P(</a:t>
            </a:r>
            <a:r>
              <a:rPr lang="en-US" sz="2400" dirty="0" err="1"/>
              <a:t>Normal∣No</a:t>
            </a:r>
            <a:r>
              <a:rPr lang="en-US" sz="2400" dirty="0"/>
              <a:t>)P(</a:t>
            </a:r>
            <a:r>
              <a:rPr lang="en-US" sz="2400" dirty="0" err="1"/>
              <a:t>Formal∣No</a:t>
            </a:r>
            <a:r>
              <a:rPr lang="en-US" sz="2400" dirty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677" y="2028305"/>
            <a:ext cx="4041713" cy="372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7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6: Compare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92" y="1930400"/>
            <a:ext cx="6321301" cy="15736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95" y="3731469"/>
            <a:ext cx="7600498" cy="170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9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95" y="265287"/>
            <a:ext cx="8596668" cy="864524"/>
          </a:xfrm>
        </p:spPr>
        <p:txBody>
          <a:bodyPr/>
          <a:lstStyle/>
          <a:p>
            <a:r>
              <a:rPr lang="en-US" b="1" dirty="0" smtClean="0"/>
              <a:t>Overfitting </a:t>
            </a:r>
            <a:r>
              <a:rPr lang="en-US" b="1" dirty="0"/>
              <a:t>and </a:t>
            </a:r>
            <a:r>
              <a:rPr lang="en-US" b="1" dirty="0" err="1" smtClean="0"/>
              <a:t>Underfitting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195" y="1129811"/>
            <a:ext cx="8965430" cy="5453869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Naive Bayes is generally: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 Bias, Low Variance 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Model.</a:t>
            </a:r>
          </a:p>
          <a:p>
            <a:pPr>
              <a:lnSpc>
                <a:spcPct val="16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Because of the strong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conditional independence assumption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 compared to models like Decision Trees,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Naive Bayes usually:</a:t>
            </a:r>
          </a:p>
          <a:p>
            <a:pPr>
              <a:lnSpc>
                <a:spcPct val="16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Rarely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severely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overfits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likely 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underfit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 smoothing parameter can change this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78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198" y="343593"/>
            <a:ext cx="10378593" cy="1320800"/>
          </a:xfrm>
        </p:spPr>
        <p:txBody>
          <a:bodyPr/>
          <a:lstStyle/>
          <a:p>
            <a:r>
              <a:rPr lang="en-US" b="1" dirty="0"/>
              <a:t>What is </a:t>
            </a:r>
            <a:r>
              <a:rPr lang="en-US" b="1" dirty="0" smtClean="0"/>
              <a:t>Overfitting? and </a:t>
            </a:r>
            <a:r>
              <a:rPr lang="en-US" b="1" dirty="0"/>
              <a:t>How Can NB </a:t>
            </a:r>
            <a:r>
              <a:rPr lang="en-US" b="1" dirty="0" smtClean="0"/>
              <a:t>Over fit </a:t>
            </a:r>
            <a:r>
              <a:rPr lang="en-US" dirty="0" smtClean="0"/>
              <a:t>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29" y="1329317"/>
            <a:ext cx="8596668" cy="207890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performs: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Very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well on training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Poorly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test data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So High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variance problem.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7829" y="3408219"/>
            <a:ext cx="91649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Even though NB is simple, overfitting can happen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when: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. Very small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dataset: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counts are tiny, probabilities become extreme.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If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word appears once in spam: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word∣spam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)=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becomes too confident.</a:t>
            </a:r>
          </a:p>
        </p:txBody>
      </p:sp>
    </p:spTree>
    <p:extLst>
      <p:ext uri="{BB962C8B-B14F-4D97-AF65-F5344CB8AC3E}">
        <p14:creationId xmlns:p14="http://schemas.microsoft.com/office/powerpoint/2010/main" val="295987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331" y="0"/>
            <a:ext cx="8596668" cy="1320800"/>
          </a:xfrm>
        </p:spPr>
        <p:txBody>
          <a:bodyPr/>
          <a:lstStyle/>
          <a:p>
            <a:r>
              <a:rPr lang="en-US" b="1" dirty="0"/>
              <a:t>2. Very small smoothing (α ≈ 0)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91" y="879867"/>
            <a:ext cx="7218645" cy="31767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9011" y="4056611"/>
            <a:ext cx="77308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Then: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Probabilities depend purely on raw counts.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Rare events get extreme probabilities.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memorizes training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overfitting.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88975" y="4610609"/>
            <a:ext cx="6096000" cy="16864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Low α → very sharp </a:t>
            </a:r>
            <a:r>
              <a:rPr lang="en-US" sz="2400" dirty="0" smtClean="0"/>
              <a:t>probabilities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Model </a:t>
            </a:r>
            <a:r>
              <a:rPr lang="en-US" sz="2400" dirty="0"/>
              <a:t>trusts training data too </a:t>
            </a:r>
            <a:r>
              <a:rPr lang="en-US" sz="2400" dirty="0" smtClean="0"/>
              <a:t>much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High </a:t>
            </a:r>
            <a:r>
              <a:rPr lang="en-US" sz="2400" dirty="0"/>
              <a:t>variance</a:t>
            </a:r>
          </a:p>
        </p:txBody>
      </p:sp>
    </p:spTree>
    <p:extLst>
      <p:ext uri="{BB962C8B-B14F-4D97-AF65-F5344CB8AC3E}">
        <p14:creationId xmlns:p14="http://schemas.microsoft.com/office/powerpoint/2010/main" val="93534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715" y="191396"/>
            <a:ext cx="8596668" cy="1320800"/>
          </a:xfrm>
        </p:spPr>
        <p:txBody>
          <a:bodyPr/>
          <a:lstStyle/>
          <a:p>
            <a:r>
              <a:rPr lang="en-US" b="1" dirty="0" smtClean="0"/>
              <a:t>What is </a:t>
            </a:r>
            <a:r>
              <a:rPr lang="en-US" b="1" dirty="0" err="1" smtClean="0"/>
              <a:t>Underfitting</a:t>
            </a:r>
            <a:r>
              <a:rPr lang="en-US" b="1" dirty="0" smtClean="0"/>
              <a:t> </a:t>
            </a:r>
            <a:r>
              <a:rPr lang="en-US" b="1" dirty="0"/>
              <a:t>in Naive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698" y="1163061"/>
            <a:ext cx="8965430" cy="5570247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performs: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Poorly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training and Poorly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 test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 bias problem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/>
              <a:t>Because of independence assumption:</a:t>
            </a:r>
          </a:p>
          <a:p>
            <a:r>
              <a:rPr lang="en-US" sz="2400" dirty="0"/>
              <a:t>P(x1,x2∣Y)=P(x1∣Y)P(x2∣Y</a:t>
            </a:r>
            <a:r>
              <a:rPr lang="en-US" sz="2400" dirty="0" smtClean="0"/>
              <a:t>) </a:t>
            </a:r>
          </a:p>
          <a:p>
            <a:r>
              <a:rPr lang="en-US" sz="2400" dirty="0" smtClean="0"/>
              <a:t>But </a:t>
            </a:r>
            <a:r>
              <a:rPr lang="en-US" sz="2400" dirty="0"/>
              <a:t>in real life:</a:t>
            </a:r>
          </a:p>
          <a:p>
            <a:r>
              <a:rPr lang="en-US" sz="2400" dirty="0"/>
              <a:t>Features are often correlated.</a:t>
            </a:r>
          </a:p>
          <a:p>
            <a:r>
              <a:rPr lang="en-US" sz="2400" dirty="0"/>
              <a:t>Example:</a:t>
            </a:r>
          </a:p>
          <a:p>
            <a:r>
              <a:rPr lang="en-US" sz="2400" dirty="0"/>
              <a:t>Humidity and Temperature may be related.</a:t>
            </a:r>
          </a:p>
          <a:p>
            <a:r>
              <a:rPr lang="en-US" sz="2400" dirty="0"/>
              <a:t>NB ignores this relationship.</a:t>
            </a:r>
          </a:p>
          <a:p>
            <a:r>
              <a:rPr lang="en-US" sz="2400" dirty="0"/>
              <a:t>So decision boundary becomes too simple.</a:t>
            </a:r>
          </a:p>
          <a:p>
            <a:r>
              <a:rPr lang="en-US" sz="2400" dirty="0" smtClean="0"/>
              <a:t>That </a:t>
            </a:r>
            <a:r>
              <a:rPr lang="en-US" sz="2400" dirty="0"/>
              <a:t>is </a:t>
            </a:r>
            <a:r>
              <a:rPr lang="en-US" sz="2400" dirty="0" err="1"/>
              <a:t>underfitting</a:t>
            </a:r>
            <a:r>
              <a:rPr lang="en-US" sz="2400" dirty="0"/>
              <a:t>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643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457" y="257898"/>
            <a:ext cx="8596668" cy="1320800"/>
          </a:xfrm>
        </p:spPr>
        <p:txBody>
          <a:bodyPr/>
          <a:lstStyle/>
          <a:p>
            <a:r>
              <a:rPr lang="en-US" b="1" dirty="0"/>
              <a:t>Very large smoothing (α very high)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28" y="1279440"/>
            <a:ext cx="8596668" cy="388077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  </a:t>
            </a:r>
            <a:r>
              <a:rPr lang="el-G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≫</a:t>
            </a:r>
            <a:r>
              <a:rPr lang="el-G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Then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xi∣Y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≈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uniform 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distribution 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ignores actual data patterns.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probabilities become similar.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Predictions become weak.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That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7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078" y="210590"/>
            <a:ext cx="10711103" cy="853440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/>
              <a:t>Naïve Bayes for Sentiment Analysis</a:t>
            </a:r>
            <a:br>
              <a:rPr lang="en-US" sz="4400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Text → OHE → Sparse Matrix → Bag of Words → Naive Bayes for Sentiment</a:t>
            </a:r>
            <a:r>
              <a:rPr lang="en-US" dirty="0"/>
              <a:t>.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078" y="2526349"/>
            <a:ext cx="9120602" cy="388077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text-based sentiment analysis, Multinomial Naive Bayes is often a strong baseline model due to its efficiency and strong performance on high-dimensional sparse data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Despite its strong independence assumption, Naive Bayes works remarkably well in text classification because text data is high-dimensional and sparse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Let us go with example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57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454" y="121920"/>
            <a:ext cx="8596668" cy="1320800"/>
          </a:xfrm>
        </p:spPr>
        <p:txBody>
          <a:bodyPr/>
          <a:lstStyle/>
          <a:p>
            <a:r>
              <a:rPr lang="en-US" b="1" dirty="0" smtClean="0"/>
              <a:t>For text Data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454" y="1550989"/>
            <a:ext cx="9182946" cy="4788851"/>
          </a:xfrm>
        </p:spPr>
        <p:txBody>
          <a:bodyPr>
            <a:normAutofit/>
          </a:bodyPr>
          <a:lstStyle/>
          <a:p>
            <a:r>
              <a:rPr lang="en-US" sz="2400" dirty="0" smtClean="0"/>
              <a:t>Text =              My          name    is          Pankaj     Sharma</a:t>
            </a:r>
          </a:p>
          <a:p>
            <a:r>
              <a:rPr lang="en-US" sz="2400" dirty="0" smtClean="0"/>
              <a:t>Vector form </a:t>
            </a:r>
            <a:r>
              <a:rPr lang="en-US" sz="2400" dirty="0"/>
              <a:t>=  [10000] [01000] [00100] </a:t>
            </a:r>
            <a:r>
              <a:rPr lang="en-US" sz="2400" dirty="0" smtClean="0"/>
              <a:t> [</a:t>
            </a:r>
            <a:r>
              <a:rPr lang="en-US" sz="2400" dirty="0"/>
              <a:t>00010</a:t>
            </a:r>
            <a:r>
              <a:rPr lang="en-US" sz="2400" dirty="0" smtClean="0"/>
              <a:t>]    [00001]</a:t>
            </a:r>
          </a:p>
          <a:p>
            <a:r>
              <a:rPr lang="en-US" sz="2400" dirty="0" smtClean="0"/>
              <a:t>This is named as </a:t>
            </a:r>
            <a:r>
              <a:rPr lang="en-US" sz="2400" b="1" dirty="0" smtClean="0"/>
              <a:t>one hot encoding.</a:t>
            </a:r>
          </a:p>
          <a:p>
            <a:r>
              <a:rPr lang="en-US" sz="2400" dirty="0"/>
              <a:t>Each word in vocabulary is represented as:</a:t>
            </a:r>
          </a:p>
          <a:p>
            <a:r>
              <a:rPr lang="en-US" sz="2400" dirty="0"/>
              <a:t>A vector of length = vocabulary </a:t>
            </a:r>
            <a:r>
              <a:rPr lang="en-US" sz="2400" dirty="0" smtClean="0"/>
              <a:t>size</a:t>
            </a:r>
          </a:p>
          <a:p>
            <a:r>
              <a:rPr lang="en-US" sz="2400" dirty="0" smtClean="0"/>
              <a:t>Only </a:t>
            </a:r>
            <a:r>
              <a:rPr lang="en-US" sz="2400" dirty="0"/>
              <a:t>one position = </a:t>
            </a:r>
            <a:r>
              <a:rPr lang="en-US" sz="2400" dirty="0" smtClean="0"/>
              <a:t>1</a:t>
            </a:r>
          </a:p>
          <a:p>
            <a:r>
              <a:rPr lang="en-US" sz="2400" dirty="0" smtClean="0"/>
              <a:t>All </a:t>
            </a:r>
            <a:r>
              <a:rPr lang="en-US" sz="2400" dirty="0"/>
              <a:t>others = </a:t>
            </a:r>
            <a:r>
              <a:rPr lang="en-US" sz="2400" dirty="0" smtClean="0"/>
              <a:t>0</a:t>
            </a:r>
          </a:p>
          <a:p>
            <a:r>
              <a:rPr lang="en-US" sz="2400" dirty="0"/>
              <a:t> So OHE represents </a:t>
            </a:r>
            <a:r>
              <a:rPr lang="en-US" sz="2400" b="1" dirty="0"/>
              <a:t>a single word</a:t>
            </a:r>
            <a:r>
              <a:rPr lang="en-US" sz="2400" dirty="0"/>
              <a:t>.</a:t>
            </a:r>
          </a:p>
          <a:p>
            <a:endParaRPr lang="en-US" sz="24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98120"/>
            <a:ext cx="8596668" cy="1320800"/>
          </a:xfrm>
        </p:spPr>
        <p:txBody>
          <a:bodyPr/>
          <a:lstStyle/>
          <a:p>
            <a:r>
              <a:rPr lang="en-US" b="1" dirty="0"/>
              <a:t>Limitation of OHE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" y="1185229"/>
            <a:ext cx="9982200" cy="548989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Cannot represent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full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sentence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directly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like this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product 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OHE gives 4 separate vectors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does not combine them into one document representation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 frequency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good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OHE treats each word independently.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does not capture repetition.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Very High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Dimensional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vocabulary = 50,000 words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word vector = length 50,000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Huge sparse vectors.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53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094" y="331789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semantic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</a:p>
          <a:p>
            <a:r>
              <a:rPr lang="en-US" sz="2400" dirty="0"/>
              <a:t>Distance between: </a:t>
            </a:r>
            <a:r>
              <a:rPr lang="en-US" sz="2400" dirty="0" smtClean="0"/>
              <a:t>good and excellent</a:t>
            </a:r>
            <a:endParaRPr lang="en-US" sz="2400" dirty="0"/>
          </a:p>
          <a:p>
            <a:r>
              <a:rPr lang="en-US" sz="2400" dirty="0"/>
              <a:t>Same as: </a:t>
            </a:r>
            <a:r>
              <a:rPr lang="en-US" sz="2400" dirty="0" smtClean="0"/>
              <a:t>good and table</a:t>
            </a:r>
            <a:endParaRPr lang="en-US" sz="2400" dirty="0"/>
          </a:p>
          <a:p>
            <a:r>
              <a:rPr lang="en-US" sz="2400" dirty="0"/>
              <a:t>No meaning captured</a:t>
            </a:r>
            <a:r>
              <a:rPr lang="en-US" sz="2400" dirty="0" smtClean="0"/>
              <a:t>.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 lead to new approach named as bag of word (BOW)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58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Bag of Words (</a:t>
            </a:r>
            <a:r>
              <a:rPr lang="en-US" b="1" dirty="0" err="1"/>
              <a:t>BoW</a:t>
            </a:r>
            <a:r>
              <a:rPr lang="en-US" b="1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934" y="1398589"/>
            <a:ext cx="10021146" cy="388077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Instead of encoding single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word, We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encode entire document as a vector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Vocabulary: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[I, like, this, product, do, not, think, good, amazing, regret, buy, me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-US" sz="2400" dirty="0"/>
              <a:t>Document example</a:t>
            </a:r>
            <a:r>
              <a:rPr lang="en-US" sz="2400" dirty="0" smtClean="0"/>
              <a:t>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like this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Vector becomes:[1 1 1 1 0 0 0 0 0 0 0 0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Do not buy this product : [0 0 1 1 1 1 0 0 0 0 1 0]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56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Sparse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4" y="1474789"/>
            <a:ext cx="8596668" cy="3880773"/>
          </a:xfrm>
        </p:spPr>
        <p:txBody>
          <a:bodyPr/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values are 0.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That’s why it is called: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Sparse Matrix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Efficient storage used in NLP.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8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Bag of Words is Better than OHE?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717837"/>
              </p:ext>
            </p:extLst>
          </p:nvPr>
        </p:nvGraphicFramePr>
        <p:xfrm>
          <a:off x="677334" y="1691640"/>
          <a:ext cx="8596312" cy="3672840"/>
        </p:xfrm>
        <a:graphic>
          <a:graphicData uri="http://schemas.openxmlformats.org/drawingml/2006/table">
            <a:tbl>
              <a:tblPr/>
              <a:tblGrid>
                <a:gridCol w="4298156"/>
                <a:gridCol w="4298156"/>
              </a:tblGrid>
              <a:tr h="828040">
                <a:tc>
                  <a:txBody>
                    <a:bodyPr/>
                    <a:lstStyle/>
                    <a:p>
                      <a:r>
                        <a:rPr lang="en-US" sz="2400" b="1" dirty="0"/>
                        <a:t>OHE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Bag of Words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sz="2400" dirty="0"/>
                        <a:t>Single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Whole document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sz="2400" dirty="0"/>
                        <a:t>No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Captures frequency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sz="2400"/>
                        <a:t>Cannot train NB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Perfect for NB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sz="2400"/>
                        <a:t>Very 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Practical for 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23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Using Bag of Words for Sentiment Analysis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33494" y="1930400"/>
            <a:ext cx="342222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Positive reviews: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like this product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Amazing product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Negative reviews: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 not buy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regret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8160" y="193040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After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BoW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conversion: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Each document → numeric vector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Now we can compute: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word∣Positive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word∣Negative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Exactly like Play Tennis example.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61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854" y="147733"/>
            <a:ext cx="8596668" cy="1320800"/>
          </a:xfrm>
        </p:spPr>
        <p:txBody>
          <a:bodyPr/>
          <a:lstStyle/>
          <a:p>
            <a:r>
              <a:rPr lang="en-US" b="1" dirty="0"/>
              <a:t>How Naive Bayes Uses </a:t>
            </a:r>
            <a:r>
              <a:rPr lang="en-US" b="1" dirty="0" err="1"/>
              <a:t>BoW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46854" y="1229218"/>
            <a:ext cx="71712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a new review: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like this amazing product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 compute: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Positive∣X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∝ P(Positive)∏P(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wordi∣Positive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Words like 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Like,amazing,product</a:t>
            </a:r>
            <a:endParaRPr lang="en-US" altLang="en-US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Have higher probability in positive class.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 posterior becomes larger.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777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Naive Bayes Works Well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88149"/>
            <a:ext cx="9259146" cy="3880773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Even though independence assumption is false: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 dimensional data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Sparse matrix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That’s why Multinomial Naive Bayes is very powerful for text.</a:t>
            </a:r>
          </a:p>
        </p:txBody>
      </p:sp>
    </p:spTree>
    <p:extLst>
      <p:ext uri="{BB962C8B-B14F-4D97-AF65-F5344CB8AC3E}">
        <p14:creationId xmlns:p14="http://schemas.microsoft.com/office/powerpoint/2010/main" val="122758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TF-IDF as an Improvement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09694" y="1468533"/>
            <a:ext cx="1082886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Question can be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“But what if common words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dominate?Can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reduce their importance?”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 smtClean="0">
                <a:solidFill>
                  <a:schemeClr val="tx1"/>
                </a:solidFill>
                <a:latin typeface="Arial" panose="020B0604020202020204" pitchFamily="34" charset="0"/>
              </a:rPr>
              <a:t>The answer is TFIDF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258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315" y="259080"/>
            <a:ext cx="8786706" cy="1320800"/>
          </a:xfrm>
        </p:spPr>
        <p:txBody>
          <a:bodyPr/>
          <a:lstStyle/>
          <a:p>
            <a:r>
              <a:rPr lang="en-US" b="1" dirty="0"/>
              <a:t>TF–IDF (Term Frequency – Inverse Document Frequency)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315" y="1733869"/>
            <a:ext cx="8596668" cy="175609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TF–IDF is a numerical representation of text that reflects: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important a word is in a document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Relative to the entire corpus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26" y="3489960"/>
            <a:ext cx="7487954" cy="318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7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284901"/>
            <a:ext cx="8596668" cy="1320800"/>
          </a:xfrm>
        </p:spPr>
        <p:txBody>
          <a:bodyPr/>
          <a:lstStyle/>
          <a:p>
            <a:r>
              <a:rPr lang="en-US" b="1" dirty="0" smtClean="0"/>
              <a:t>Term </a:t>
            </a:r>
            <a:r>
              <a:rPr lang="en-US" b="1" dirty="0"/>
              <a:t>Frequency (TF)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96" y="1178981"/>
            <a:ext cx="9066741" cy="43836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81" y="5400043"/>
            <a:ext cx="8982556" cy="111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2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Document Frequency (DF)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27189"/>
            <a:ext cx="9091506" cy="71977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DF(t)=Number of documents containing term 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7334" y="234696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Inverse Document Frequency (IDF)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10" y="3344229"/>
            <a:ext cx="7358430" cy="327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7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TF–IDF Formula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92" y="2098228"/>
            <a:ext cx="8845351" cy="285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7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014" y="304800"/>
            <a:ext cx="8596668" cy="1320800"/>
          </a:xfrm>
        </p:spPr>
        <p:txBody>
          <a:bodyPr/>
          <a:lstStyle/>
          <a:p>
            <a:r>
              <a:rPr lang="en-US" b="1" dirty="0"/>
              <a:t>Numerical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14" y="1282809"/>
            <a:ext cx="7904802" cy="435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8" y="357752"/>
            <a:ext cx="6771763" cy="634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55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48" y="502919"/>
            <a:ext cx="8395712" cy="525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67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32" y="509339"/>
            <a:ext cx="8497628" cy="560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2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24" y="429348"/>
            <a:ext cx="9201797" cy="508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93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814" y="213360"/>
            <a:ext cx="8596668" cy="1320800"/>
          </a:xfrm>
        </p:spPr>
        <p:txBody>
          <a:bodyPr/>
          <a:lstStyle/>
          <a:p>
            <a:r>
              <a:rPr lang="en-US" b="1" dirty="0"/>
              <a:t>Why This Helps in Sentiment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14" y="1534159"/>
            <a:ext cx="4077546" cy="26345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099" y="1534159"/>
            <a:ext cx="3585383" cy="25196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98895" y="5606534"/>
            <a:ext cx="55980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 they influence classification more.</a:t>
            </a:r>
          </a:p>
        </p:txBody>
      </p:sp>
    </p:spTree>
    <p:extLst>
      <p:ext uri="{BB962C8B-B14F-4D97-AF65-F5344CB8AC3E}">
        <p14:creationId xmlns:p14="http://schemas.microsoft.com/office/powerpoint/2010/main" val="63970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Matrix Representation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76" y="1930400"/>
            <a:ext cx="9297984" cy="177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9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174" y="1520509"/>
            <a:ext cx="8596668" cy="46974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sentiment analysis: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Try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both: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CountVectorizer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MultinomialNB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TfidfVectorizer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MultinomialNB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Compare accuracy.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Very often TF-IDF performs slightly better.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72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TF-IDF Is Helpful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734" y="1611949"/>
            <a:ext cx="4428066" cy="4849811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If dataset has many common words: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good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buy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movie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TF-IDF reduces their dominance.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50080" y="1611949"/>
            <a:ext cx="5250642" cy="334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Gives importance to rare but meaningful words like: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excellent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horrible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regret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outstanding</a:t>
            </a:r>
          </a:p>
        </p:txBody>
      </p:sp>
    </p:spTree>
    <p:extLst>
      <p:ext uri="{BB962C8B-B14F-4D97-AF65-F5344CB8AC3E}">
        <p14:creationId xmlns:p14="http://schemas.microsoft.com/office/powerpoint/2010/main" val="198459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Takeaways – Naive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414" y="1383349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Naive Bayes is a </a:t>
            </a:r>
            <a:r>
              <a:rPr lang="en-US" sz="2400" b="1" dirty="0"/>
              <a:t>probabilistic generative </a:t>
            </a:r>
            <a:r>
              <a:rPr lang="en-US" sz="2400" b="1" dirty="0" smtClean="0"/>
              <a:t>classifier</a:t>
            </a:r>
            <a:endParaRPr lang="en-US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Based </a:t>
            </a:r>
            <a:r>
              <a:rPr lang="en-US" sz="2400" dirty="0"/>
              <a:t>on Bayes Theorem and independence </a:t>
            </a:r>
            <a:r>
              <a:rPr lang="en-US" sz="2400" dirty="0" smtClean="0"/>
              <a:t>assumption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Works </a:t>
            </a:r>
            <a:r>
              <a:rPr lang="en-US" sz="2400" dirty="0"/>
              <a:t>extremely well for </a:t>
            </a:r>
            <a:r>
              <a:rPr lang="en-US" sz="2400" b="1" dirty="0"/>
              <a:t>high-dimensional sparse </a:t>
            </a:r>
            <a:r>
              <a:rPr lang="en-US" sz="2400" b="1" dirty="0" smtClean="0"/>
              <a:t>data</a:t>
            </a:r>
            <a:endParaRPr lang="en-US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Requires </a:t>
            </a:r>
            <a:r>
              <a:rPr lang="en-US" sz="2400" dirty="0"/>
              <a:t>small training </a:t>
            </a:r>
            <a:r>
              <a:rPr lang="en-US" sz="2400" dirty="0" smtClean="0"/>
              <a:t>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Computationally </a:t>
            </a:r>
            <a:r>
              <a:rPr lang="en-US" sz="2400" dirty="0"/>
              <a:t>efficient</a:t>
            </a:r>
          </a:p>
        </p:txBody>
      </p:sp>
    </p:spTree>
    <p:extLst>
      <p:ext uri="{BB962C8B-B14F-4D97-AF65-F5344CB8AC3E}">
        <p14:creationId xmlns:p14="http://schemas.microsoft.com/office/powerpoint/2010/main" val="15810712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20040" y="68830"/>
            <a:ext cx="2624436" cy="2239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Tabular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Simple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Fast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Baseline model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810000" y="-69670"/>
            <a:ext cx="7171387" cy="2378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Text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Multinomial NB is powerful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Works well with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TF-IDF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Surprisingly effective despite wrong assumptions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37160" y="2275330"/>
            <a:ext cx="6999032" cy="2239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Independence assumption unrealistic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Cannot capture feature interactions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 Probability estimates not always well calibrated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7700493" y="3803802"/>
            <a:ext cx="3752950" cy="2932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To Use It?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Spam detection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Sentiment analysis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Document classification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As a baseline model</a:t>
            </a:r>
          </a:p>
        </p:txBody>
      </p:sp>
    </p:spTree>
    <p:extLst>
      <p:ext uri="{BB962C8B-B14F-4D97-AF65-F5344CB8AC3E}">
        <p14:creationId xmlns:p14="http://schemas.microsoft.com/office/powerpoint/2010/main" val="4489831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387774" y="1052428"/>
            <a:ext cx="10357323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Thought: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 is simple, but simplicity does not mean weakness.</a:t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high-dimensional problems, it is often surprisingly powerful.</a:t>
            </a:r>
          </a:p>
        </p:txBody>
      </p:sp>
    </p:spTree>
    <p:extLst>
      <p:ext uri="{BB962C8B-B14F-4D97-AF65-F5344CB8AC3E}">
        <p14:creationId xmlns:p14="http://schemas.microsoft.com/office/powerpoint/2010/main" val="7668393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3243</TotalTime>
  <Words>1681</Words>
  <Application>Microsoft Office PowerPoint</Application>
  <PresentationFormat>Widescreen</PresentationFormat>
  <Paragraphs>432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9" baseType="lpstr">
      <vt:lpstr>Arial</vt:lpstr>
      <vt:lpstr>Trebuchet MS</vt:lpstr>
      <vt:lpstr>Wingdings</vt:lpstr>
      <vt:lpstr>Wingdings 3</vt:lpstr>
      <vt:lpstr>Facet</vt:lpstr>
      <vt:lpstr>Naïve Bayes</vt:lpstr>
      <vt:lpstr>Before starting remember two things</vt:lpstr>
      <vt:lpstr>Proof of Bayes’ Theorem</vt:lpstr>
      <vt:lpstr>Bayes Theorem</vt:lpstr>
      <vt:lpstr>Step 1: Conditional Probability</vt:lpstr>
      <vt:lpstr>PowerPoint Presentation</vt:lpstr>
      <vt:lpstr>Step 2: Important Observation</vt:lpstr>
      <vt:lpstr>Step 3: Rearranging the First Equation</vt:lpstr>
      <vt:lpstr>PowerPoint Presentation</vt:lpstr>
      <vt:lpstr>Step 4: Since Both Right Sides Are Equal</vt:lpstr>
      <vt:lpstr>PowerPoint Presentation</vt:lpstr>
      <vt:lpstr>Step 5: Solve for P(A∣B)</vt:lpstr>
      <vt:lpstr>Intuition Behind It</vt:lpstr>
      <vt:lpstr>In Naive Bayes Context</vt:lpstr>
      <vt:lpstr>Problem Setup</vt:lpstr>
      <vt:lpstr>What is X=(x1,x2,...,xn)?</vt:lpstr>
      <vt:lpstr>What is Y ∈ {C1,C2,...,Ck} ?</vt:lpstr>
      <vt:lpstr>What Are We Trying To Compute? P(Y∣X)</vt:lpstr>
      <vt:lpstr>Example:</vt:lpstr>
      <vt:lpstr>Why Do We Take argmax?</vt:lpstr>
      <vt:lpstr>In naïve bayes:</vt:lpstr>
      <vt:lpstr>We Ignore Evidence</vt:lpstr>
      <vt:lpstr>Naive Independence Assumption</vt:lpstr>
      <vt:lpstr>Play Tennis Dataset </vt:lpstr>
      <vt:lpstr>Dataset</vt:lpstr>
      <vt:lpstr>Step 1 : Compute Priors </vt:lpstr>
      <vt:lpstr>Step 2: Convert Dataset Into Conditional Tables</vt:lpstr>
      <vt:lpstr>Temperature:</vt:lpstr>
      <vt:lpstr>Humidity</vt:lpstr>
      <vt:lpstr>Windy</vt:lpstr>
      <vt:lpstr>Step 3: Apply Naive Bayes Formula</vt:lpstr>
      <vt:lpstr>PowerPoint Presentation</vt:lpstr>
      <vt:lpstr>Step 5: Compare</vt:lpstr>
      <vt:lpstr>Introduce Laplace Smoothing</vt:lpstr>
      <vt:lpstr>Step 1: Identify the Problem</vt:lpstr>
      <vt:lpstr>Step 2: Apply Laplace Smoothing</vt:lpstr>
      <vt:lpstr>For Clothes Feature</vt:lpstr>
      <vt:lpstr>PowerPoint Presentation</vt:lpstr>
      <vt:lpstr>Step 3: Other Probabilities</vt:lpstr>
      <vt:lpstr>Step 4: Compute Posterior for Yes</vt:lpstr>
      <vt:lpstr>Step 5: Compute Posterior for No</vt:lpstr>
      <vt:lpstr>Step 6: Compare</vt:lpstr>
      <vt:lpstr>Overfitting and Underfitting</vt:lpstr>
      <vt:lpstr>What is Overfitting? and How Can NB Over fit ?</vt:lpstr>
      <vt:lpstr>2. Very small smoothing (α ≈ 0)</vt:lpstr>
      <vt:lpstr>What is Underfitting in Naive Bayes</vt:lpstr>
      <vt:lpstr>Very large smoothing (α very high)</vt:lpstr>
      <vt:lpstr>Naïve Bayes for Sentiment Analysis  Text → OHE → Sparse Matrix → Bag of Words → Naive Bayes for Sentiment.</vt:lpstr>
      <vt:lpstr>For text Data</vt:lpstr>
      <vt:lpstr>Limitation of OHE</vt:lpstr>
      <vt:lpstr>PowerPoint Presentation</vt:lpstr>
      <vt:lpstr>Bag of Words (BoW)</vt:lpstr>
      <vt:lpstr>Sparse Matrix</vt:lpstr>
      <vt:lpstr>Why Bag of Words is Better than OHE?</vt:lpstr>
      <vt:lpstr>Using Bag of Words for Sentiment Analysis</vt:lpstr>
      <vt:lpstr>How Naive Bayes Uses BoW</vt:lpstr>
      <vt:lpstr>Why Naive Bayes Works Well in NLP</vt:lpstr>
      <vt:lpstr>TF-IDF as an Improvement</vt:lpstr>
      <vt:lpstr>TF–IDF (Term Frequency – Inverse Document Frequency)</vt:lpstr>
      <vt:lpstr>Term Frequency (TF)</vt:lpstr>
      <vt:lpstr>Document Frequency (DF) </vt:lpstr>
      <vt:lpstr>TF–IDF Formula</vt:lpstr>
      <vt:lpstr>Numerical Example</vt:lpstr>
      <vt:lpstr>PowerPoint Presentation</vt:lpstr>
      <vt:lpstr>PowerPoint Presentation</vt:lpstr>
      <vt:lpstr>PowerPoint Presentation</vt:lpstr>
      <vt:lpstr>PowerPoint Presentation</vt:lpstr>
      <vt:lpstr>Why This Helps in Sentiment Analysis</vt:lpstr>
      <vt:lpstr>Final Matrix Representation</vt:lpstr>
      <vt:lpstr>Practical Recommendation</vt:lpstr>
      <vt:lpstr>When TF-IDF Is Helpful</vt:lpstr>
      <vt:lpstr>Final Takeaways – Naive Bayes</vt:lpstr>
      <vt:lpstr>PowerPoint Presentation</vt:lpstr>
      <vt:lpstr> Final Thought: Naive Bayes is simple, but simplicity does not mean weakness. In high-dimensional problems, it is often surprisingly powerful.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Naïve Bayes</dc:title>
  <dc:creator>PANKAJ SHARMA</dc:creator>
  <cp:lastModifiedBy>Microsoft account</cp:lastModifiedBy>
  <cp:revision>29</cp:revision>
  <dcterms:created xsi:type="dcterms:W3CDTF">2025-02-26T03:09:24Z</dcterms:created>
  <dcterms:modified xsi:type="dcterms:W3CDTF">2026-02-26T11:14:36Z</dcterms:modified>
</cp:coreProperties>
</file>