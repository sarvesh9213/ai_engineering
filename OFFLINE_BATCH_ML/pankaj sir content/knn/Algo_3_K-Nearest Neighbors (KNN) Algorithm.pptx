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6" r:id="rId1"/>
  </p:sldMasterIdLst>
  <p:sldIdLst>
    <p:sldId id="256" r:id="rId2"/>
    <p:sldId id="257" r:id="rId3"/>
    <p:sldId id="264" r:id="rId4"/>
    <p:sldId id="293" r:id="rId5"/>
    <p:sldId id="265" r:id="rId6"/>
    <p:sldId id="295" r:id="rId7"/>
    <p:sldId id="297" r:id="rId8"/>
    <p:sldId id="298" r:id="rId9"/>
    <p:sldId id="310" r:id="rId10"/>
    <p:sldId id="309" r:id="rId11"/>
    <p:sldId id="301" r:id="rId12"/>
    <p:sldId id="302" r:id="rId13"/>
    <p:sldId id="305" r:id="rId14"/>
    <p:sldId id="304" r:id="rId15"/>
    <p:sldId id="306" r:id="rId16"/>
    <p:sldId id="303" r:id="rId17"/>
    <p:sldId id="307" r:id="rId18"/>
    <p:sldId id="308" r:id="rId19"/>
    <p:sldId id="311" r:id="rId20"/>
    <p:sldId id="312" r:id="rId21"/>
    <p:sldId id="313" r:id="rId22"/>
    <p:sldId id="280" r:id="rId23"/>
    <p:sldId id="314" r:id="rId24"/>
    <p:sldId id="315" r:id="rId25"/>
    <p:sldId id="316" r:id="rId26"/>
    <p:sldId id="318" r:id="rId27"/>
    <p:sldId id="317" r:id="rId28"/>
    <p:sldId id="281" r:id="rId29"/>
    <p:sldId id="319" r:id="rId30"/>
    <p:sldId id="320" r:id="rId31"/>
    <p:sldId id="321" r:id="rId32"/>
    <p:sldId id="324" r:id="rId33"/>
    <p:sldId id="325" r:id="rId34"/>
    <p:sldId id="288" r:id="rId35"/>
    <p:sldId id="291" r:id="rId36"/>
    <p:sldId id="258" r:id="rId37"/>
    <p:sldId id="322" r:id="rId38"/>
    <p:sldId id="323" r:id="rId39"/>
    <p:sldId id="336" r:id="rId40"/>
    <p:sldId id="337" r:id="rId41"/>
    <p:sldId id="338" r:id="rId42"/>
    <p:sldId id="261" r:id="rId43"/>
    <p:sldId id="292" r:id="rId44"/>
    <p:sldId id="326" r:id="rId45"/>
    <p:sldId id="327" r:id="rId46"/>
    <p:sldId id="328" r:id="rId47"/>
    <p:sldId id="329" r:id="rId48"/>
    <p:sldId id="330" r:id="rId49"/>
    <p:sldId id="332" r:id="rId50"/>
    <p:sldId id="333" r:id="rId51"/>
    <p:sldId id="334" r:id="rId52"/>
    <p:sldId id="335" r:id="rId53"/>
    <p:sldId id="331" r:id="rId5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0" d="100"/>
          <a:sy n="80" d="100"/>
        </p:scale>
        <p:origin x="1450" y="53"/>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8466" y="-8468"/>
            <a:ext cx="9169804" cy="6874935"/>
            <a:chOff x="-8466" y="-8468"/>
            <a:chExt cx="9169804" cy="6874935"/>
          </a:xfrm>
        </p:grpSpPr>
        <p:cxnSp>
          <p:nvCxnSpPr>
            <p:cNvPr id="17" name="Straight Connector 16"/>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9" name="Freeform 18"/>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0" name="Freeform 19"/>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1" name="Freeform 20"/>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21"/>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Freeform 22"/>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Freeform 23"/>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Freeform 24"/>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Freeform 27"/>
            <p:cNvSpPr/>
            <p:nvPr/>
          </p:nvSpPr>
          <p:spPr>
            <a:xfrm>
              <a:off x="-8466" y="-8468"/>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130595" y="2404534"/>
            <a:ext cx="5826719" cy="1646302"/>
          </a:xfrm>
        </p:spPr>
        <p:txBody>
          <a:bodyPr anchor="b">
            <a:noAutofit/>
          </a:bodyPr>
          <a:lstStyle>
            <a:lvl1pPr algn="r">
              <a:defRPr sz="5400">
                <a:solidFill>
                  <a:schemeClr val="accent1"/>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130595" y="4050834"/>
            <a:ext cx="5826719"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9FA5D332-9FAE-46EC-9CA3-A568BC5646F8}" type="datetimeFigureOut">
              <a:rPr lang="en-US" smtClean="0"/>
              <a:t>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0D66EFA-1B58-45B7-9EFB-76FBAD19AA57}" type="slidenum">
              <a:rPr lang="en-US" smtClean="0"/>
              <a:t>‹#›</a:t>
            </a:fld>
            <a:endParaRPr lang="en-US"/>
          </a:p>
        </p:txBody>
      </p:sp>
    </p:spTree>
    <p:extLst>
      <p:ext uri="{BB962C8B-B14F-4D97-AF65-F5344CB8AC3E}">
        <p14:creationId xmlns:p14="http://schemas.microsoft.com/office/powerpoint/2010/main" val="14186349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9FA5D332-9FAE-46EC-9CA3-A568BC5646F8}" type="datetimeFigureOut">
              <a:rPr lang="en-US" smtClean="0"/>
              <a:t>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0D66EFA-1B58-45B7-9EFB-76FBAD19AA57}" type="slidenum">
              <a:rPr lang="en-US" smtClean="0"/>
              <a:t>‹#›</a:t>
            </a:fld>
            <a:endParaRPr lang="en-US"/>
          </a:p>
        </p:txBody>
      </p:sp>
    </p:spTree>
    <p:extLst>
      <p:ext uri="{BB962C8B-B14F-4D97-AF65-F5344CB8AC3E}">
        <p14:creationId xmlns:p14="http://schemas.microsoft.com/office/powerpoint/2010/main" val="35696156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09598" y="2700868"/>
            <a:ext cx="6347715" cy="1826581"/>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09598" y="4527448"/>
            <a:ext cx="6347715"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9FA5D332-9FAE-46EC-9CA3-A568BC5646F8}" type="datetimeFigureOut">
              <a:rPr lang="en-US" smtClean="0"/>
              <a:t>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0D66EFA-1B58-45B7-9EFB-76FBAD19AA57}" type="slidenum">
              <a:rPr lang="en-US" smtClean="0"/>
              <a:t>‹#›</a:t>
            </a:fld>
            <a:endParaRPr lang="en-US"/>
          </a:p>
        </p:txBody>
      </p:sp>
    </p:spTree>
    <p:extLst>
      <p:ext uri="{BB962C8B-B14F-4D97-AF65-F5344CB8AC3E}">
        <p14:creationId xmlns:p14="http://schemas.microsoft.com/office/powerpoint/2010/main" val="30753831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1320800"/>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09600" y="2160589"/>
            <a:ext cx="3088109" cy="3880772"/>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3869204" y="2160590"/>
            <a:ext cx="3088110" cy="388077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9FA5D332-9FAE-46EC-9CA3-A568BC5646F8}" type="datetimeFigureOut">
              <a:rPr lang="en-US" smtClean="0"/>
              <a:t>1/13/2025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0D66EFA-1B58-45B7-9EFB-76FBAD19AA57}" type="slidenum">
              <a:rPr lang="en-US" smtClean="0"/>
              <a:t>‹#›</a:t>
            </a:fld>
            <a:endParaRPr lang="en-US"/>
          </a:p>
        </p:txBody>
      </p:sp>
    </p:spTree>
    <p:extLst>
      <p:ext uri="{BB962C8B-B14F-4D97-AF65-F5344CB8AC3E}">
        <p14:creationId xmlns:p14="http://schemas.microsoft.com/office/powerpoint/2010/main" val="12384239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3" cy="1320800"/>
          </a:xfrm>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609599"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09599" y="2737246"/>
            <a:ext cx="3090672" cy="330411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3866640"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3866640" y="2737246"/>
            <a:ext cx="3090672" cy="330411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9FA5D332-9FAE-46EC-9CA3-A568BC5646F8}" type="datetimeFigureOut">
              <a:rPr lang="en-US" smtClean="0"/>
              <a:t>1/13/2025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0D66EFA-1B58-45B7-9EFB-76FBAD19AA57}" type="slidenum">
              <a:rPr lang="en-US" smtClean="0"/>
              <a:t>‹#›</a:t>
            </a:fld>
            <a:endParaRPr lang="en-US"/>
          </a:p>
        </p:txBody>
      </p:sp>
    </p:spTree>
    <p:extLst>
      <p:ext uri="{BB962C8B-B14F-4D97-AF65-F5344CB8AC3E}">
        <p14:creationId xmlns:p14="http://schemas.microsoft.com/office/powerpoint/2010/main" val="10081039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4" cy="1320800"/>
          </a:xfrm>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9FA5D332-9FAE-46EC-9CA3-A568BC5646F8}" type="datetimeFigureOut">
              <a:rPr lang="en-US" smtClean="0"/>
              <a:t>1/13/2025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0D66EFA-1B58-45B7-9EFB-76FBAD19AA57}" type="slidenum">
              <a:rPr lang="en-US" smtClean="0"/>
              <a:t>‹#›</a:t>
            </a:fld>
            <a:endParaRPr lang="en-US"/>
          </a:p>
        </p:txBody>
      </p:sp>
    </p:spTree>
    <p:extLst>
      <p:ext uri="{BB962C8B-B14F-4D97-AF65-F5344CB8AC3E}">
        <p14:creationId xmlns:p14="http://schemas.microsoft.com/office/powerpoint/2010/main" val="20202252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FA5D332-9FAE-46EC-9CA3-A568BC5646F8}" type="datetimeFigureOut">
              <a:rPr lang="en-US" smtClean="0"/>
              <a:t>1/13/2025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0D66EFA-1B58-45B7-9EFB-76FBAD19AA57}" type="slidenum">
              <a:rPr lang="en-US" smtClean="0"/>
              <a:t>‹#›</a:t>
            </a:fld>
            <a:endParaRPr lang="en-US"/>
          </a:p>
        </p:txBody>
      </p:sp>
    </p:spTree>
    <p:extLst>
      <p:ext uri="{BB962C8B-B14F-4D97-AF65-F5344CB8AC3E}">
        <p14:creationId xmlns:p14="http://schemas.microsoft.com/office/powerpoint/2010/main" val="40940383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1498604"/>
            <a:ext cx="2790182" cy="1278466"/>
          </a:xfrm>
        </p:spPr>
        <p:txBody>
          <a:bodyPr anchor="b">
            <a:normAutofit/>
          </a:bodyPr>
          <a:lstStyle>
            <a:lvl1pPr>
              <a:defRPr sz="2000"/>
            </a:lvl1pPr>
          </a:lstStyle>
          <a:p>
            <a:r>
              <a:rPr lang="en-US" smtClean="0"/>
              <a:t>Click to edit Master title style</a:t>
            </a:r>
            <a:endParaRPr lang="en-US" dirty="0"/>
          </a:p>
        </p:txBody>
      </p:sp>
      <p:sp>
        <p:nvSpPr>
          <p:cNvPr id="3" name="Content Placeholder 2"/>
          <p:cNvSpPr>
            <a:spLocks noGrp="1"/>
          </p:cNvSpPr>
          <p:nvPr>
            <p:ph idx="1"/>
          </p:nvPr>
        </p:nvSpPr>
        <p:spPr>
          <a:xfrm>
            <a:off x="3571275" y="514925"/>
            <a:ext cx="3386037" cy="552643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09599" y="2777069"/>
            <a:ext cx="2790182" cy="2584449"/>
          </a:xfrm>
        </p:spPr>
        <p:txBody>
          <a:bodyPr>
            <a:normAutofit/>
          </a:bodyPr>
          <a:lstStyle>
            <a:lvl1pPr marL="0" indent="0">
              <a:buNone/>
              <a:defRPr sz="14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FA5D332-9FAE-46EC-9CA3-A568BC5646F8}" type="datetimeFigureOut">
              <a:rPr lang="en-US" smtClean="0"/>
              <a:t>1/13/2025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0D66EFA-1B58-45B7-9EFB-76FBAD19AA57}" type="slidenum">
              <a:rPr lang="en-US" smtClean="0"/>
              <a:t>‹#›</a:t>
            </a:fld>
            <a:endParaRPr lang="en-US"/>
          </a:p>
        </p:txBody>
      </p:sp>
    </p:spTree>
    <p:extLst>
      <p:ext uri="{BB962C8B-B14F-4D97-AF65-F5344CB8AC3E}">
        <p14:creationId xmlns:p14="http://schemas.microsoft.com/office/powerpoint/2010/main" val="17408910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4800600"/>
            <a:ext cx="6347714"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09599" y="609600"/>
            <a:ext cx="6347714"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609599" y="5367338"/>
            <a:ext cx="6347714"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FA5D332-9FAE-46EC-9CA3-A568BC5646F8}" type="datetimeFigureOut">
              <a:rPr lang="en-US" smtClean="0"/>
              <a:t>1/13/2025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0D66EFA-1B58-45B7-9EFB-76FBAD19AA57}" type="slidenum">
              <a:rPr lang="en-US" smtClean="0"/>
              <a:t>‹#›</a:t>
            </a:fld>
            <a:endParaRPr lang="en-US"/>
          </a:p>
        </p:txBody>
      </p:sp>
    </p:spTree>
    <p:extLst>
      <p:ext uri="{BB962C8B-B14F-4D97-AF65-F5344CB8AC3E}">
        <p14:creationId xmlns:p14="http://schemas.microsoft.com/office/powerpoint/2010/main" val="4988424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3403600"/>
          </a:xfrm>
        </p:spPr>
        <p:txBody>
          <a:bodyPr anchor="ctr">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09600" y="4470400"/>
            <a:ext cx="6347714"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9FA5D332-9FAE-46EC-9CA3-A568BC5646F8}" type="datetimeFigureOut">
              <a:rPr lang="en-US" smtClean="0"/>
              <a:t>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0D66EFA-1B58-45B7-9EFB-76FBAD19AA57}" type="slidenum">
              <a:rPr lang="en-US" smtClean="0"/>
              <a:t>‹#›</a:t>
            </a:fld>
            <a:endParaRPr lang="en-US"/>
          </a:p>
        </p:txBody>
      </p:sp>
    </p:spTree>
    <p:extLst>
      <p:ext uri="{BB962C8B-B14F-4D97-AF65-F5344CB8AC3E}">
        <p14:creationId xmlns:p14="http://schemas.microsoft.com/office/powerpoint/2010/main" val="11808289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1101074" y="3632200"/>
            <a:ext cx="541980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609598" y="4470400"/>
            <a:ext cx="6347715"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9FA5D332-9FAE-46EC-9CA3-A568BC5646F8}" type="datetimeFigureOut">
              <a:rPr lang="en-US" smtClean="0"/>
              <a:t>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0D66EFA-1B58-45B7-9EFB-76FBAD19AA57}" type="slidenum">
              <a:rPr lang="en-US" smtClean="0"/>
              <a:t>‹#›</a:t>
            </a:fld>
            <a:endParaRPr lang="en-US"/>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5475161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09598" y="1931988"/>
            <a:ext cx="6347715" cy="2595460"/>
          </a:xfrm>
        </p:spPr>
        <p:txBody>
          <a:bodyPr anchor="b">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9FA5D332-9FAE-46EC-9CA3-A568BC5646F8}" type="datetimeFigureOut">
              <a:rPr lang="en-US" smtClean="0"/>
              <a:t>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0D66EFA-1B58-45B7-9EFB-76FBAD19AA57}" type="slidenum">
              <a:rPr lang="en-US" smtClean="0"/>
              <a:t>‹#›</a:t>
            </a:fld>
            <a:endParaRPr lang="en-US"/>
          </a:p>
        </p:txBody>
      </p:sp>
    </p:spTree>
    <p:extLst>
      <p:ext uri="{BB962C8B-B14F-4D97-AF65-F5344CB8AC3E}">
        <p14:creationId xmlns:p14="http://schemas.microsoft.com/office/powerpoint/2010/main" val="139754905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9FA5D332-9FAE-46EC-9CA3-A568BC5646F8}" type="datetimeFigureOut">
              <a:rPr lang="en-US" smtClean="0"/>
              <a:t>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0D66EFA-1B58-45B7-9EFB-76FBAD19AA57}" type="slidenum">
              <a:rPr lang="en-US" smtClean="0"/>
              <a:t>‹#›</a:t>
            </a:fld>
            <a:endParaRPr lang="en-US"/>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02471060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15848" y="609600"/>
            <a:ext cx="6341465"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9FA5D332-9FAE-46EC-9CA3-A568BC5646F8}" type="datetimeFigureOut">
              <a:rPr lang="en-US" smtClean="0"/>
              <a:t>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0D66EFA-1B58-45B7-9EFB-76FBAD19AA57}" type="slidenum">
              <a:rPr lang="en-US" smtClean="0"/>
              <a:t>‹#›</a:t>
            </a:fld>
            <a:endParaRPr lang="en-US"/>
          </a:p>
        </p:txBody>
      </p:sp>
    </p:spTree>
    <p:extLst>
      <p:ext uri="{BB962C8B-B14F-4D97-AF65-F5344CB8AC3E}">
        <p14:creationId xmlns:p14="http://schemas.microsoft.com/office/powerpoint/2010/main" val="273432855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9FA5D332-9FAE-46EC-9CA3-A568BC5646F8}" type="datetimeFigureOut">
              <a:rPr lang="en-US" smtClean="0"/>
              <a:t>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0D66EFA-1B58-45B7-9EFB-76FBAD19AA57}" type="slidenum">
              <a:rPr lang="en-US" smtClean="0"/>
              <a:t>‹#›</a:t>
            </a:fld>
            <a:endParaRPr lang="en-US"/>
          </a:p>
        </p:txBody>
      </p:sp>
    </p:spTree>
    <p:extLst>
      <p:ext uri="{BB962C8B-B14F-4D97-AF65-F5344CB8AC3E}">
        <p14:creationId xmlns:p14="http://schemas.microsoft.com/office/powerpoint/2010/main" val="74669962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977312" y="609600"/>
            <a:ext cx="978812" cy="5251451"/>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09599" y="609600"/>
            <a:ext cx="5195026" cy="5251451"/>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9FA5D332-9FAE-46EC-9CA3-A568BC5646F8}" type="datetimeFigureOut">
              <a:rPr lang="en-US" smtClean="0"/>
              <a:t>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0D66EFA-1B58-45B7-9EFB-76FBAD19AA57}" type="slidenum">
              <a:rPr lang="en-US" smtClean="0"/>
              <a:t>‹#›</a:t>
            </a:fld>
            <a:endParaRPr lang="en-US"/>
          </a:p>
        </p:txBody>
      </p:sp>
    </p:spTree>
    <p:extLst>
      <p:ext uri="{BB962C8B-B14F-4D97-AF65-F5344CB8AC3E}">
        <p14:creationId xmlns:p14="http://schemas.microsoft.com/office/powerpoint/2010/main" val="7497579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17" name="Group 16"/>
          <p:cNvGrpSpPr/>
          <p:nvPr/>
        </p:nvGrpSpPr>
        <p:grpSpPr>
          <a:xfrm>
            <a:off x="-8467" y="-8468"/>
            <a:ext cx="9169805" cy="6874935"/>
            <a:chOff x="-8467" y="-8468"/>
            <a:chExt cx="9169805" cy="6874935"/>
          </a:xfrm>
        </p:grpSpPr>
        <p:sp>
          <p:nvSpPr>
            <p:cNvPr id="7" name="Freeform 6"/>
            <p:cNvSpPr/>
            <p:nvPr/>
          </p:nvSpPr>
          <p:spPr>
            <a:xfrm>
              <a:off x="-8467" y="4013200"/>
              <a:ext cx="457200" cy="2853267"/>
            </a:xfrm>
            <a:custGeom>
              <a:avLst/>
              <a:gdLst/>
              <a:ahLst/>
              <a:cxnLst/>
              <a:rect l="l" t="t" r="r" b="b"/>
              <a:pathLst>
                <a:path w="457200" h="2853267">
                  <a:moveTo>
                    <a:pt x="0" y="0"/>
                  </a:moveTo>
                  <a:lnTo>
                    <a:pt x="457200" y="2853267"/>
                  </a:lnTo>
                  <a:lnTo>
                    <a:pt x="0" y="2844800"/>
                  </a:lnTo>
                  <a:cubicBezTo>
                    <a:pt x="2822" y="1905000"/>
                    <a:pt x="5645" y="965200"/>
                    <a:pt x="0" y="0"/>
                  </a:cubicBez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8" name="Straight Connector 7"/>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0" name="Freeform 9"/>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10"/>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Freeform 11"/>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Freeform 12"/>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Freeform 13"/>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5" name="Freeform 14"/>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6" name="Freeform 15"/>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09599" y="609600"/>
            <a:ext cx="6347713" cy="132080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09599" y="2160590"/>
            <a:ext cx="6347714" cy="388077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5405258" y="6041363"/>
            <a:ext cx="684132"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9FA5D332-9FAE-46EC-9CA3-A568BC5646F8}" type="datetimeFigureOut">
              <a:rPr lang="en-US" smtClean="0"/>
              <a:t>1/13/2025</a:t>
            </a:fld>
            <a:endParaRPr lang="en-US"/>
          </a:p>
        </p:txBody>
      </p:sp>
      <p:sp>
        <p:nvSpPr>
          <p:cNvPr id="5" name="Footer Placeholder 4"/>
          <p:cNvSpPr>
            <a:spLocks noGrp="1"/>
          </p:cNvSpPr>
          <p:nvPr>
            <p:ph type="ftr" sz="quarter" idx="3"/>
          </p:nvPr>
        </p:nvSpPr>
        <p:spPr>
          <a:xfrm>
            <a:off x="609599" y="6041363"/>
            <a:ext cx="4622973"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44676" y="6041363"/>
            <a:ext cx="512638" cy="365125"/>
          </a:xfrm>
          <a:prstGeom prst="rect">
            <a:avLst/>
          </a:prstGeom>
        </p:spPr>
        <p:txBody>
          <a:bodyPr vert="horz" lIns="91440" tIns="45720" rIns="91440" bIns="45720" rtlCol="0" anchor="ctr"/>
          <a:lstStyle>
            <a:lvl1pPr algn="r">
              <a:defRPr sz="900">
                <a:solidFill>
                  <a:schemeClr val="accent1"/>
                </a:solidFill>
              </a:defRPr>
            </a:lvl1pPr>
          </a:lstStyle>
          <a:p>
            <a:fld id="{50D66EFA-1B58-45B7-9EFB-76FBAD19AA57}" type="slidenum">
              <a:rPr lang="en-US" smtClean="0"/>
              <a:t>‹#›</a:t>
            </a:fld>
            <a:endParaRPr lang="en-US"/>
          </a:p>
        </p:txBody>
      </p:sp>
    </p:spTree>
    <p:extLst>
      <p:ext uri="{BB962C8B-B14F-4D97-AF65-F5344CB8AC3E}">
        <p14:creationId xmlns:p14="http://schemas.microsoft.com/office/powerpoint/2010/main" val="1712338471"/>
      </p:ext>
    </p:extLst>
  </p:cSld>
  <p:clrMap bg1="lt1" tx1="dk1" bg2="lt2" tx2="dk2" accent1="accent1" accent2="accent2" accent3="accent3" accent4="accent4" accent5="accent5" accent6="accent6" hlink="hlink" folHlink="folHlink"/>
  <p:sldLayoutIdLst>
    <p:sldLayoutId id="2147483757" r:id="rId1"/>
    <p:sldLayoutId id="2147483758" r:id="rId2"/>
    <p:sldLayoutId id="2147483759" r:id="rId3"/>
    <p:sldLayoutId id="2147483760" r:id="rId4"/>
    <p:sldLayoutId id="2147483761" r:id="rId5"/>
    <p:sldLayoutId id="2147483762" r:id="rId6"/>
    <p:sldLayoutId id="2147483763" r:id="rId7"/>
    <p:sldLayoutId id="2147483764" r:id="rId8"/>
    <p:sldLayoutId id="2147483765" r:id="rId9"/>
    <p:sldLayoutId id="2147483766" r:id="rId10"/>
    <p:sldLayoutId id="2147483767" r:id="rId11"/>
    <p:sldLayoutId id="2147483768" r:id="rId12"/>
    <p:sldLayoutId id="2147483769" r:id="rId13"/>
    <p:sldLayoutId id="2147483770" r:id="rId14"/>
    <p:sldLayoutId id="2147483771" r:id="rId15"/>
    <p:sldLayoutId id="2147483772"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39553" y="2404534"/>
            <a:ext cx="6417762" cy="1646302"/>
          </a:xfrm>
        </p:spPr>
        <p:txBody>
          <a:bodyPr/>
          <a:lstStyle/>
          <a:p>
            <a:r>
              <a:rPr lang="en-US" sz="4000" b="1" dirty="0">
                <a:effectLst/>
              </a:rPr>
              <a:t>K-Nearest Neighbors (KNN</a:t>
            </a:r>
            <a:r>
              <a:rPr lang="en-US" sz="4000" b="1" dirty="0" smtClean="0">
                <a:effectLst/>
              </a:rPr>
              <a:t>)</a:t>
            </a:r>
            <a:endParaRPr lang="en-US" sz="4000" b="1" dirty="0">
              <a:effectLst/>
            </a:endParaRPr>
          </a:p>
        </p:txBody>
      </p:sp>
      <p:sp>
        <p:nvSpPr>
          <p:cNvPr id="3" name="Subtitle 2"/>
          <p:cNvSpPr>
            <a:spLocks noGrp="1"/>
          </p:cNvSpPr>
          <p:nvPr>
            <p:ph type="subTitle" idx="1"/>
          </p:nvPr>
        </p:nvSpPr>
        <p:spPr/>
        <p:txBody>
          <a:bodyPr/>
          <a:lstStyle/>
          <a:p>
            <a:r>
              <a:rPr lang="en-US" dirty="0" smtClean="0"/>
              <a:t>Popular in clinical sector</a:t>
            </a:r>
            <a:endParaRPr lang="en-US" dirty="0"/>
          </a:p>
        </p:txBody>
      </p:sp>
    </p:spTree>
    <p:extLst>
      <p:ext uri="{BB962C8B-B14F-4D97-AF65-F5344CB8AC3E}">
        <p14:creationId xmlns:p14="http://schemas.microsoft.com/office/powerpoint/2010/main" val="35664124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0904" y="91976"/>
            <a:ext cx="6347713" cy="672728"/>
          </a:xfrm>
        </p:spPr>
        <p:txBody>
          <a:bodyPr>
            <a:normAutofit fontScale="90000"/>
          </a:bodyPr>
          <a:lstStyle/>
          <a:p>
            <a:r>
              <a:rPr lang="en-US" b="1" dirty="0"/>
              <a:t>Introduction</a:t>
            </a:r>
            <a:br>
              <a:rPr lang="en-US" b="1" dirty="0"/>
            </a:br>
            <a:endParaRPr lang="en-US" dirty="0"/>
          </a:p>
        </p:txBody>
      </p:sp>
      <p:sp>
        <p:nvSpPr>
          <p:cNvPr id="3" name="Content Placeholder 2"/>
          <p:cNvSpPr>
            <a:spLocks noGrp="1"/>
          </p:cNvSpPr>
          <p:nvPr>
            <p:ph idx="1"/>
          </p:nvPr>
        </p:nvSpPr>
        <p:spPr>
          <a:xfrm>
            <a:off x="35868" y="908720"/>
            <a:ext cx="7560468" cy="4104456"/>
          </a:xfrm>
        </p:spPr>
        <p:txBody>
          <a:bodyPr>
            <a:normAutofit/>
          </a:bodyPr>
          <a:lstStyle/>
          <a:p>
            <a:r>
              <a:rPr lang="en-US" b="1" dirty="0"/>
              <a:t>Definition:</a:t>
            </a:r>
            <a:endParaRPr lang="en-US" dirty="0"/>
          </a:p>
          <a:p>
            <a:pPr lvl="1"/>
            <a:r>
              <a:rPr lang="en-US" dirty="0"/>
              <a:t>K-Nearest Neighbors is a </a:t>
            </a:r>
            <a:r>
              <a:rPr lang="en-US" b="1" dirty="0"/>
              <a:t>lazy learning algorithm</a:t>
            </a:r>
            <a:r>
              <a:rPr lang="en-US" dirty="0"/>
              <a:t> used for classification and regression tasks. It predicts the output for a new data point based on the majority class (for classification) or the average value (for regression) of its nearest neighbors</a:t>
            </a:r>
            <a:r>
              <a:rPr lang="en-US" dirty="0" smtClean="0"/>
              <a:t>.</a:t>
            </a:r>
          </a:p>
          <a:p>
            <a:pPr lvl="1"/>
            <a:r>
              <a:rPr lang="en-US" b="1" dirty="0" smtClean="0"/>
              <a:t>Key </a:t>
            </a:r>
            <a:r>
              <a:rPr lang="en-US" b="1" dirty="0"/>
              <a:t>Characteristics:</a:t>
            </a:r>
            <a:endParaRPr lang="en-US" dirty="0"/>
          </a:p>
          <a:p>
            <a:pPr lvl="1"/>
            <a:r>
              <a:rPr lang="en-US" b="1" dirty="0"/>
              <a:t>Non-parametric:</a:t>
            </a:r>
            <a:r>
              <a:rPr lang="en-US" dirty="0"/>
              <a:t> KNN does not make any assumptions about the underlying data distribution.</a:t>
            </a:r>
          </a:p>
          <a:p>
            <a:pPr lvl="1"/>
            <a:r>
              <a:rPr lang="en-US" b="1" dirty="0"/>
              <a:t>Lazy learning:</a:t>
            </a:r>
            <a:r>
              <a:rPr lang="en-US" dirty="0"/>
              <a:t> KNN does not learn a discriminative function from the training data but memorizes the training dataset instead</a:t>
            </a:r>
            <a:r>
              <a:rPr lang="en-US" dirty="0" smtClean="0"/>
              <a:t>.</a:t>
            </a:r>
          </a:p>
          <a:p>
            <a:pPr lvl="1"/>
            <a:r>
              <a:rPr lang="en-US" dirty="0" smtClean="0"/>
              <a:t>Where  </a:t>
            </a:r>
            <a:r>
              <a:rPr lang="en-US" dirty="0"/>
              <a:t>discriminative function in the context of machine learning is a function that differentiates between different classes based on the input features.</a:t>
            </a:r>
          </a:p>
          <a:p>
            <a:endParaRPr lang="en-US" dirty="0"/>
          </a:p>
        </p:txBody>
      </p:sp>
    </p:spTree>
    <p:extLst>
      <p:ext uri="{BB962C8B-B14F-4D97-AF65-F5344CB8AC3E}">
        <p14:creationId xmlns:p14="http://schemas.microsoft.com/office/powerpoint/2010/main" val="25695046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7504" y="476672"/>
            <a:ext cx="6984776" cy="3600400"/>
          </a:xfrm>
        </p:spPr>
        <p:txBody>
          <a:bodyPr/>
          <a:lstStyle/>
          <a:p>
            <a:r>
              <a:rPr lang="en-US" b="1" dirty="0"/>
              <a:t>KNN</a:t>
            </a:r>
            <a:r>
              <a:rPr lang="en-US" dirty="0"/>
              <a:t> is a versatile and intuitive algorithm for both classification and regression tasks. </a:t>
            </a:r>
            <a:endParaRPr lang="en-US" dirty="0" smtClean="0"/>
          </a:p>
          <a:p>
            <a:r>
              <a:rPr lang="en-US" dirty="0" smtClean="0"/>
              <a:t>While </a:t>
            </a:r>
            <a:r>
              <a:rPr lang="en-US" dirty="0"/>
              <a:t>it is easy to understand and implement, its performance can be significantly impacted </a:t>
            </a:r>
            <a:r>
              <a:rPr lang="en-US" dirty="0" smtClean="0"/>
              <a:t>by:</a:t>
            </a:r>
          </a:p>
          <a:p>
            <a:pPr lvl="1"/>
            <a:r>
              <a:rPr lang="en-US" sz="1800" dirty="0" smtClean="0"/>
              <a:t>The </a:t>
            </a:r>
            <a:r>
              <a:rPr lang="en-US" sz="1800" dirty="0"/>
              <a:t>choice of K, </a:t>
            </a:r>
            <a:endParaRPr lang="en-US" sz="1800" dirty="0" smtClean="0"/>
          </a:p>
          <a:p>
            <a:pPr lvl="1"/>
            <a:r>
              <a:rPr lang="en-US" sz="1800" dirty="0" smtClean="0"/>
              <a:t>The </a:t>
            </a:r>
            <a:r>
              <a:rPr lang="en-US" sz="1800" dirty="0"/>
              <a:t>distance metric used, and </a:t>
            </a:r>
            <a:endParaRPr lang="en-US" sz="1800" dirty="0" smtClean="0"/>
          </a:p>
          <a:p>
            <a:pPr lvl="1"/>
            <a:r>
              <a:rPr lang="en-US" sz="1800" dirty="0" smtClean="0"/>
              <a:t>The </a:t>
            </a:r>
            <a:r>
              <a:rPr lang="en-US" sz="1800" dirty="0"/>
              <a:t>presence of irrelevant or high-dimensional features</a:t>
            </a:r>
            <a:r>
              <a:rPr lang="en-US" sz="1800" dirty="0" smtClean="0"/>
              <a:t>.</a:t>
            </a:r>
          </a:p>
          <a:p>
            <a:pPr lvl="1"/>
            <a:r>
              <a:rPr lang="en-US" sz="1800" dirty="0" smtClean="0"/>
              <a:t>Proper </a:t>
            </a:r>
            <a:r>
              <a:rPr lang="en-US" sz="1800" dirty="0"/>
              <a:t>preprocessing, including feature scaling and dimensionality reduction, can help mitigate some of these issues</a:t>
            </a:r>
            <a:r>
              <a:rPr lang="en-US" dirty="0"/>
              <a:t>.</a:t>
            </a:r>
          </a:p>
        </p:txBody>
      </p:sp>
    </p:spTree>
    <p:extLst>
      <p:ext uri="{BB962C8B-B14F-4D97-AF65-F5344CB8AC3E}">
        <p14:creationId xmlns:p14="http://schemas.microsoft.com/office/powerpoint/2010/main" val="19308489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24782" y="971951"/>
            <a:ext cx="7128792" cy="2313033"/>
          </a:xfrm>
        </p:spPr>
        <p:txBody>
          <a:bodyPr/>
          <a:lstStyle/>
          <a:p>
            <a:r>
              <a:rPr lang="en-US" dirty="0" smtClean="0"/>
              <a:t>Let us have a 2d data set for understanding as we can easily visualize it and we have two class positive and negative.</a:t>
            </a:r>
          </a:p>
          <a:p>
            <a:r>
              <a:rPr lang="en-US" dirty="0" smtClean="0"/>
              <a:t>Now we have an observation(</a:t>
            </a:r>
            <a:r>
              <a:rPr lang="en-US" dirty="0" err="1" smtClean="0"/>
              <a:t>Xp</a:t>
            </a:r>
            <a:r>
              <a:rPr lang="en-US" dirty="0" smtClean="0"/>
              <a:t>) and want to decide whether it is positive or negative.</a:t>
            </a:r>
          </a:p>
          <a:p>
            <a:r>
              <a:rPr lang="en-US" dirty="0" smtClean="0"/>
              <a:t>It is lies close to positive we can say it is positive and if it is close to negative we can say it is negative.</a:t>
            </a:r>
            <a:endParaRPr lang="en-US" dirty="0"/>
          </a:p>
        </p:txBody>
      </p:sp>
      <p:sp>
        <p:nvSpPr>
          <p:cNvPr id="4" name="Title 1"/>
          <p:cNvSpPr>
            <a:spLocks noGrp="1"/>
          </p:cNvSpPr>
          <p:nvPr>
            <p:ph type="title"/>
          </p:nvPr>
        </p:nvSpPr>
        <p:spPr>
          <a:xfrm>
            <a:off x="539552" y="260648"/>
            <a:ext cx="6347713" cy="515144"/>
          </a:xfrm>
        </p:spPr>
        <p:txBody>
          <a:bodyPr>
            <a:normAutofit fontScale="90000"/>
          </a:bodyPr>
          <a:lstStyle/>
          <a:p>
            <a:r>
              <a:rPr lang="en-US" b="1" dirty="0" smtClean="0"/>
              <a:t>Geometric </a:t>
            </a:r>
            <a:r>
              <a:rPr lang="en-US" b="1" dirty="0" smtClean="0"/>
              <a:t>Intuition:</a:t>
            </a:r>
            <a:endParaRPr lang="en-US" b="1" dirty="0"/>
          </a:p>
        </p:txBody>
      </p:sp>
      <p:pic>
        <p:nvPicPr>
          <p:cNvPr id="45" name="Picture 44"/>
          <p:cNvPicPr>
            <a:picLocks noChangeAspect="1"/>
          </p:cNvPicPr>
          <p:nvPr/>
        </p:nvPicPr>
        <p:blipFill>
          <a:blip r:embed="rId2"/>
          <a:stretch>
            <a:fillRect/>
          </a:stretch>
        </p:blipFill>
        <p:spPr>
          <a:xfrm>
            <a:off x="476045" y="3140968"/>
            <a:ext cx="6411220" cy="2762636"/>
          </a:xfrm>
          <a:prstGeom prst="rect">
            <a:avLst/>
          </a:prstGeom>
        </p:spPr>
      </p:pic>
    </p:spTree>
    <p:extLst>
      <p:ext uri="{BB962C8B-B14F-4D97-AF65-F5344CB8AC3E}">
        <p14:creationId xmlns:p14="http://schemas.microsoft.com/office/powerpoint/2010/main" val="3776605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260648"/>
            <a:ext cx="7343625" cy="2664296"/>
          </a:xfrm>
        </p:spPr>
        <p:txBody>
          <a:bodyPr>
            <a:normAutofit/>
          </a:bodyPr>
          <a:lstStyle/>
          <a:p>
            <a:pPr>
              <a:lnSpc>
                <a:spcPct val="150000"/>
              </a:lnSpc>
            </a:pPr>
            <a:r>
              <a:rPr lang="en-US" dirty="0" smtClean="0"/>
              <a:t>So objective is to </a:t>
            </a:r>
            <a:r>
              <a:rPr lang="en-US" dirty="0" smtClean="0"/>
              <a:t>find the class of </a:t>
            </a:r>
            <a:r>
              <a:rPr lang="en-US" dirty="0" smtClean="0"/>
              <a:t>the given </a:t>
            </a:r>
            <a:r>
              <a:rPr lang="en-US" dirty="0" smtClean="0"/>
              <a:t>input </a:t>
            </a:r>
            <a:r>
              <a:rPr lang="en-US" dirty="0" smtClean="0"/>
              <a:t>based on </a:t>
            </a:r>
            <a:r>
              <a:rPr lang="en-US" dirty="0" smtClean="0"/>
              <a:t>the K nearest point in data set, and based on voting decide the </a:t>
            </a:r>
            <a:r>
              <a:rPr lang="en-US" dirty="0" smtClean="0"/>
              <a:t>class.</a:t>
            </a:r>
          </a:p>
          <a:p>
            <a:pPr>
              <a:lnSpc>
                <a:spcPct val="150000"/>
              </a:lnSpc>
            </a:pPr>
            <a:r>
              <a:rPr lang="en-US" dirty="0" smtClean="0"/>
              <a:t>Total number of  K  = Square root of total records.</a:t>
            </a:r>
          </a:p>
          <a:p>
            <a:pPr>
              <a:lnSpc>
                <a:spcPct val="150000"/>
              </a:lnSpc>
            </a:pPr>
            <a:r>
              <a:rPr lang="en-US" dirty="0"/>
              <a:t>Generally take the value of ‘K’ as odd number.(3,5,7, </a:t>
            </a:r>
            <a:r>
              <a:rPr lang="en-US" dirty="0" err="1"/>
              <a:t>etc</a:t>
            </a:r>
            <a:r>
              <a:rPr lang="en-US" dirty="0" smtClean="0"/>
              <a:t>). It makes the decision making easy based on Majority class.</a:t>
            </a:r>
            <a:endParaRPr lang="en-US" dirty="0"/>
          </a:p>
          <a:p>
            <a:pPr>
              <a:lnSpc>
                <a:spcPct val="150000"/>
              </a:lnSpc>
            </a:pPr>
            <a:endParaRPr lang="en-US" dirty="0"/>
          </a:p>
        </p:txBody>
      </p:sp>
      <p:sp>
        <p:nvSpPr>
          <p:cNvPr id="6" name="Title 1"/>
          <p:cNvSpPr>
            <a:spLocks noGrp="1"/>
          </p:cNvSpPr>
          <p:nvPr>
            <p:ph type="title"/>
          </p:nvPr>
        </p:nvSpPr>
        <p:spPr>
          <a:xfrm>
            <a:off x="251521" y="2708920"/>
            <a:ext cx="4392488" cy="720080"/>
          </a:xfrm>
        </p:spPr>
        <p:txBody>
          <a:bodyPr>
            <a:normAutofit fontScale="90000"/>
          </a:bodyPr>
          <a:lstStyle/>
          <a:p>
            <a:r>
              <a:rPr lang="en-US" b="1" dirty="0" smtClean="0"/>
              <a:t>Failure cases of KNN</a:t>
            </a:r>
            <a:endParaRPr lang="en-US" b="1" dirty="0"/>
          </a:p>
        </p:txBody>
      </p:sp>
      <p:sp>
        <p:nvSpPr>
          <p:cNvPr id="5" name="Rectangle 4"/>
          <p:cNvSpPr/>
          <p:nvPr/>
        </p:nvSpPr>
        <p:spPr>
          <a:xfrm>
            <a:off x="179512" y="3284984"/>
            <a:ext cx="7272808" cy="646331"/>
          </a:xfrm>
          <a:prstGeom prst="rect">
            <a:avLst/>
          </a:prstGeom>
        </p:spPr>
        <p:txBody>
          <a:bodyPr wrap="square">
            <a:spAutoFit/>
          </a:bodyPr>
          <a:lstStyle/>
          <a:p>
            <a:pPr marL="285750" indent="-285750">
              <a:buFont typeface="Wingdings" panose="05000000000000000000" pitchFamily="2" charset="2"/>
              <a:buChar char="Ø"/>
            </a:pPr>
            <a:r>
              <a:rPr lang="en-US" dirty="0" smtClean="0"/>
              <a:t>If point to be classified is far away or outlier than we can not use KNN.</a:t>
            </a:r>
            <a:endParaRPr lang="en-US" dirty="0"/>
          </a:p>
        </p:txBody>
      </p:sp>
      <p:sp>
        <p:nvSpPr>
          <p:cNvPr id="7" name="Rectangle 6"/>
          <p:cNvSpPr/>
          <p:nvPr/>
        </p:nvSpPr>
        <p:spPr>
          <a:xfrm>
            <a:off x="6300192" y="4606280"/>
            <a:ext cx="1440160" cy="100811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Plus 7"/>
          <p:cNvSpPr/>
          <p:nvPr/>
        </p:nvSpPr>
        <p:spPr>
          <a:xfrm>
            <a:off x="899592" y="4653136"/>
            <a:ext cx="144016" cy="216024"/>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Plus 10"/>
          <p:cNvSpPr/>
          <p:nvPr/>
        </p:nvSpPr>
        <p:spPr>
          <a:xfrm>
            <a:off x="1051992" y="4805536"/>
            <a:ext cx="144016" cy="216024"/>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Plus 11"/>
          <p:cNvSpPr/>
          <p:nvPr/>
        </p:nvSpPr>
        <p:spPr>
          <a:xfrm>
            <a:off x="1204392" y="4957936"/>
            <a:ext cx="144016" cy="216024"/>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Plus 12"/>
          <p:cNvSpPr/>
          <p:nvPr/>
        </p:nvSpPr>
        <p:spPr>
          <a:xfrm>
            <a:off x="1356792" y="5110336"/>
            <a:ext cx="144016" cy="216024"/>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Plus 13"/>
          <p:cNvSpPr/>
          <p:nvPr/>
        </p:nvSpPr>
        <p:spPr>
          <a:xfrm>
            <a:off x="1509192" y="5262736"/>
            <a:ext cx="144016" cy="216024"/>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Plus 14"/>
          <p:cNvSpPr/>
          <p:nvPr/>
        </p:nvSpPr>
        <p:spPr>
          <a:xfrm>
            <a:off x="1661592" y="5415136"/>
            <a:ext cx="144016" cy="216024"/>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Plus 15"/>
          <p:cNvSpPr/>
          <p:nvPr/>
        </p:nvSpPr>
        <p:spPr>
          <a:xfrm>
            <a:off x="1379315" y="4581128"/>
            <a:ext cx="144016" cy="216024"/>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Plus 16"/>
          <p:cNvSpPr/>
          <p:nvPr/>
        </p:nvSpPr>
        <p:spPr>
          <a:xfrm>
            <a:off x="1576598" y="4782108"/>
            <a:ext cx="144016" cy="216024"/>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Plus 17"/>
          <p:cNvSpPr/>
          <p:nvPr/>
        </p:nvSpPr>
        <p:spPr>
          <a:xfrm>
            <a:off x="1740260" y="4943822"/>
            <a:ext cx="144016" cy="216024"/>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Plus 18"/>
          <p:cNvSpPr/>
          <p:nvPr/>
        </p:nvSpPr>
        <p:spPr>
          <a:xfrm>
            <a:off x="1958008" y="5199112"/>
            <a:ext cx="144016" cy="216024"/>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Plus 19"/>
          <p:cNvSpPr/>
          <p:nvPr/>
        </p:nvSpPr>
        <p:spPr>
          <a:xfrm>
            <a:off x="952364" y="5064596"/>
            <a:ext cx="144016" cy="216024"/>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Plus 20"/>
          <p:cNvSpPr/>
          <p:nvPr/>
        </p:nvSpPr>
        <p:spPr>
          <a:xfrm>
            <a:off x="1096380" y="5324822"/>
            <a:ext cx="144016" cy="216024"/>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Plus 21"/>
          <p:cNvSpPr/>
          <p:nvPr/>
        </p:nvSpPr>
        <p:spPr>
          <a:xfrm>
            <a:off x="1921571" y="4678263"/>
            <a:ext cx="144016" cy="216024"/>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p:cNvSpPr/>
          <p:nvPr/>
        </p:nvSpPr>
        <p:spPr>
          <a:xfrm>
            <a:off x="780728" y="4580731"/>
            <a:ext cx="1440160" cy="100811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Minus 9"/>
          <p:cNvSpPr/>
          <p:nvPr/>
        </p:nvSpPr>
        <p:spPr>
          <a:xfrm>
            <a:off x="6300192" y="4594659"/>
            <a:ext cx="360040" cy="303448"/>
          </a:xfrm>
          <a:prstGeom prst="mathMin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Minus 24"/>
          <p:cNvSpPr/>
          <p:nvPr/>
        </p:nvSpPr>
        <p:spPr>
          <a:xfrm>
            <a:off x="6314306" y="4792098"/>
            <a:ext cx="345926" cy="320346"/>
          </a:xfrm>
          <a:prstGeom prst="mathMin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Minus 25"/>
          <p:cNvSpPr/>
          <p:nvPr/>
        </p:nvSpPr>
        <p:spPr>
          <a:xfrm>
            <a:off x="6341926" y="5047388"/>
            <a:ext cx="360040" cy="303448"/>
          </a:xfrm>
          <a:prstGeom prst="mathMin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Minus 26"/>
          <p:cNvSpPr/>
          <p:nvPr/>
        </p:nvSpPr>
        <p:spPr>
          <a:xfrm>
            <a:off x="6376392" y="5279107"/>
            <a:ext cx="360040" cy="303448"/>
          </a:xfrm>
          <a:prstGeom prst="mathMin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Minus 27"/>
          <p:cNvSpPr/>
          <p:nvPr/>
        </p:nvSpPr>
        <p:spPr>
          <a:xfrm>
            <a:off x="6871735" y="5289899"/>
            <a:ext cx="360040" cy="303448"/>
          </a:xfrm>
          <a:prstGeom prst="mathMin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Minus 28"/>
          <p:cNvSpPr/>
          <p:nvPr/>
        </p:nvSpPr>
        <p:spPr>
          <a:xfrm>
            <a:off x="7373652" y="5286214"/>
            <a:ext cx="360040" cy="303448"/>
          </a:xfrm>
          <a:prstGeom prst="mathMin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Minus 29"/>
          <p:cNvSpPr/>
          <p:nvPr/>
        </p:nvSpPr>
        <p:spPr>
          <a:xfrm>
            <a:off x="7296844" y="4858457"/>
            <a:ext cx="360040" cy="303448"/>
          </a:xfrm>
          <a:prstGeom prst="mathMin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Minus 30"/>
          <p:cNvSpPr/>
          <p:nvPr/>
        </p:nvSpPr>
        <p:spPr>
          <a:xfrm>
            <a:off x="7325072" y="5112444"/>
            <a:ext cx="360040" cy="303448"/>
          </a:xfrm>
          <a:prstGeom prst="mathMin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Minus 31"/>
          <p:cNvSpPr/>
          <p:nvPr/>
        </p:nvSpPr>
        <p:spPr>
          <a:xfrm>
            <a:off x="7242212" y="4613798"/>
            <a:ext cx="360040" cy="303448"/>
          </a:xfrm>
          <a:prstGeom prst="mathMin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Minus 32"/>
          <p:cNvSpPr/>
          <p:nvPr/>
        </p:nvSpPr>
        <p:spPr>
          <a:xfrm>
            <a:off x="6746376" y="4603572"/>
            <a:ext cx="360040" cy="303448"/>
          </a:xfrm>
          <a:prstGeom prst="mathMin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Minus 33"/>
          <p:cNvSpPr/>
          <p:nvPr/>
        </p:nvSpPr>
        <p:spPr>
          <a:xfrm>
            <a:off x="6791765" y="4809395"/>
            <a:ext cx="360040" cy="303448"/>
          </a:xfrm>
          <a:prstGeom prst="mathMin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Minus 34"/>
          <p:cNvSpPr/>
          <p:nvPr/>
        </p:nvSpPr>
        <p:spPr>
          <a:xfrm>
            <a:off x="6833499" y="5049967"/>
            <a:ext cx="360040" cy="303448"/>
          </a:xfrm>
          <a:prstGeom prst="mathMin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p:cNvSpPr/>
          <p:nvPr/>
        </p:nvSpPr>
        <p:spPr>
          <a:xfrm>
            <a:off x="3815916" y="4293096"/>
            <a:ext cx="684164" cy="512440"/>
          </a:xfrm>
          <a:prstGeom prst="ellipse">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smtClean="0"/>
              <a:t>Xq</a:t>
            </a:r>
            <a:endParaRPr lang="en-US" dirty="0"/>
          </a:p>
        </p:txBody>
      </p:sp>
      <p:cxnSp>
        <p:nvCxnSpPr>
          <p:cNvPr id="2049" name="Straight Arrow Connector 2048"/>
          <p:cNvCxnSpPr>
            <a:endCxn id="24" idx="2"/>
          </p:cNvCxnSpPr>
          <p:nvPr/>
        </p:nvCxnSpPr>
        <p:spPr>
          <a:xfrm flipV="1">
            <a:off x="2220888" y="4549316"/>
            <a:ext cx="1595028" cy="364232"/>
          </a:xfrm>
          <a:prstGeom prst="straightConnector1">
            <a:avLst/>
          </a:prstGeom>
          <a:ln>
            <a:headEnd type="triangle"/>
            <a:tailEnd type="triangle"/>
          </a:ln>
        </p:spPr>
        <p:style>
          <a:lnRef idx="3">
            <a:schemeClr val="accent5"/>
          </a:lnRef>
          <a:fillRef idx="0">
            <a:schemeClr val="accent5"/>
          </a:fillRef>
          <a:effectRef idx="2">
            <a:schemeClr val="accent5"/>
          </a:effectRef>
          <a:fontRef idx="minor">
            <a:schemeClr val="tx1"/>
          </a:fontRef>
        </p:style>
      </p:cxnSp>
      <p:cxnSp>
        <p:nvCxnSpPr>
          <p:cNvPr id="39" name="Straight Arrow Connector 38"/>
          <p:cNvCxnSpPr/>
          <p:nvPr/>
        </p:nvCxnSpPr>
        <p:spPr>
          <a:xfrm>
            <a:off x="4478896" y="4594659"/>
            <a:ext cx="1891419" cy="340250"/>
          </a:xfrm>
          <a:prstGeom prst="straightConnector1">
            <a:avLst/>
          </a:prstGeom>
          <a:ln>
            <a:headEnd type="triangle"/>
            <a:tailEnd type="triangle"/>
          </a:ln>
        </p:spPr>
        <p:style>
          <a:lnRef idx="3">
            <a:schemeClr val="accent5"/>
          </a:lnRef>
          <a:fillRef idx="0">
            <a:schemeClr val="accent5"/>
          </a:fillRef>
          <a:effectRef idx="2">
            <a:schemeClr val="accent5"/>
          </a:effectRef>
          <a:fontRef idx="minor">
            <a:schemeClr val="tx1"/>
          </a:fontRef>
        </p:style>
      </p:cxnSp>
      <p:sp>
        <p:nvSpPr>
          <p:cNvPr id="2052" name="Rectangle 2051"/>
          <p:cNvSpPr/>
          <p:nvPr/>
        </p:nvSpPr>
        <p:spPr>
          <a:xfrm>
            <a:off x="3520726" y="4907020"/>
            <a:ext cx="1440160" cy="54637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If distance is too large</a:t>
            </a:r>
            <a:endParaRPr lang="en-US" dirty="0"/>
          </a:p>
        </p:txBody>
      </p:sp>
    </p:spTree>
    <p:extLst>
      <p:ext uri="{BB962C8B-B14F-4D97-AF65-F5344CB8AC3E}">
        <p14:creationId xmlns:p14="http://schemas.microsoft.com/office/powerpoint/2010/main" val="27187466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67544" y="260649"/>
            <a:ext cx="6347714" cy="504056"/>
          </a:xfrm>
        </p:spPr>
        <p:txBody>
          <a:bodyPr/>
          <a:lstStyle/>
          <a:p>
            <a:r>
              <a:rPr lang="en-US" dirty="0" smtClean="0"/>
              <a:t>If data is jumbled or mixed like this:</a:t>
            </a:r>
            <a:endParaRPr lang="en-US" dirty="0"/>
          </a:p>
        </p:txBody>
      </p:sp>
      <p:pic>
        <p:nvPicPr>
          <p:cNvPr id="72" name="Picture 71"/>
          <p:cNvPicPr>
            <a:picLocks noChangeAspect="1"/>
          </p:cNvPicPr>
          <p:nvPr/>
        </p:nvPicPr>
        <p:blipFill>
          <a:blip r:embed="rId2"/>
          <a:stretch>
            <a:fillRect/>
          </a:stretch>
        </p:blipFill>
        <p:spPr>
          <a:xfrm>
            <a:off x="1259632" y="908720"/>
            <a:ext cx="4497652" cy="2377457"/>
          </a:xfrm>
          <a:prstGeom prst="rect">
            <a:avLst/>
          </a:prstGeom>
        </p:spPr>
      </p:pic>
      <p:sp>
        <p:nvSpPr>
          <p:cNvPr id="73" name="Rectangle 72"/>
          <p:cNvSpPr/>
          <p:nvPr/>
        </p:nvSpPr>
        <p:spPr>
          <a:xfrm>
            <a:off x="395536" y="3501008"/>
            <a:ext cx="7272808" cy="3000821"/>
          </a:xfrm>
          <a:prstGeom prst="rect">
            <a:avLst/>
          </a:prstGeom>
        </p:spPr>
        <p:txBody>
          <a:bodyPr wrap="square">
            <a:spAutoFit/>
          </a:bodyPr>
          <a:lstStyle/>
          <a:p>
            <a:pPr marL="285750" indent="-285750">
              <a:lnSpc>
                <a:spcPct val="150000"/>
              </a:lnSpc>
              <a:buFont typeface="Wingdings" panose="05000000000000000000" pitchFamily="2" charset="2"/>
              <a:buChar char="Ø"/>
            </a:pPr>
            <a:r>
              <a:rPr lang="en-US" dirty="0" smtClean="0"/>
              <a:t>So we can say KNN is simple </a:t>
            </a:r>
            <a:r>
              <a:rPr lang="en-US" dirty="0"/>
              <a:t>to understand.</a:t>
            </a:r>
          </a:p>
          <a:p>
            <a:pPr marL="285750" indent="-285750">
              <a:lnSpc>
                <a:spcPct val="150000"/>
              </a:lnSpc>
              <a:buFont typeface="Wingdings" panose="05000000000000000000" pitchFamily="2" charset="2"/>
              <a:buChar char="Ø"/>
            </a:pPr>
            <a:r>
              <a:rPr lang="en-US" dirty="0"/>
              <a:t>Very Fast and Efficient </a:t>
            </a:r>
            <a:r>
              <a:rPr lang="en-US" dirty="0" smtClean="0"/>
              <a:t>model.</a:t>
            </a:r>
          </a:p>
          <a:p>
            <a:pPr marL="285750" indent="-285750">
              <a:lnSpc>
                <a:spcPct val="150000"/>
              </a:lnSpc>
              <a:buFont typeface="Wingdings" panose="05000000000000000000" pitchFamily="2" charset="2"/>
              <a:buChar char="Ø"/>
            </a:pPr>
            <a:r>
              <a:rPr lang="en-US" dirty="0" smtClean="0"/>
              <a:t>Is </a:t>
            </a:r>
            <a:r>
              <a:rPr lang="en-US" dirty="0"/>
              <a:t>gives good results for classification </a:t>
            </a:r>
            <a:r>
              <a:rPr lang="en-US" dirty="0" smtClean="0"/>
              <a:t>problems.</a:t>
            </a:r>
          </a:p>
          <a:p>
            <a:pPr marL="285750" indent="-285750">
              <a:lnSpc>
                <a:spcPct val="150000"/>
              </a:lnSpc>
              <a:buFont typeface="Wingdings" panose="05000000000000000000" pitchFamily="2" charset="2"/>
              <a:buChar char="Ø"/>
            </a:pPr>
            <a:r>
              <a:rPr lang="en-US" dirty="0" smtClean="0"/>
              <a:t>Don’t </a:t>
            </a:r>
            <a:r>
              <a:rPr lang="en-US" dirty="0"/>
              <a:t>use it for regression </a:t>
            </a:r>
            <a:r>
              <a:rPr lang="en-US" dirty="0" smtClean="0"/>
              <a:t>problem.</a:t>
            </a:r>
          </a:p>
          <a:p>
            <a:pPr marL="285750" indent="-285750">
              <a:lnSpc>
                <a:spcPct val="150000"/>
              </a:lnSpc>
              <a:buFont typeface="Wingdings" panose="05000000000000000000" pitchFamily="2" charset="2"/>
              <a:buChar char="Ø"/>
            </a:pPr>
            <a:r>
              <a:rPr lang="en-US" dirty="0" smtClean="0"/>
              <a:t>It </a:t>
            </a:r>
            <a:r>
              <a:rPr lang="en-US" dirty="0"/>
              <a:t>is domain specific algorithm used for clinical sector data set. </a:t>
            </a:r>
            <a:endParaRPr lang="en-US" dirty="0" smtClean="0"/>
          </a:p>
          <a:p>
            <a:pPr marL="285750" indent="-285750">
              <a:lnSpc>
                <a:spcPct val="150000"/>
              </a:lnSpc>
              <a:buFont typeface="Wingdings" panose="05000000000000000000" pitchFamily="2" charset="2"/>
              <a:buChar char="Ø"/>
            </a:pPr>
            <a:r>
              <a:rPr lang="en-US" dirty="0" smtClean="0"/>
              <a:t>If </a:t>
            </a:r>
            <a:r>
              <a:rPr lang="en-US" dirty="0"/>
              <a:t>data is less than(1000) use KNN.</a:t>
            </a:r>
          </a:p>
          <a:p>
            <a:pPr marL="285750" indent="-285750">
              <a:lnSpc>
                <a:spcPct val="150000"/>
              </a:lnSpc>
              <a:buFont typeface="Wingdings" panose="05000000000000000000" pitchFamily="2" charset="2"/>
              <a:buChar char="Ø"/>
            </a:pPr>
            <a:endParaRPr lang="en-US" dirty="0"/>
          </a:p>
        </p:txBody>
      </p:sp>
    </p:spTree>
    <p:extLst>
      <p:ext uri="{BB962C8B-B14F-4D97-AF65-F5344CB8AC3E}">
        <p14:creationId xmlns:p14="http://schemas.microsoft.com/office/powerpoint/2010/main" val="20587993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260648"/>
            <a:ext cx="6347713" cy="638150"/>
          </a:xfrm>
        </p:spPr>
        <p:txBody>
          <a:bodyPr>
            <a:normAutofit/>
          </a:bodyPr>
          <a:lstStyle/>
          <a:p>
            <a:r>
              <a:rPr lang="en-US" sz="3200" b="1" dirty="0" smtClean="0"/>
              <a:t>Distance Measures</a:t>
            </a:r>
            <a:endParaRPr lang="en-US" sz="3200" b="1" dirty="0"/>
          </a:p>
        </p:txBody>
      </p:sp>
      <p:sp>
        <p:nvSpPr>
          <p:cNvPr id="3" name="Content Placeholder 2"/>
          <p:cNvSpPr>
            <a:spLocks noGrp="1"/>
          </p:cNvSpPr>
          <p:nvPr>
            <p:ph idx="1"/>
          </p:nvPr>
        </p:nvSpPr>
        <p:spPr>
          <a:xfrm>
            <a:off x="179512" y="1052736"/>
            <a:ext cx="7183982" cy="5400600"/>
          </a:xfrm>
        </p:spPr>
        <p:txBody>
          <a:bodyPr>
            <a:normAutofit/>
          </a:bodyPr>
          <a:lstStyle/>
          <a:p>
            <a:r>
              <a:rPr lang="en-US" dirty="0"/>
              <a:t>But problem is need to choose number of neighbors “K” because as  K changes our answer can also changes so to find optimum number of ‘K’ is always challenging.</a:t>
            </a:r>
          </a:p>
          <a:p>
            <a:r>
              <a:rPr lang="en-US" dirty="0" smtClean="0"/>
              <a:t>Since we are saying that we need to measure distance than let us discuss of certain fundamental rules to measure distance. However we have discussed in Linear Algebra but again recap here.</a:t>
            </a:r>
          </a:p>
          <a:p>
            <a:r>
              <a:rPr lang="en-US" b="1" dirty="0" smtClean="0"/>
              <a:t>Distance measures: </a:t>
            </a:r>
          </a:p>
          <a:p>
            <a:pPr lvl="1"/>
            <a:r>
              <a:rPr lang="en-US" dirty="0" smtClean="0"/>
              <a:t>Euclidean Distance(L2 norm) : 99% time we use in KNN</a:t>
            </a:r>
          </a:p>
          <a:p>
            <a:pPr lvl="1"/>
            <a:r>
              <a:rPr lang="en-US" dirty="0" smtClean="0"/>
              <a:t>Manhattan Distance (L1 norm)</a:t>
            </a:r>
          </a:p>
          <a:p>
            <a:pPr lvl="1"/>
            <a:r>
              <a:rPr lang="en-US" dirty="0" smtClean="0"/>
              <a:t>Minkowski Distance (</a:t>
            </a:r>
            <a:r>
              <a:rPr lang="en-US" dirty="0" err="1" smtClean="0"/>
              <a:t>Lp</a:t>
            </a:r>
            <a:r>
              <a:rPr lang="en-US" dirty="0" smtClean="0"/>
              <a:t> norm)</a:t>
            </a:r>
          </a:p>
          <a:p>
            <a:pPr lvl="1"/>
            <a:r>
              <a:rPr lang="en-US" dirty="0" smtClean="0"/>
              <a:t>Hamming Distance </a:t>
            </a:r>
          </a:p>
          <a:p>
            <a:pPr lvl="1"/>
            <a:r>
              <a:rPr lang="en-US" dirty="0" smtClean="0"/>
              <a:t>Cosine Distance</a:t>
            </a:r>
          </a:p>
          <a:p>
            <a:pPr lvl="1"/>
            <a:endParaRPr lang="en-US" dirty="0" smtClean="0"/>
          </a:p>
          <a:p>
            <a:pPr lvl="1"/>
            <a:endParaRPr lang="en-US" dirty="0"/>
          </a:p>
        </p:txBody>
      </p:sp>
    </p:spTree>
    <p:extLst>
      <p:ext uri="{BB962C8B-B14F-4D97-AF65-F5344CB8AC3E}">
        <p14:creationId xmlns:p14="http://schemas.microsoft.com/office/powerpoint/2010/main" val="5504487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Euclidean Distance(L2 norm)</a:t>
            </a:r>
            <a:br>
              <a:rPr lang="en-US" b="1" dirty="0"/>
            </a:br>
            <a:endParaRPr lang="en-US" b="1"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311324" y="1484784"/>
                <a:ext cx="7560840" cy="3880773"/>
              </a:xfrm>
            </p:spPr>
            <p:txBody>
              <a:bodyPr/>
              <a:lstStyle/>
              <a:p>
                <a:r>
                  <a:rPr lang="en-US" dirty="0" smtClean="0"/>
                  <a:t>Here we are trying to find the distances using Pythagoras theorem for nearest distance.</a:t>
                </a:r>
              </a:p>
              <a:p>
                <a:r>
                  <a:rPr lang="en-US" dirty="0" smtClean="0"/>
                  <a:t>As in figure below, let us find the shortest distance(d) between point X1 and X2.</a:t>
                </a:r>
              </a:p>
              <a:p>
                <a:r>
                  <a:rPr lang="en-US" sz="2000" dirty="0" smtClean="0"/>
                  <a:t>d = </a:t>
                </a:r>
                <a14:m>
                  <m:oMath xmlns:m="http://schemas.openxmlformats.org/officeDocument/2006/math">
                    <m:rad>
                      <m:radPr>
                        <m:ctrlPr>
                          <a:rPr lang="en-US" sz="2400" i="1" smtClean="0">
                            <a:latin typeface="Cambria Math" panose="02040503050406030204" pitchFamily="18" charset="0"/>
                          </a:rPr>
                        </m:ctrlPr>
                      </m:radPr>
                      <m:deg>
                        <m:r>
                          <a:rPr lang="en-US" sz="2400" i="1" smtClean="0">
                            <a:latin typeface="Cambria Math" panose="02040503050406030204" pitchFamily="18" charset="0"/>
                          </a:rPr>
                          <m:t>2</m:t>
                        </m:r>
                      </m:deg>
                      <m:e>
                        <m:sSup>
                          <m:sSupPr>
                            <m:ctrlPr>
                              <a:rPr lang="en-US" sz="2000" i="1">
                                <a:latin typeface="Cambria Math" panose="02040503050406030204" pitchFamily="18" charset="0"/>
                              </a:rPr>
                            </m:ctrlPr>
                          </m:sSupPr>
                          <m:e>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𝑋</m:t>
                                </m:r>
                              </m:e>
                              <m:sub>
                                <m:r>
                                  <a:rPr lang="en-US" sz="2000" i="1">
                                    <a:latin typeface="Cambria Math" panose="02040503050406030204" pitchFamily="18" charset="0"/>
                                  </a:rPr>
                                  <m:t>21</m:t>
                                </m:r>
                              </m:sub>
                            </m:sSub>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𝑋</m:t>
                                </m:r>
                              </m:e>
                              <m:sub>
                                <m:r>
                                  <a:rPr lang="en-US" sz="2000" i="1">
                                    <a:latin typeface="Cambria Math" panose="02040503050406030204" pitchFamily="18" charset="0"/>
                                  </a:rPr>
                                  <m:t>11</m:t>
                                </m:r>
                              </m:sub>
                            </m:sSub>
                            <m:r>
                              <a:rPr lang="en-US" sz="2000" i="1">
                                <a:latin typeface="Cambria Math" panose="02040503050406030204" pitchFamily="18" charset="0"/>
                              </a:rPr>
                              <m:t>)</m:t>
                            </m:r>
                          </m:e>
                          <m:sup>
                            <m:r>
                              <a:rPr lang="en-US" sz="2000" i="1">
                                <a:latin typeface="Cambria Math" panose="02040503050406030204" pitchFamily="18" charset="0"/>
                              </a:rPr>
                              <m:t>2</m:t>
                            </m:r>
                          </m:sup>
                        </m:sSup>
                        <m:r>
                          <m:rPr>
                            <m:nor/>
                          </m:rPr>
                          <a:rPr lang="en-US" sz="2000" dirty="0"/>
                          <m:t>+</m:t>
                        </m:r>
                        <m:sSup>
                          <m:sSupPr>
                            <m:ctrlPr>
                              <a:rPr lang="en-US" sz="2000" i="1">
                                <a:latin typeface="Cambria Math" panose="02040503050406030204" pitchFamily="18" charset="0"/>
                              </a:rPr>
                            </m:ctrlPr>
                          </m:sSupPr>
                          <m:e>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𝑋</m:t>
                                </m:r>
                              </m:e>
                              <m:sub>
                                <m:r>
                                  <a:rPr lang="en-US" sz="2000" i="1">
                                    <a:latin typeface="Cambria Math" panose="02040503050406030204" pitchFamily="18" charset="0"/>
                                  </a:rPr>
                                  <m:t>2</m:t>
                                </m:r>
                                <m:r>
                                  <a:rPr lang="en-US" sz="2000" b="0" i="1" smtClean="0">
                                    <a:latin typeface="Cambria Math" panose="02040503050406030204" pitchFamily="18" charset="0"/>
                                  </a:rPr>
                                  <m:t>2</m:t>
                                </m:r>
                              </m:sub>
                            </m:sSub>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𝑋</m:t>
                                </m:r>
                              </m:e>
                              <m:sub>
                                <m:r>
                                  <a:rPr lang="en-US" sz="2000" i="1">
                                    <a:latin typeface="Cambria Math" panose="02040503050406030204" pitchFamily="18" charset="0"/>
                                  </a:rPr>
                                  <m:t>1</m:t>
                                </m:r>
                                <m:r>
                                  <a:rPr lang="en-US" sz="2000" b="0" i="1" smtClean="0">
                                    <a:latin typeface="Cambria Math" panose="02040503050406030204" pitchFamily="18" charset="0"/>
                                  </a:rPr>
                                  <m:t>2</m:t>
                                </m:r>
                              </m:sub>
                            </m:sSub>
                            <m:r>
                              <a:rPr lang="en-US" sz="2000" i="1">
                                <a:latin typeface="Cambria Math" panose="02040503050406030204" pitchFamily="18" charset="0"/>
                              </a:rPr>
                              <m:t>)</m:t>
                            </m:r>
                          </m:e>
                          <m:sup>
                            <m:r>
                              <a:rPr lang="en-US" sz="2000" i="1">
                                <a:latin typeface="Cambria Math" panose="02040503050406030204" pitchFamily="18" charset="0"/>
                              </a:rPr>
                              <m:t>2</m:t>
                            </m:r>
                          </m:sup>
                        </m:sSup>
                      </m:e>
                    </m:rad>
                  </m:oMath>
                </a14:m>
                <a:endParaRPr lang="en-US" sz="2000" dirty="0" smtClean="0"/>
              </a:p>
              <a:p>
                <a:r>
                  <a:rPr lang="en-US" sz="2000" dirty="0" smtClean="0"/>
                  <a:t>Where </a:t>
                </a:r>
                <a14:m>
                  <m:oMath xmlns:m="http://schemas.openxmlformats.org/officeDocument/2006/math">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𝑋</m:t>
                        </m:r>
                      </m:e>
                      <m:sub>
                        <m:r>
                          <a:rPr lang="en-US" sz="2000" b="0" i="1" smtClean="0">
                            <a:latin typeface="Cambria Math" panose="02040503050406030204" pitchFamily="18" charset="0"/>
                          </a:rPr>
                          <m:t>1</m:t>
                        </m:r>
                      </m:sub>
                    </m:sSub>
                    <m:r>
                      <a:rPr lang="en-US" sz="200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 </m:t>
                    </m:r>
                    <m:sSup>
                      <m:sSupPr>
                        <m:ctrlPr>
                          <a:rPr lang="en-US" sz="2000" b="0" i="1" smtClean="0">
                            <a:latin typeface="Cambria Math" panose="02040503050406030204" pitchFamily="18" charset="0"/>
                            <a:ea typeface="Cambria Math" panose="02040503050406030204" pitchFamily="18" charset="0"/>
                          </a:rPr>
                        </m:ctrlPr>
                      </m:sSupPr>
                      <m:e>
                        <m:r>
                          <a:rPr lang="en-US" sz="2000" b="0" i="1" smtClean="0">
                            <a:latin typeface="Cambria Math" panose="02040503050406030204" pitchFamily="18" charset="0"/>
                            <a:ea typeface="Cambria Math" panose="02040503050406030204" pitchFamily="18" charset="0"/>
                          </a:rPr>
                          <m:t>𝑅</m:t>
                        </m:r>
                      </m:e>
                      <m:sup>
                        <m:r>
                          <a:rPr lang="en-US" sz="2000" b="0" i="1" smtClean="0">
                            <a:latin typeface="Cambria Math" panose="02040503050406030204" pitchFamily="18" charset="0"/>
                            <a:ea typeface="Cambria Math" panose="02040503050406030204" pitchFamily="18" charset="0"/>
                          </a:rPr>
                          <m:t>𝑑</m:t>
                        </m:r>
                      </m:sup>
                    </m:sSup>
                  </m:oMath>
                </a14:m>
                <a:r>
                  <a:rPr lang="en-US" sz="2000" dirty="0" smtClean="0"/>
                  <a:t>,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𝑋</m:t>
                        </m:r>
                      </m:e>
                      <m:sub>
                        <m:r>
                          <a:rPr lang="en-US" sz="2000" b="0" i="1" smtClean="0">
                            <a:latin typeface="Cambria Math" panose="02040503050406030204" pitchFamily="18" charset="0"/>
                          </a:rPr>
                          <m:t>2</m:t>
                        </m:r>
                      </m:sub>
                    </m:sSub>
                    <m:r>
                      <a:rPr lang="en-US" sz="2000" i="1">
                        <a:latin typeface="Cambria Math" panose="02040503050406030204" pitchFamily="18" charset="0"/>
                        <a:ea typeface="Cambria Math" panose="02040503050406030204" pitchFamily="18" charset="0"/>
                      </a:rPr>
                      <m:t>∈ </m:t>
                    </m:r>
                    <m:sSup>
                      <m:sSupPr>
                        <m:ctrlPr>
                          <a:rPr lang="en-US" sz="2000" i="1">
                            <a:latin typeface="Cambria Math" panose="02040503050406030204" pitchFamily="18" charset="0"/>
                            <a:ea typeface="Cambria Math" panose="02040503050406030204" pitchFamily="18" charset="0"/>
                          </a:rPr>
                        </m:ctrlPr>
                      </m:sSupPr>
                      <m:e>
                        <m:r>
                          <a:rPr lang="en-US" sz="2000" i="1">
                            <a:latin typeface="Cambria Math" panose="02040503050406030204" pitchFamily="18" charset="0"/>
                            <a:ea typeface="Cambria Math" panose="02040503050406030204" pitchFamily="18" charset="0"/>
                          </a:rPr>
                          <m:t>𝑅</m:t>
                        </m:r>
                      </m:e>
                      <m:sup>
                        <m:r>
                          <a:rPr lang="en-US" sz="2000" i="1">
                            <a:latin typeface="Cambria Math" panose="02040503050406030204" pitchFamily="18" charset="0"/>
                            <a:ea typeface="Cambria Math" panose="02040503050406030204" pitchFamily="18" charset="0"/>
                          </a:rPr>
                          <m:t>𝑑</m:t>
                        </m:r>
                      </m:sup>
                    </m:sSup>
                  </m:oMath>
                </a14:m>
                <a:endParaRPr lang="en-US" sz="2000" dirty="0" smtClean="0"/>
              </a:p>
              <a:p>
                <a:r>
                  <a:rPr lang="en-US" sz="2000" dirty="0" smtClean="0"/>
                  <a:t>We can also write:</a:t>
                </a:r>
              </a:p>
              <a:p>
                <a:r>
                  <a:rPr lang="en-US" sz="2400" dirty="0" smtClean="0"/>
                  <a:t>d = </a:t>
                </a:r>
                <a14:m>
                  <m:oMath xmlns:m="http://schemas.openxmlformats.org/officeDocument/2006/math">
                    <m:sSup>
                      <m:sSupPr>
                        <m:ctrlPr>
                          <a:rPr lang="en-US" sz="2400" i="1" smtClean="0">
                            <a:latin typeface="Cambria Math" panose="02040503050406030204" pitchFamily="18" charset="0"/>
                          </a:rPr>
                        </m:ctrlPr>
                      </m:sSupPr>
                      <m:e>
                        <m:sSup>
                          <m:sSupPr>
                            <m:ctrlPr>
                              <a:rPr lang="en-US" sz="2400" i="1" smtClean="0">
                                <a:latin typeface="Cambria Math" panose="02040503050406030204" pitchFamily="18" charset="0"/>
                              </a:rPr>
                            </m:ctrlPr>
                          </m:sSupPr>
                          <m:e>
                            <m:nary>
                              <m:naryPr>
                                <m:chr m:val="∑"/>
                                <m:ctrlPr>
                                  <a:rPr lang="en-US" sz="2400" i="1" smtClean="0">
                                    <a:latin typeface="Cambria Math" panose="02040503050406030204" pitchFamily="18" charset="0"/>
                                  </a:rPr>
                                </m:ctrlPr>
                              </m:naryPr>
                              <m:sub>
                                <m:r>
                                  <m:rPr>
                                    <m:brk m:alnAt="23"/>
                                  </m:rPr>
                                  <a:rPr lang="en-US" sz="2400" b="0" i="1" smtClean="0">
                                    <a:latin typeface="Cambria Math" panose="02040503050406030204" pitchFamily="18" charset="0"/>
                                  </a:rPr>
                                  <m:t>𝑖</m:t>
                                </m:r>
                                <m:r>
                                  <a:rPr lang="en-US" sz="2400" b="0" i="1" smtClean="0">
                                    <a:latin typeface="Cambria Math" panose="02040503050406030204" pitchFamily="18" charset="0"/>
                                  </a:rPr>
                                  <m:t>=1</m:t>
                                </m:r>
                              </m:sub>
                              <m:sup>
                                <m:r>
                                  <a:rPr lang="en-US" sz="2400" b="0" i="1" smtClean="0">
                                    <a:latin typeface="Cambria Math" panose="02040503050406030204" pitchFamily="18" charset="0"/>
                                  </a:rPr>
                                  <m:t>𝑑</m:t>
                                </m:r>
                              </m:sup>
                              <m:e>
                                <m:sSub>
                                  <m:sSubPr>
                                    <m:ctrlPr>
                                      <a:rPr lang="en-US" sz="2400" i="1">
                                        <a:latin typeface="Cambria Math" panose="02040503050406030204" pitchFamily="18" charset="0"/>
                                      </a:rPr>
                                    </m:ctrlPr>
                                  </m:sSubPr>
                                  <m:e>
                                    <m:r>
                                      <a:rPr lang="en-US" sz="2400" b="0" i="1" smtClean="0">
                                        <a:latin typeface="Cambria Math" panose="02040503050406030204" pitchFamily="18" charset="0"/>
                                      </a:rPr>
                                      <m:t>((</m:t>
                                    </m:r>
                                    <m:r>
                                      <a:rPr lang="en-US" sz="2400" b="0" i="1" smtClean="0">
                                        <a:latin typeface="Cambria Math" panose="02040503050406030204" pitchFamily="18" charset="0"/>
                                      </a:rPr>
                                      <m:t>𝑋</m:t>
                                    </m:r>
                                  </m:e>
                                  <m:sub>
                                    <m:r>
                                      <a:rPr lang="en-US" sz="2400" b="0" i="1" smtClean="0">
                                        <a:latin typeface="Cambria Math" panose="02040503050406030204" pitchFamily="18" charset="0"/>
                                      </a:rPr>
                                      <m:t>1</m:t>
                                    </m:r>
                                    <m:r>
                                      <a:rPr lang="en-US" sz="2400" b="0" i="1" smtClean="0">
                                        <a:latin typeface="Cambria Math" panose="02040503050406030204" pitchFamily="18" charset="0"/>
                                      </a:rPr>
                                      <m:t>𝑖</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b="0" i="1" smtClean="0">
                                        <a:latin typeface="Cambria Math" panose="02040503050406030204" pitchFamily="18" charset="0"/>
                                      </a:rPr>
                                      <m:t>𝑋</m:t>
                                    </m:r>
                                  </m:e>
                                  <m:sub>
                                    <m:r>
                                      <a:rPr lang="en-US" sz="2400" b="0" i="1" smtClean="0">
                                        <a:latin typeface="Cambria Math" panose="02040503050406030204" pitchFamily="18" charset="0"/>
                                      </a:rPr>
                                      <m:t>2</m:t>
                                    </m:r>
                                    <m:r>
                                      <a:rPr lang="en-US" sz="2400" b="0" i="1" smtClean="0">
                                        <a:latin typeface="Cambria Math" panose="02040503050406030204" pitchFamily="18" charset="0"/>
                                      </a:rPr>
                                      <m:t>𝑖</m:t>
                                    </m:r>
                                  </m:sub>
                                </m:sSub>
                                <m:r>
                                  <a:rPr lang="en-US" sz="2400" b="0" i="1" smtClean="0">
                                    <a:latin typeface="Cambria Math" panose="02040503050406030204" pitchFamily="18" charset="0"/>
                                  </a:rPr>
                                  <m:t>)</m:t>
                                </m:r>
                              </m:e>
                            </m:nary>
                          </m:e>
                          <m:sup>
                            <m:r>
                              <a:rPr lang="en-US" sz="2400" b="0" i="1" smtClean="0">
                                <a:latin typeface="Cambria Math" panose="02040503050406030204" pitchFamily="18" charset="0"/>
                              </a:rPr>
                              <m:t>2</m:t>
                            </m:r>
                          </m:sup>
                        </m:sSup>
                        <m:r>
                          <a:rPr lang="en-US" sz="2400" b="0" i="1" smtClean="0">
                            <a:latin typeface="Cambria Math" panose="02040503050406030204" pitchFamily="18" charset="0"/>
                          </a:rPr>
                          <m:t>)</m:t>
                        </m:r>
                      </m:e>
                      <m:sup>
                        <m:f>
                          <m:fPr>
                            <m:type m:val="skw"/>
                            <m:ctrlPr>
                              <a:rPr lang="en-US" sz="2400" b="1" i="1" smtClean="0">
                                <a:latin typeface="Cambria Math" panose="02040503050406030204" pitchFamily="18" charset="0"/>
                              </a:rPr>
                            </m:ctrlPr>
                          </m:fPr>
                          <m:num>
                            <m:r>
                              <a:rPr lang="en-US" sz="2400" b="1" i="1" smtClean="0">
                                <a:latin typeface="Cambria Math" panose="02040503050406030204" pitchFamily="18" charset="0"/>
                              </a:rPr>
                              <m:t>𝟏</m:t>
                            </m:r>
                          </m:num>
                          <m:den>
                            <m:r>
                              <a:rPr lang="en-US" sz="2400" b="1" i="1" smtClean="0">
                                <a:latin typeface="Cambria Math" panose="02040503050406030204" pitchFamily="18" charset="0"/>
                              </a:rPr>
                              <m:t>𝟐</m:t>
                            </m:r>
                          </m:den>
                        </m:f>
                      </m:sup>
                    </m:sSup>
                  </m:oMath>
                </a14:m>
                <a:r>
                  <a:rPr lang="en-US" sz="2400" dirty="0" smtClean="0"/>
                  <a:t> or</a:t>
                </a:r>
              </a:p>
              <a:p>
                <a:endParaRPr lang="en-US" sz="2400" dirty="0"/>
              </a:p>
            </p:txBody>
          </p:sp>
        </mc:Choice>
        <mc:Fallback>
          <p:sp>
            <p:nvSpPr>
              <p:cNvPr id="3" name="Content Placeholder 2"/>
              <p:cNvSpPr>
                <a:spLocks noGrp="1" noRot="1" noChangeAspect="1" noMove="1" noResize="1" noEditPoints="1" noAdjustHandles="1" noChangeArrowheads="1" noChangeShapeType="1" noTextEdit="1"/>
              </p:cNvSpPr>
              <p:nvPr>
                <p:ph idx="1"/>
              </p:nvPr>
            </p:nvSpPr>
            <p:spPr>
              <a:xfrm>
                <a:off x="311324" y="1484784"/>
                <a:ext cx="7560840" cy="3880773"/>
              </a:xfrm>
              <a:blipFill rotWithShape="0">
                <a:blip r:embed="rId2"/>
                <a:stretch>
                  <a:fillRect l="-645" t="-1101"/>
                </a:stretch>
              </a:blipFill>
            </p:spPr>
            <p:txBody>
              <a:bodyPr/>
              <a:lstStyle/>
              <a:p>
                <a:r>
                  <a:rPr lang="en-US">
                    <a:noFill/>
                  </a:rPr>
                  <a:t> </a:t>
                </a:r>
              </a:p>
            </p:txBody>
          </p:sp>
        </mc:Fallback>
      </mc:AlternateContent>
      <p:pic>
        <p:nvPicPr>
          <p:cNvPr id="31" name="Picture 30"/>
          <p:cNvPicPr>
            <a:picLocks noChangeAspect="1"/>
          </p:cNvPicPr>
          <p:nvPr/>
        </p:nvPicPr>
        <p:blipFill>
          <a:blip r:embed="rId3"/>
          <a:stretch>
            <a:fillRect/>
          </a:stretch>
        </p:blipFill>
        <p:spPr>
          <a:xfrm>
            <a:off x="5207868" y="3068960"/>
            <a:ext cx="2664296" cy="1891236"/>
          </a:xfrm>
          <a:prstGeom prst="rect">
            <a:avLst/>
          </a:prstGeom>
        </p:spPr>
      </p:pic>
      <p:pic>
        <p:nvPicPr>
          <p:cNvPr id="32" name="Picture 31"/>
          <p:cNvPicPr>
            <a:picLocks noChangeAspect="1"/>
          </p:cNvPicPr>
          <p:nvPr/>
        </p:nvPicPr>
        <p:blipFill>
          <a:blip r:embed="rId4"/>
          <a:stretch>
            <a:fillRect/>
          </a:stretch>
        </p:blipFill>
        <p:spPr>
          <a:xfrm>
            <a:off x="755576" y="5261888"/>
            <a:ext cx="2664296" cy="556399"/>
          </a:xfrm>
          <a:prstGeom prst="rect">
            <a:avLst/>
          </a:prstGeom>
        </p:spPr>
      </p:pic>
    </p:spTree>
    <p:extLst>
      <p:ext uri="{BB962C8B-B14F-4D97-AF65-F5344CB8AC3E}">
        <p14:creationId xmlns:p14="http://schemas.microsoft.com/office/powerpoint/2010/main" val="26160524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395536" y="908719"/>
            <a:ext cx="5904656" cy="3280365"/>
          </a:xfrm>
          <a:prstGeom prst="rect">
            <a:avLst/>
          </a:prstGeom>
        </p:spPr>
      </p:pic>
    </p:spTree>
    <p:extLst>
      <p:ext uri="{BB962C8B-B14F-4D97-AF65-F5344CB8AC3E}">
        <p14:creationId xmlns:p14="http://schemas.microsoft.com/office/powerpoint/2010/main" val="33384209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332656"/>
            <a:ext cx="6777801" cy="1320800"/>
          </a:xfrm>
        </p:spPr>
        <p:txBody>
          <a:bodyPr>
            <a:normAutofit fontScale="90000"/>
          </a:bodyPr>
          <a:lstStyle/>
          <a:p>
            <a:pPr algn="ctr"/>
            <a:r>
              <a:rPr lang="en-US" b="1" dirty="0"/>
              <a:t>Characteristics of Euclidean Distance</a:t>
            </a:r>
            <a:br>
              <a:rPr lang="en-US" b="1" dirty="0"/>
            </a:br>
            <a:endParaRPr lang="en-US" dirty="0"/>
          </a:p>
        </p:txBody>
      </p:sp>
      <p:sp>
        <p:nvSpPr>
          <p:cNvPr id="4" name="Rectangle 1"/>
          <p:cNvSpPr>
            <a:spLocks noGrp="1" noChangeArrowheads="1"/>
          </p:cNvSpPr>
          <p:nvPr>
            <p:ph idx="1"/>
          </p:nvPr>
        </p:nvSpPr>
        <p:spPr bwMode="auto">
          <a:xfrm>
            <a:off x="179512" y="1425020"/>
            <a:ext cx="7272808" cy="49859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800" b="1" i="0" u="none" strike="noStrike" cap="none" normalizeH="0" baseline="0" dirty="0" smtClean="0">
                <a:ln>
                  <a:noFill/>
                </a:ln>
                <a:solidFill>
                  <a:schemeClr val="tx1"/>
                </a:solidFill>
                <a:effectLst/>
                <a:latin typeface="Arial" panose="020B0604020202020204" pitchFamily="34" charset="0"/>
              </a:rPr>
              <a:t>Straight-Line Distance</a:t>
            </a:r>
            <a:r>
              <a:rPr kumimoji="0" lang="en-US" altLang="en-US" sz="1800" b="0" i="0" u="none" strike="noStrike" cap="none" normalizeH="0" baseline="0" dirty="0" smtClean="0">
                <a:ln>
                  <a:noFill/>
                </a:ln>
                <a:solidFill>
                  <a:schemeClr val="tx1"/>
                </a:solidFill>
                <a:effectLst/>
                <a:latin typeface="Arial" panose="020B0604020202020204" pitchFamily="34" charset="0"/>
              </a:rPr>
              <a:t>:</a:t>
            </a:r>
          </a:p>
          <a:p>
            <a:pPr lvl="1" defTabSz="914400" eaLnBrk="0" fontAlgn="base" hangingPunct="0">
              <a:lnSpc>
                <a:spcPct val="150000"/>
              </a:lnSpc>
              <a:spcBef>
                <a:spcPct val="0"/>
              </a:spcBef>
              <a:spcAft>
                <a:spcPct val="0"/>
              </a:spcAft>
              <a:buClrTx/>
              <a:buSzTx/>
              <a:buFont typeface="Wingdings" panose="05000000000000000000" pitchFamily="2" charset="2"/>
              <a:buChar char="Ø"/>
            </a:pPr>
            <a:r>
              <a:rPr kumimoji="0" lang="en-US" altLang="en-US" sz="1600" b="0" i="0" u="none" strike="noStrike" cap="none" normalizeH="0" baseline="0" dirty="0" smtClean="0">
                <a:ln>
                  <a:noFill/>
                </a:ln>
                <a:solidFill>
                  <a:schemeClr val="tx1"/>
                </a:solidFill>
                <a:effectLst/>
                <a:latin typeface="Arial" panose="020B0604020202020204" pitchFamily="34" charset="0"/>
              </a:rPr>
              <a:t>Measures the direct (diagonal) distance between two points.</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800" b="1" i="0" u="none" strike="noStrike" cap="none" normalizeH="0" baseline="0" dirty="0" smtClean="0">
                <a:ln>
                  <a:noFill/>
                </a:ln>
                <a:solidFill>
                  <a:schemeClr val="tx1"/>
                </a:solidFill>
                <a:effectLst/>
                <a:latin typeface="Arial" panose="020B0604020202020204" pitchFamily="34" charset="0"/>
              </a:rPr>
              <a:t>Correlation with Geometry</a:t>
            </a:r>
            <a:r>
              <a:rPr kumimoji="0" lang="en-US" altLang="en-US" sz="1800" b="0" i="0" u="none" strike="noStrike" cap="none" normalizeH="0" baseline="0" dirty="0" smtClean="0">
                <a:ln>
                  <a:noFill/>
                </a:ln>
                <a:solidFill>
                  <a:schemeClr val="tx1"/>
                </a:solidFill>
                <a:effectLst/>
                <a:latin typeface="Arial" panose="020B0604020202020204" pitchFamily="34" charset="0"/>
              </a:rPr>
              <a:t>:</a:t>
            </a:r>
          </a:p>
          <a:p>
            <a:pPr lvl="1" defTabSz="914400" eaLnBrk="0" fontAlgn="base" hangingPunct="0">
              <a:lnSpc>
                <a:spcPct val="150000"/>
              </a:lnSpc>
              <a:spcBef>
                <a:spcPct val="0"/>
              </a:spcBef>
              <a:spcAft>
                <a:spcPct val="0"/>
              </a:spcAft>
              <a:buClrTx/>
              <a:buSzTx/>
              <a:buFont typeface="Wingdings" panose="05000000000000000000" pitchFamily="2" charset="2"/>
              <a:buChar char="Ø"/>
            </a:pPr>
            <a:r>
              <a:rPr kumimoji="0" lang="en-US" altLang="en-US" sz="1600" b="0" i="0" u="none" strike="noStrike" cap="none" normalizeH="0" baseline="0" dirty="0" smtClean="0">
                <a:ln>
                  <a:noFill/>
                </a:ln>
                <a:solidFill>
                  <a:schemeClr val="tx1"/>
                </a:solidFill>
                <a:effectLst/>
                <a:latin typeface="Arial" panose="020B0604020202020204" pitchFamily="34" charset="0"/>
              </a:rPr>
              <a:t>Represents the geometric distance in standard Cartesian coordinates.</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800" b="1" i="0" u="none" strike="noStrike" cap="none" normalizeH="0" baseline="0" dirty="0" smtClean="0">
                <a:ln>
                  <a:noFill/>
                </a:ln>
                <a:solidFill>
                  <a:schemeClr val="tx1"/>
                </a:solidFill>
                <a:effectLst/>
                <a:latin typeface="Arial" panose="020B0604020202020204" pitchFamily="34" charset="0"/>
              </a:rPr>
              <a:t>Sensitivity to Scale</a:t>
            </a:r>
            <a:r>
              <a:rPr kumimoji="0" lang="en-US" altLang="en-US" sz="1800" b="0" i="0" u="none" strike="noStrike" cap="none" normalizeH="0" baseline="0" dirty="0" smtClean="0">
                <a:ln>
                  <a:noFill/>
                </a:ln>
                <a:solidFill>
                  <a:schemeClr val="tx1"/>
                </a:solidFill>
                <a:effectLst/>
                <a:latin typeface="Arial" panose="020B0604020202020204" pitchFamily="34" charset="0"/>
              </a:rPr>
              <a:t>:</a:t>
            </a:r>
          </a:p>
          <a:p>
            <a:pPr lvl="1" defTabSz="914400" eaLnBrk="0" fontAlgn="base" hangingPunct="0">
              <a:lnSpc>
                <a:spcPct val="150000"/>
              </a:lnSpc>
              <a:spcBef>
                <a:spcPct val="0"/>
              </a:spcBef>
              <a:spcAft>
                <a:spcPct val="0"/>
              </a:spcAft>
              <a:buClrTx/>
              <a:buSzTx/>
              <a:buFont typeface="Wingdings" panose="05000000000000000000" pitchFamily="2" charset="2"/>
              <a:buChar char="Ø"/>
            </a:pPr>
            <a:r>
              <a:rPr kumimoji="0" lang="en-US" altLang="en-US" sz="1600" b="0" i="0" u="none" strike="noStrike" cap="none" normalizeH="0" baseline="0" dirty="0" smtClean="0">
                <a:ln>
                  <a:noFill/>
                </a:ln>
                <a:solidFill>
                  <a:schemeClr val="tx1"/>
                </a:solidFill>
                <a:effectLst/>
                <a:latin typeface="Arial" panose="020B0604020202020204" pitchFamily="34" charset="0"/>
              </a:rPr>
              <a:t>Features with larger scales dominate the distance calculation.</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800" b="1" i="0" u="none" strike="noStrike" cap="none" normalizeH="0" baseline="0" dirty="0" smtClean="0">
                <a:ln>
                  <a:noFill/>
                </a:ln>
                <a:solidFill>
                  <a:schemeClr val="tx1"/>
                </a:solidFill>
                <a:effectLst/>
                <a:latin typeface="Arial" panose="020B0604020202020204" pitchFamily="34" charset="0"/>
              </a:rPr>
              <a:t>Normalization or standardization</a:t>
            </a:r>
            <a:r>
              <a:rPr kumimoji="0" lang="en-US" altLang="en-US" sz="1800" b="0" i="0" u="none" strike="noStrike" cap="none" normalizeH="0" baseline="0" dirty="0" smtClean="0">
                <a:ln>
                  <a:noFill/>
                </a:ln>
                <a:solidFill>
                  <a:schemeClr val="tx1"/>
                </a:solidFill>
                <a:effectLst/>
                <a:latin typeface="Arial" panose="020B0604020202020204" pitchFamily="34" charset="0"/>
              </a:rPr>
              <a:t> is required to ensure fair comparison between features.</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800" b="1" i="0" u="none" strike="noStrike" cap="none" normalizeH="0" baseline="0" dirty="0" smtClean="0">
                <a:ln>
                  <a:noFill/>
                </a:ln>
                <a:solidFill>
                  <a:schemeClr val="tx1"/>
                </a:solidFill>
                <a:effectLst/>
                <a:latin typeface="Arial" panose="020B0604020202020204" pitchFamily="34" charset="0"/>
              </a:rPr>
              <a:t>Outlier Sensitivity</a:t>
            </a:r>
            <a:r>
              <a:rPr kumimoji="0" lang="en-US" altLang="en-US" sz="1800" b="0" i="0" u="none" strike="noStrike" cap="none" normalizeH="0" baseline="0" dirty="0" smtClean="0">
                <a:ln>
                  <a:noFill/>
                </a:ln>
                <a:solidFill>
                  <a:schemeClr val="tx1"/>
                </a:solidFill>
                <a:effectLst/>
                <a:latin typeface="Arial" panose="020B0604020202020204" pitchFamily="34" charset="0"/>
              </a:rPr>
              <a:t>:</a:t>
            </a:r>
          </a:p>
          <a:p>
            <a:pPr lvl="1" defTabSz="914400" eaLnBrk="0" fontAlgn="base" hangingPunct="0">
              <a:lnSpc>
                <a:spcPct val="150000"/>
              </a:lnSpc>
              <a:spcBef>
                <a:spcPct val="0"/>
              </a:spcBef>
              <a:spcAft>
                <a:spcPct val="0"/>
              </a:spcAft>
              <a:buClrTx/>
              <a:buSzTx/>
              <a:buFont typeface="Wingdings" panose="05000000000000000000" pitchFamily="2" charset="2"/>
              <a:buChar char="Ø"/>
            </a:pPr>
            <a:r>
              <a:rPr kumimoji="0" lang="en-US" altLang="en-US" sz="1600" b="0" i="0" u="none" strike="noStrike" cap="none" normalizeH="0" baseline="0" dirty="0" smtClean="0">
                <a:ln>
                  <a:noFill/>
                </a:ln>
                <a:solidFill>
                  <a:schemeClr val="tx1"/>
                </a:solidFill>
                <a:effectLst/>
                <a:latin typeface="Arial" panose="020B0604020202020204" pitchFamily="34" charset="0"/>
              </a:rPr>
              <a:t>Squaring the differences in coordinates makes Euclidean Distance sensitive to outliers.</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3371571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2386" y="216250"/>
            <a:ext cx="6347713" cy="692470"/>
          </a:xfrm>
        </p:spPr>
        <p:txBody>
          <a:bodyPr/>
          <a:lstStyle/>
          <a:p>
            <a:r>
              <a:rPr lang="en-US" b="1" dirty="0" smtClean="0"/>
              <a:t>Manhattan Distance</a:t>
            </a:r>
            <a:endParaRPr lang="en-US" b="1" dirty="0"/>
          </a:p>
        </p:txBody>
      </p:sp>
      <p:sp>
        <p:nvSpPr>
          <p:cNvPr id="3" name="Content Placeholder 2"/>
          <p:cNvSpPr>
            <a:spLocks noGrp="1"/>
          </p:cNvSpPr>
          <p:nvPr>
            <p:ph idx="1"/>
          </p:nvPr>
        </p:nvSpPr>
        <p:spPr>
          <a:xfrm>
            <a:off x="107504" y="908720"/>
            <a:ext cx="7704856" cy="2680350"/>
          </a:xfrm>
        </p:spPr>
        <p:txBody>
          <a:bodyPr>
            <a:normAutofit lnSpcReduction="10000"/>
          </a:bodyPr>
          <a:lstStyle/>
          <a:p>
            <a:pPr>
              <a:lnSpc>
                <a:spcPct val="150000"/>
              </a:lnSpc>
            </a:pPr>
            <a:r>
              <a:rPr lang="en-US" dirty="0"/>
              <a:t>Manhattan Distance measures the distance between two points by summing the absolute differences of their coordinates</a:t>
            </a:r>
            <a:r>
              <a:rPr lang="en-US" dirty="0" smtClean="0"/>
              <a:t>.</a:t>
            </a:r>
          </a:p>
          <a:p>
            <a:pPr>
              <a:lnSpc>
                <a:spcPct val="150000"/>
              </a:lnSpc>
            </a:pPr>
            <a:r>
              <a:rPr lang="en-US" dirty="0" smtClean="0"/>
              <a:t> </a:t>
            </a:r>
            <a:r>
              <a:rPr lang="en-US" dirty="0"/>
              <a:t>It is also known as </a:t>
            </a:r>
            <a:r>
              <a:rPr lang="en-US" b="1" dirty="0"/>
              <a:t>L1 Norm</a:t>
            </a:r>
            <a:r>
              <a:rPr lang="en-US" dirty="0"/>
              <a:t> or </a:t>
            </a:r>
            <a:r>
              <a:rPr lang="en-US" b="1" dirty="0"/>
              <a:t>Taxicab Distance</a:t>
            </a:r>
            <a:r>
              <a:rPr lang="en-US" dirty="0"/>
              <a:t> because it resembles the path a taxi would take in a grid-like city layout (e.g., moving along streets and avenues instead of diagonally</a:t>
            </a:r>
            <a:r>
              <a:rPr lang="en-US" dirty="0" smtClean="0"/>
              <a:t>).</a:t>
            </a:r>
          </a:p>
          <a:p>
            <a:pPr>
              <a:lnSpc>
                <a:spcPct val="150000"/>
              </a:lnSpc>
            </a:pPr>
            <a:r>
              <a:rPr lang="en-US" dirty="0"/>
              <a:t>Manhattan Distance follows axis-aligned paths.</a:t>
            </a:r>
          </a:p>
        </p:txBody>
      </p:sp>
      <p:graphicFrame>
        <p:nvGraphicFramePr>
          <p:cNvPr id="5" name="Table 4"/>
          <p:cNvGraphicFramePr>
            <a:graphicFrameLocks noGrp="1"/>
          </p:cNvGraphicFramePr>
          <p:nvPr>
            <p:extLst>
              <p:ext uri="{D42A27DB-BD31-4B8C-83A1-F6EECF244321}">
                <p14:modId xmlns:p14="http://schemas.microsoft.com/office/powerpoint/2010/main" val="741673122"/>
              </p:ext>
            </p:extLst>
          </p:nvPr>
        </p:nvGraphicFramePr>
        <p:xfrm>
          <a:off x="1763688" y="3789040"/>
          <a:ext cx="4248470" cy="2760607"/>
        </p:xfrm>
        <a:graphic>
          <a:graphicData uri="http://schemas.openxmlformats.org/drawingml/2006/table">
            <a:tbl>
              <a:tblPr firstRow="1" bandRow="1">
                <a:tableStyleId>{5C22544A-7EE6-4342-B048-85BDC9FD1C3A}</a:tableStyleId>
              </a:tblPr>
              <a:tblGrid>
                <a:gridCol w="849694"/>
                <a:gridCol w="849694"/>
                <a:gridCol w="849694"/>
                <a:gridCol w="849694"/>
                <a:gridCol w="849694"/>
              </a:tblGrid>
              <a:tr h="509260">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750449">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750449">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750449">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
        <p:nvSpPr>
          <p:cNvPr id="6" name="Right Arrow 5"/>
          <p:cNvSpPr/>
          <p:nvPr/>
        </p:nvSpPr>
        <p:spPr>
          <a:xfrm>
            <a:off x="1907704" y="6061645"/>
            <a:ext cx="576064" cy="2880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87719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251519" y="476672"/>
            <a:ext cx="7107031" cy="3312368"/>
          </a:xfrm>
          <a:prstGeom prst="rect">
            <a:avLst/>
          </a:prstGeom>
        </p:spPr>
      </p:pic>
    </p:spTree>
    <p:extLst>
      <p:ext uri="{BB962C8B-B14F-4D97-AF65-F5344CB8AC3E}">
        <p14:creationId xmlns:p14="http://schemas.microsoft.com/office/powerpoint/2010/main" val="15775617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251520" y="548680"/>
            <a:ext cx="6728181" cy="3672408"/>
          </a:xfrm>
          <a:prstGeom prst="rect">
            <a:avLst/>
          </a:prstGeom>
        </p:spPr>
      </p:pic>
    </p:spTree>
    <p:extLst>
      <p:ext uri="{BB962C8B-B14F-4D97-AF65-F5344CB8AC3E}">
        <p14:creationId xmlns:p14="http://schemas.microsoft.com/office/powerpoint/2010/main" val="13769387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6" y="116632"/>
            <a:ext cx="7560840" cy="803176"/>
          </a:xfrm>
        </p:spPr>
        <p:txBody>
          <a:bodyPr>
            <a:normAutofit fontScale="90000"/>
          </a:bodyPr>
          <a:lstStyle/>
          <a:p>
            <a:r>
              <a:rPr lang="en-US" b="1" dirty="0"/>
              <a:t>Characteristics of Manhattan Distance</a:t>
            </a:r>
          </a:p>
        </p:txBody>
      </p:sp>
      <p:sp>
        <p:nvSpPr>
          <p:cNvPr id="4" name="Rectangle 1"/>
          <p:cNvSpPr>
            <a:spLocks noGrp="1" noChangeArrowheads="1"/>
          </p:cNvSpPr>
          <p:nvPr>
            <p:ph idx="1"/>
          </p:nvPr>
        </p:nvSpPr>
        <p:spPr bwMode="auto">
          <a:xfrm>
            <a:off x="3036" y="726406"/>
            <a:ext cx="8277376" cy="59093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800" b="1" i="0" u="none" strike="noStrike" cap="none" normalizeH="0" baseline="0" dirty="0" smtClean="0">
                <a:ln>
                  <a:noFill/>
                </a:ln>
                <a:solidFill>
                  <a:schemeClr val="tx1"/>
                </a:solidFill>
                <a:effectLst/>
                <a:latin typeface="Arial" panose="020B0604020202020204" pitchFamily="34" charset="0"/>
              </a:rPr>
              <a:t>Non-Euclidean</a:t>
            </a:r>
            <a:r>
              <a:rPr kumimoji="0" lang="en-US" altLang="en-US" sz="1800" b="0" i="0" u="none" strike="noStrike" cap="none" normalizeH="0" baseline="0" dirty="0" smtClean="0">
                <a:ln>
                  <a:noFill/>
                </a:ln>
                <a:solidFill>
                  <a:schemeClr val="tx1"/>
                </a:solidFill>
                <a:effectLst/>
                <a:latin typeface="Arial" panose="020B0604020202020204" pitchFamily="34" charset="0"/>
              </a:rPr>
              <a:t>:</a:t>
            </a:r>
          </a:p>
          <a:p>
            <a:pPr lvl="1" defTabSz="914400" eaLnBrk="0" fontAlgn="base" hangingPunct="0">
              <a:lnSpc>
                <a:spcPct val="150000"/>
              </a:lnSpc>
              <a:spcBef>
                <a:spcPct val="0"/>
              </a:spcBef>
              <a:spcAft>
                <a:spcPct val="0"/>
              </a:spcAft>
              <a:buClrTx/>
              <a:buSzTx/>
              <a:buFont typeface="Wingdings" panose="05000000000000000000" pitchFamily="2" charset="2"/>
              <a:buChar char="Ø"/>
            </a:pPr>
            <a:r>
              <a:rPr kumimoji="0" lang="en-US" altLang="en-US" sz="1600" b="0" i="0" u="none" strike="noStrike" cap="none" normalizeH="0" baseline="0" dirty="0" smtClean="0">
                <a:ln>
                  <a:noFill/>
                </a:ln>
                <a:solidFill>
                  <a:schemeClr val="tx1"/>
                </a:solidFill>
                <a:effectLst/>
                <a:latin typeface="Arial" panose="020B0604020202020204" pitchFamily="34" charset="0"/>
              </a:rPr>
              <a:t>Unlike Euclidean distance, which measures the straight-line (diagonal) distance, Manhattan Distance follows axis-aligned paths.</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800" b="1" i="0" u="none" strike="noStrike" cap="none" normalizeH="0" baseline="0" dirty="0" smtClean="0">
                <a:ln>
                  <a:noFill/>
                </a:ln>
                <a:solidFill>
                  <a:schemeClr val="tx1"/>
                </a:solidFill>
                <a:effectLst/>
                <a:latin typeface="Arial" panose="020B0604020202020204" pitchFamily="34" charset="0"/>
              </a:rPr>
              <a:t>Insensitive to Outliers</a:t>
            </a:r>
            <a:r>
              <a:rPr kumimoji="0" lang="en-US" altLang="en-US" sz="1800" b="0" i="0" u="none" strike="noStrike" cap="none" normalizeH="0" baseline="0" dirty="0" smtClean="0">
                <a:ln>
                  <a:noFill/>
                </a:ln>
                <a:solidFill>
                  <a:schemeClr val="tx1"/>
                </a:solidFill>
                <a:effectLst/>
                <a:latin typeface="Arial" panose="020B0604020202020204" pitchFamily="34" charset="0"/>
              </a:rPr>
              <a:t>:</a:t>
            </a:r>
          </a:p>
          <a:p>
            <a:pPr lvl="1" defTabSz="914400" eaLnBrk="0" fontAlgn="base" hangingPunct="0">
              <a:lnSpc>
                <a:spcPct val="150000"/>
              </a:lnSpc>
              <a:spcBef>
                <a:spcPct val="0"/>
              </a:spcBef>
              <a:spcAft>
                <a:spcPct val="0"/>
              </a:spcAft>
              <a:buClrTx/>
              <a:buSzTx/>
              <a:buFont typeface="Wingdings" panose="05000000000000000000" pitchFamily="2" charset="2"/>
              <a:buChar char="Ø"/>
            </a:pPr>
            <a:r>
              <a:rPr kumimoji="0" lang="en-US" altLang="en-US" sz="1600" b="0" i="0" u="none" strike="noStrike" cap="none" normalizeH="0" baseline="0" dirty="0" smtClean="0">
                <a:ln>
                  <a:noFill/>
                </a:ln>
                <a:solidFill>
                  <a:schemeClr val="tx1"/>
                </a:solidFill>
                <a:effectLst/>
                <a:latin typeface="Arial" panose="020B0604020202020204" pitchFamily="34" charset="0"/>
              </a:rPr>
              <a:t>Since it considers absolute differences rather than squared differences, it is less affected by extreme values compared to Euclidean distance.</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800" b="1" i="0" u="none" strike="noStrike" cap="none" normalizeH="0" baseline="0" dirty="0" smtClean="0">
                <a:ln>
                  <a:noFill/>
                </a:ln>
                <a:solidFill>
                  <a:schemeClr val="tx1"/>
                </a:solidFill>
                <a:effectLst/>
                <a:latin typeface="Arial" panose="020B0604020202020204" pitchFamily="34" charset="0"/>
              </a:rPr>
              <a:t>Feature Scaling</a:t>
            </a:r>
            <a:r>
              <a:rPr kumimoji="0" lang="en-US" altLang="en-US" sz="1800" b="0" i="0" u="none" strike="noStrike" cap="none" normalizeH="0" baseline="0" dirty="0" smtClean="0">
                <a:ln>
                  <a:noFill/>
                </a:ln>
                <a:solidFill>
                  <a:schemeClr val="tx1"/>
                </a:solidFill>
                <a:effectLst/>
                <a:latin typeface="Arial" panose="020B0604020202020204" pitchFamily="34" charset="0"/>
              </a:rPr>
              <a:t>:</a:t>
            </a:r>
          </a:p>
          <a:p>
            <a:pPr lvl="1" defTabSz="914400" eaLnBrk="0" fontAlgn="base" hangingPunct="0">
              <a:lnSpc>
                <a:spcPct val="150000"/>
              </a:lnSpc>
              <a:spcBef>
                <a:spcPct val="0"/>
              </a:spcBef>
              <a:spcAft>
                <a:spcPct val="0"/>
              </a:spcAft>
              <a:buClrTx/>
              <a:buSzTx/>
              <a:buFont typeface="Wingdings" panose="05000000000000000000" pitchFamily="2" charset="2"/>
              <a:buChar char="Ø"/>
            </a:pPr>
            <a:r>
              <a:rPr kumimoji="0" lang="en-US" altLang="en-US" sz="1600" b="0" i="0" u="none" strike="noStrike" cap="none" normalizeH="0" baseline="0" dirty="0" smtClean="0">
                <a:ln>
                  <a:noFill/>
                </a:ln>
                <a:solidFill>
                  <a:schemeClr val="tx1"/>
                </a:solidFill>
                <a:effectLst/>
                <a:latin typeface="Arial" panose="020B0604020202020204" pitchFamily="34" charset="0"/>
              </a:rPr>
              <a:t>It is sensitive to differences in feature scales, so </a:t>
            </a:r>
            <a:r>
              <a:rPr kumimoji="0" lang="en-US" altLang="en-US" sz="1600" b="1" i="0" u="none" strike="noStrike" cap="none" normalizeH="0" baseline="0" dirty="0" smtClean="0">
                <a:ln>
                  <a:noFill/>
                </a:ln>
                <a:solidFill>
                  <a:schemeClr val="tx1"/>
                </a:solidFill>
                <a:effectLst/>
                <a:latin typeface="Arial" panose="020B0604020202020204" pitchFamily="34" charset="0"/>
              </a:rPr>
              <a:t>normalization or standardization</a:t>
            </a:r>
            <a:r>
              <a:rPr kumimoji="0" lang="en-US" altLang="en-US" sz="1600" b="0" i="0" u="none" strike="noStrike" cap="none" normalizeH="0" baseline="0" dirty="0" smtClean="0">
                <a:ln>
                  <a:noFill/>
                </a:ln>
                <a:solidFill>
                  <a:schemeClr val="tx1"/>
                </a:solidFill>
                <a:effectLst/>
                <a:latin typeface="Arial" panose="020B0604020202020204" pitchFamily="34" charset="0"/>
              </a:rPr>
              <a:t> is crucial when using Manhattan Distance.</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800" b="1" i="0" u="none" strike="noStrike" cap="none" normalizeH="0" baseline="0" dirty="0" smtClean="0">
                <a:ln>
                  <a:noFill/>
                </a:ln>
                <a:solidFill>
                  <a:schemeClr val="tx1"/>
                </a:solidFill>
                <a:effectLst/>
                <a:latin typeface="Arial" panose="020B0604020202020204" pitchFamily="34" charset="0"/>
              </a:rPr>
              <a:t>Use Cases</a:t>
            </a:r>
            <a:r>
              <a:rPr kumimoji="0" lang="en-US" altLang="en-US" sz="1800" b="0" i="0" u="none" strike="noStrike" cap="none" normalizeH="0" baseline="0" dirty="0" smtClean="0">
                <a:ln>
                  <a:noFill/>
                </a:ln>
                <a:solidFill>
                  <a:schemeClr val="tx1"/>
                </a:solidFill>
                <a:effectLst/>
                <a:latin typeface="Arial" panose="020B0604020202020204" pitchFamily="34" charset="0"/>
              </a:rPr>
              <a:t>:</a:t>
            </a:r>
          </a:p>
          <a:p>
            <a:pPr lvl="1" defTabSz="914400" eaLnBrk="0" fontAlgn="base" hangingPunct="0">
              <a:lnSpc>
                <a:spcPct val="150000"/>
              </a:lnSpc>
              <a:spcBef>
                <a:spcPct val="0"/>
              </a:spcBef>
              <a:spcAft>
                <a:spcPct val="0"/>
              </a:spcAft>
              <a:buClrTx/>
              <a:buSzTx/>
              <a:buFont typeface="Wingdings" panose="05000000000000000000" pitchFamily="2" charset="2"/>
              <a:buChar char="Ø"/>
            </a:pPr>
            <a:r>
              <a:rPr kumimoji="0" lang="en-US" altLang="en-US" sz="1600" b="0" i="0" u="none" strike="noStrike" cap="none" normalizeH="0" baseline="0" dirty="0" smtClean="0">
                <a:ln>
                  <a:noFill/>
                </a:ln>
                <a:solidFill>
                  <a:schemeClr val="tx1"/>
                </a:solidFill>
                <a:effectLst/>
                <a:latin typeface="Arial" panose="020B0604020202020204" pitchFamily="34" charset="0"/>
              </a:rPr>
              <a:t>Often used in </a:t>
            </a:r>
            <a:r>
              <a:rPr kumimoji="0" lang="en-US" altLang="en-US" sz="1600" b="1" i="0" u="none" strike="noStrike" cap="none" normalizeH="0" baseline="0" dirty="0" smtClean="0">
                <a:ln>
                  <a:noFill/>
                </a:ln>
                <a:solidFill>
                  <a:schemeClr val="tx1"/>
                </a:solidFill>
                <a:effectLst/>
                <a:latin typeface="Arial" panose="020B0604020202020204" pitchFamily="34" charset="0"/>
              </a:rPr>
              <a:t>high-dimensional spaces</a:t>
            </a:r>
            <a:r>
              <a:rPr kumimoji="0" lang="en-US" altLang="en-US" sz="1600" b="0" i="0" u="none" strike="noStrike" cap="none" normalizeH="0" baseline="0" dirty="0" smtClean="0">
                <a:ln>
                  <a:noFill/>
                </a:ln>
                <a:solidFill>
                  <a:schemeClr val="tx1"/>
                </a:solidFill>
                <a:effectLst/>
                <a:latin typeface="Arial" panose="020B0604020202020204" pitchFamily="34" charset="0"/>
              </a:rPr>
              <a:t> where diagonal distances (as in Euclidean distance) lose interpretability.</a:t>
            </a:r>
          </a:p>
          <a:p>
            <a:pPr lvl="1" defTabSz="914400" eaLnBrk="0" fontAlgn="base" hangingPunct="0">
              <a:lnSpc>
                <a:spcPct val="150000"/>
              </a:lnSpc>
              <a:spcBef>
                <a:spcPct val="0"/>
              </a:spcBef>
              <a:spcAft>
                <a:spcPct val="0"/>
              </a:spcAft>
              <a:buClrTx/>
              <a:buSzTx/>
              <a:buFont typeface="Wingdings" panose="05000000000000000000" pitchFamily="2" charset="2"/>
              <a:buChar char="Ø"/>
            </a:pPr>
            <a:r>
              <a:rPr kumimoji="0" lang="en-US" altLang="en-US" sz="1600" b="0" i="0" u="none" strike="noStrike" cap="none" normalizeH="0" baseline="0" dirty="0" smtClean="0">
                <a:ln>
                  <a:noFill/>
                </a:ln>
                <a:solidFill>
                  <a:schemeClr val="tx1"/>
                </a:solidFill>
                <a:effectLst/>
                <a:latin typeface="Arial" panose="020B0604020202020204" pitchFamily="34" charset="0"/>
              </a:rPr>
              <a:t>Suitable for problems where movement or differences occur in orthogonal directions (e.g., city navigation).</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8443896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7504" y="116632"/>
            <a:ext cx="7488832" cy="1320800"/>
          </a:xfrm>
        </p:spPr>
        <p:txBody>
          <a:bodyPr/>
          <a:lstStyle/>
          <a:p>
            <a:r>
              <a:rPr lang="en-US" b="1" dirty="0"/>
              <a:t>When to Use Manhattan Distance in KNN</a:t>
            </a:r>
          </a:p>
        </p:txBody>
      </p:sp>
      <p:sp>
        <p:nvSpPr>
          <p:cNvPr id="4" name="Rectangle 1"/>
          <p:cNvSpPr>
            <a:spLocks noGrp="1" noChangeArrowheads="1"/>
          </p:cNvSpPr>
          <p:nvPr>
            <p:ph idx="1"/>
          </p:nvPr>
        </p:nvSpPr>
        <p:spPr bwMode="auto">
          <a:xfrm>
            <a:off x="139719" y="1556792"/>
            <a:ext cx="7632848" cy="40626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800" b="1" i="0" u="none" strike="noStrike" cap="none" normalizeH="0" baseline="0" dirty="0" smtClean="0">
                <a:ln>
                  <a:noFill/>
                </a:ln>
                <a:solidFill>
                  <a:schemeClr val="tx1"/>
                </a:solidFill>
                <a:effectLst/>
                <a:latin typeface="Arial" panose="020B0604020202020204" pitchFamily="34" charset="0"/>
              </a:rPr>
              <a:t>High-Dimensional Data</a:t>
            </a:r>
            <a:r>
              <a:rPr kumimoji="0" lang="en-US" altLang="en-US" sz="1800" b="0" i="0" u="none" strike="noStrike" cap="none" normalizeH="0" baseline="0" dirty="0" smtClean="0">
                <a:ln>
                  <a:noFill/>
                </a:ln>
                <a:solidFill>
                  <a:schemeClr val="tx1"/>
                </a:solidFill>
                <a:effectLst/>
                <a:latin typeface="Arial" panose="020B0604020202020204" pitchFamily="34" charset="0"/>
              </a:rPr>
              <a:t>:</a:t>
            </a:r>
          </a:p>
          <a:p>
            <a:pPr lvl="1" defTabSz="914400" eaLnBrk="0" fontAlgn="base" hangingPunct="0">
              <a:lnSpc>
                <a:spcPct val="150000"/>
              </a:lnSpc>
              <a:spcBef>
                <a:spcPct val="0"/>
              </a:spcBef>
              <a:spcAft>
                <a:spcPct val="0"/>
              </a:spcAft>
              <a:buClrTx/>
              <a:buSzTx/>
              <a:buFont typeface="Wingdings" panose="05000000000000000000" pitchFamily="2" charset="2"/>
              <a:buChar char="Ø"/>
            </a:pPr>
            <a:r>
              <a:rPr kumimoji="0" lang="en-US" altLang="en-US" sz="1600" b="0" i="0" u="none" strike="noStrike" cap="none" normalizeH="0" baseline="0" dirty="0" smtClean="0">
                <a:ln>
                  <a:noFill/>
                </a:ln>
                <a:solidFill>
                  <a:schemeClr val="tx1"/>
                </a:solidFill>
                <a:effectLst/>
                <a:latin typeface="Arial" panose="020B0604020202020204" pitchFamily="34" charset="0"/>
              </a:rPr>
              <a:t>It works better than Euclidean distance in high-dimensional spaces because it doesn’t overly penalize differences along any single axis.</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800" b="1" i="0" u="none" strike="noStrike" cap="none" normalizeH="0" baseline="0" dirty="0" smtClean="0">
                <a:ln>
                  <a:noFill/>
                </a:ln>
                <a:solidFill>
                  <a:schemeClr val="tx1"/>
                </a:solidFill>
                <a:effectLst/>
                <a:latin typeface="Arial" panose="020B0604020202020204" pitchFamily="34" charset="0"/>
              </a:rPr>
              <a:t>Sparse Data</a:t>
            </a:r>
            <a:r>
              <a:rPr kumimoji="0" lang="en-US" altLang="en-US" sz="1800" b="0" i="0" u="none" strike="noStrike" cap="none" normalizeH="0" baseline="0" dirty="0" smtClean="0">
                <a:ln>
                  <a:noFill/>
                </a:ln>
                <a:solidFill>
                  <a:schemeClr val="tx1"/>
                </a:solidFill>
                <a:effectLst/>
                <a:latin typeface="Arial" panose="020B0604020202020204" pitchFamily="34" charset="0"/>
              </a:rPr>
              <a:t>:</a:t>
            </a:r>
          </a:p>
          <a:p>
            <a:pPr lvl="1" defTabSz="914400" eaLnBrk="0" fontAlgn="base" hangingPunct="0">
              <a:lnSpc>
                <a:spcPct val="150000"/>
              </a:lnSpc>
              <a:spcBef>
                <a:spcPct val="0"/>
              </a:spcBef>
              <a:spcAft>
                <a:spcPct val="0"/>
              </a:spcAft>
              <a:buClrTx/>
              <a:buSzTx/>
              <a:buFont typeface="Wingdings" panose="05000000000000000000" pitchFamily="2" charset="2"/>
              <a:buChar char="Ø"/>
            </a:pPr>
            <a:r>
              <a:rPr kumimoji="0" lang="en-US" altLang="en-US" sz="1600" b="0" i="0" u="none" strike="noStrike" cap="none" normalizeH="0" baseline="0" dirty="0" smtClean="0">
                <a:ln>
                  <a:noFill/>
                </a:ln>
                <a:solidFill>
                  <a:schemeClr val="tx1"/>
                </a:solidFill>
                <a:effectLst/>
                <a:latin typeface="Arial" panose="020B0604020202020204" pitchFamily="34" charset="0"/>
              </a:rPr>
              <a:t>For datasets where many features are zero (e.g., text data represented as term frequency vectors), Manhattan Distance is often preferred.</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800" b="1" i="0" u="none" strike="noStrike" cap="none" normalizeH="0" baseline="0" dirty="0" smtClean="0">
                <a:ln>
                  <a:noFill/>
                </a:ln>
                <a:solidFill>
                  <a:schemeClr val="tx1"/>
                </a:solidFill>
                <a:effectLst/>
                <a:latin typeface="Arial" panose="020B0604020202020204" pitchFamily="34" charset="0"/>
              </a:rPr>
              <a:t>Categorical Features</a:t>
            </a:r>
            <a:r>
              <a:rPr kumimoji="0" lang="en-US" altLang="en-US" sz="1800" b="0" i="0" u="none" strike="noStrike" cap="none" normalizeH="0" baseline="0" dirty="0" smtClean="0">
                <a:ln>
                  <a:noFill/>
                </a:ln>
                <a:solidFill>
                  <a:schemeClr val="tx1"/>
                </a:solidFill>
                <a:effectLst/>
                <a:latin typeface="Arial" panose="020B0604020202020204" pitchFamily="34" charset="0"/>
              </a:rPr>
              <a:t>:</a:t>
            </a:r>
          </a:p>
          <a:p>
            <a:pPr lvl="1" defTabSz="914400" eaLnBrk="0" fontAlgn="base" hangingPunct="0">
              <a:lnSpc>
                <a:spcPct val="150000"/>
              </a:lnSpc>
              <a:spcBef>
                <a:spcPct val="0"/>
              </a:spcBef>
              <a:spcAft>
                <a:spcPct val="0"/>
              </a:spcAft>
              <a:buClrTx/>
              <a:buSzTx/>
              <a:buFont typeface="Wingdings" panose="05000000000000000000" pitchFamily="2" charset="2"/>
              <a:buChar char="Ø"/>
            </a:pPr>
            <a:r>
              <a:rPr kumimoji="0" lang="en-US" altLang="en-US" sz="1600" b="0" i="0" u="none" strike="noStrike" cap="none" normalizeH="0" baseline="0" dirty="0" smtClean="0">
                <a:ln>
                  <a:noFill/>
                </a:ln>
                <a:solidFill>
                  <a:schemeClr val="tx1"/>
                </a:solidFill>
                <a:effectLst/>
                <a:latin typeface="Arial" panose="020B0604020202020204" pitchFamily="34" charset="0"/>
              </a:rPr>
              <a:t>When used with dummy encoding, Manhattan Distance can effectively measure differences in categorical data.</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6239899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238" y="116632"/>
            <a:ext cx="6347713" cy="731168"/>
          </a:xfrm>
        </p:spPr>
        <p:txBody>
          <a:bodyPr>
            <a:normAutofit fontScale="90000"/>
          </a:bodyPr>
          <a:lstStyle/>
          <a:p>
            <a:r>
              <a:rPr lang="en-US" b="1" dirty="0"/>
              <a:t>Minkowski </a:t>
            </a:r>
            <a:r>
              <a:rPr lang="en-US" b="1" dirty="0" smtClean="0"/>
              <a:t>Distance(LP Norms)</a:t>
            </a:r>
            <a:endParaRPr lang="en-US" b="1" dirty="0"/>
          </a:p>
        </p:txBody>
      </p:sp>
      <p:sp>
        <p:nvSpPr>
          <p:cNvPr id="3" name="Content Placeholder 2"/>
          <p:cNvSpPr>
            <a:spLocks noGrp="1"/>
          </p:cNvSpPr>
          <p:nvPr>
            <p:ph idx="1"/>
          </p:nvPr>
        </p:nvSpPr>
        <p:spPr>
          <a:xfrm>
            <a:off x="179512" y="1052736"/>
            <a:ext cx="7776864" cy="3880773"/>
          </a:xfrm>
        </p:spPr>
        <p:txBody>
          <a:bodyPr/>
          <a:lstStyle/>
          <a:p>
            <a:r>
              <a:rPr lang="en-US" dirty="0"/>
              <a:t>Minkowski Distance measures the distance between two points in an </a:t>
            </a:r>
            <a:r>
              <a:rPr lang="en-US" dirty="0" smtClean="0"/>
              <a:t>n-dimensional </a:t>
            </a:r>
            <a:r>
              <a:rPr lang="en-US" dirty="0"/>
              <a:t>space. </a:t>
            </a:r>
            <a:endParaRPr lang="en-US" dirty="0" smtClean="0"/>
          </a:p>
          <a:p>
            <a:r>
              <a:rPr lang="en-US" dirty="0" smtClean="0"/>
              <a:t>It </a:t>
            </a:r>
            <a:r>
              <a:rPr lang="en-US" dirty="0"/>
              <a:t>generalizes both Euclidean and Manhattan distances through the parameter </a:t>
            </a:r>
            <a:r>
              <a:rPr lang="en-US" dirty="0" smtClean="0"/>
              <a:t>p.</a:t>
            </a:r>
            <a:endParaRPr lang="en-US" dirty="0"/>
          </a:p>
        </p:txBody>
      </p:sp>
      <p:pic>
        <p:nvPicPr>
          <p:cNvPr id="4" name="Picture 3"/>
          <p:cNvPicPr>
            <a:picLocks noChangeAspect="1"/>
          </p:cNvPicPr>
          <p:nvPr/>
        </p:nvPicPr>
        <p:blipFill>
          <a:blip r:embed="rId2"/>
          <a:stretch>
            <a:fillRect/>
          </a:stretch>
        </p:blipFill>
        <p:spPr>
          <a:xfrm>
            <a:off x="179512" y="2564904"/>
            <a:ext cx="7617440" cy="3813325"/>
          </a:xfrm>
          <a:prstGeom prst="rect">
            <a:avLst/>
          </a:prstGeom>
        </p:spPr>
      </p:pic>
    </p:spTree>
    <p:extLst>
      <p:ext uri="{BB962C8B-B14F-4D97-AF65-F5344CB8AC3E}">
        <p14:creationId xmlns:p14="http://schemas.microsoft.com/office/powerpoint/2010/main" val="13480095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188640"/>
            <a:ext cx="6347713" cy="792088"/>
          </a:xfrm>
        </p:spPr>
        <p:txBody>
          <a:bodyPr/>
          <a:lstStyle/>
          <a:p>
            <a:r>
              <a:rPr lang="en-US" b="1" dirty="0"/>
              <a:t>Special Cases</a:t>
            </a:r>
          </a:p>
        </p:txBody>
      </p:sp>
      <p:pic>
        <p:nvPicPr>
          <p:cNvPr id="4" name="Picture 3"/>
          <p:cNvPicPr>
            <a:picLocks noChangeAspect="1"/>
          </p:cNvPicPr>
          <p:nvPr/>
        </p:nvPicPr>
        <p:blipFill>
          <a:blip r:embed="rId2"/>
          <a:stretch>
            <a:fillRect/>
          </a:stretch>
        </p:blipFill>
        <p:spPr>
          <a:xfrm>
            <a:off x="179512" y="1268760"/>
            <a:ext cx="8013723" cy="3888432"/>
          </a:xfrm>
          <a:prstGeom prst="rect">
            <a:avLst/>
          </a:prstGeom>
        </p:spPr>
      </p:pic>
    </p:spTree>
    <p:extLst>
      <p:ext uri="{BB962C8B-B14F-4D97-AF65-F5344CB8AC3E}">
        <p14:creationId xmlns:p14="http://schemas.microsoft.com/office/powerpoint/2010/main" val="344007431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07504" y="404664"/>
            <a:ext cx="7179591" cy="4752528"/>
          </a:xfrm>
          <a:prstGeom prst="rect">
            <a:avLst/>
          </a:prstGeom>
        </p:spPr>
      </p:pic>
    </p:spTree>
    <p:extLst>
      <p:ext uri="{BB962C8B-B14F-4D97-AF65-F5344CB8AC3E}">
        <p14:creationId xmlns:p14="http://schemas.microsoft.com/office/powerpoint/2010/main" val="314069551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19439"/>
            <a:ext cx="6347713" cy="889281"/>
          </a:xfrm>
        </p:spPr>
        <p:txBody>
          <a:bodyPr/>
          <a:lstStyle/>
          <a:p>
            <a:r>
              <a:rPr lang="en-US" b="1" dirty="0"/>
              <a:t>Hamming Distance</a:t>
            </a:r>
            <a:endParaRPr lang="en-US" dirty="0"/>
          </a:p>
        </p:txBody>
      </p:sp>
      <p:sp>
        <p:nvSpPr>
          <p:cNvPr id="3" name="Content Placeholder 2"/>
          <p:cNvSpPr>
            <a:spLocks noGrp="1"/>
          </p:cNvSpPr>
          <p:nvPr>
            <p:ph idx="1"/>
          </p:nvPr>
        </p:nvSpPr>
        <p:spPr>
          <a:xfrm>
            <a:off x="251520" y="854386"/>
            <a:ext cx="7272808" cy="2520280"/>
          </a:xfrm>
        </p:spPr>
        <p:txBody>
          <a:bodyPr/>
          <a:lstStyle/>
          <a:p>
            <a:r>
              <a:rPr lang="en-US" dirty="0"/>
              <a:t>Hamming Distance is a distance metric used primarily for comparing </a:t>
            </a:r>
            <a:r>
              <a:rPr lang="en-US" b="1" dirty="0"/>
              <a:t>categorical or binary </a:t>
            </a:r>
            <a:r>
              <a:rPr lang="en-US" b="1" dirty="0" smtClean="0"/>
              <a:t>data or Boolean vector</a:t>
            </a:r>
            <a:r>
              <a:rPr lang="en-US" dirty="0" smtClean="0"/>
              <a:t>. </a:t>
            </a:r>
          </a:p>
          <a:p>
            <a:r>
              <a:rPr lang="en-US" dirty="0" smtClean="0"/>
              <a:t>It </a:t>
            </a:r>
            <a:r>
              <a:rPr lang="en-US" dirty="0"/>
              <a:t>measures the number of positions at which the corresponding elements of two sequences (strings, vectors, or arrays) </a:t>
            </a:r>
            <a:r>
              <a:rPr lang="en-US" dirty="0" smtClean="0"/>
              <a:t>differ or mismatched.</a:t>
            </a:r>
          </a:p>
          <a:p>
            <a:r>
              <a:rPr lang="en-US" dirty="0" smtClean="0"/>
              <a:t>In NLP When </a:t>
            </a:r>
            <a:r>
              <a:rPr lang="en-US" dirty="0"/>
              <a:t>we need to find distance between texts than we use </a:t>
            </a:r>
            <a:r>
              <a:rPr lang="en-US" b="1" dirty="0"/>
              <a:t>Hamming </a:t>
            </a:r>
            <a:r>
              <a:rPr lang="en-US" b="1" dirty="0" smtClean="0"/>
              <a:t>Distance.(BOW/ TF-IDF)</a:t>
            </a:r>
            <a:endParaRPr lang="en-US" dirty="0"/>
          </a:p>
        </p:txBody>
      </p:sp>
      <p:pic>
        <p:nvPicPr>
          <p:cNvPr id="4" name="Picture 3"/>
          <p:cNvPicPr>
            <a:picLocks noChangeAspect="1"/>
          </p:cNvPicPr>
          <p:nvPr/>
        </p:nvPicPr>
        <p:blipFill>
          <a:blip r:embed="rId2"/>
          <a:stretch>
            <a:fillRect/>
          </a:stretch>
        </p:blipFill>
        <p:spPr>
          <a:xfrm>
            <a:off x="706130" y="3377498"/>
            <a:ext cx="6363588" cy="3000794"/>
          </a:xfrm>
          <a:prstGeom prst="rect">
            <a:avLst/>
          </a:prstGeom>
        </p:spPr>
      </p:pic>
    </p:spTree>
    <p:extLst>
      <p:ext uri="{BB962C8B-B14F-4D97-AF65-F5344CB8AC3E}">
        <p14:creationId xmlns:p14="http://schemas.microsoft.com/office/powerpoint/2010/main" val="370349624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19439"/>
            <a:ext cx="6347713" cy="745265"/>
          </a:xfrm>
        </p:spPr>
        <p:txBody>
          <a:bodyPr/>
          <a:lstStyle/>
          <a:p>
            <a:r>
              <a:rPr lang="en-US" b="1" dirty="0"/>
              <a:t>Example Calculation</a:t>
            </a:r>
          </a:p>
        </p:txBody>
      </p:sp>
      <p:sp>
        <p:nvSpPr>
          <p:cNvPr id="4" name="Rectangle 3"/>
          <p:cNvSpPr/>
          <p:nvPr/>
        </p:nvSpPr>
        <p:spPr>
          <a:xfrm>
            <a:off x="179512" y="980728"/>
            <a:ext cx="7704856" cy="5632311"/>
          </a:xfrm>
          <a:prstGeom prst="rect">
            <a:avLst/>
          </a:prstGeom>
        </p:spPr>
        <p:txBody>
          <a:bodyPr wrap="square">
            <a:spAutoFit/>
          </a:bodyPr>
          <a:lstStyle/>
          <a:p>
            <a:pPr marL="285750" indent="-285750">
              <a:lnSpc>
                <a:spcPct val="150000"/>
              </a:lnSpc>
              <a:buFont typeface="Wingdings" panose="05000000000000000000" pitchFamily="2" charset="2"/>
              <a:buChar char="Ø"/>
            </a:pPr>
            <a:r>
              <a:rPr lang="en-US" sz="2400" b="1" dirty="0"/>
              <a:t>For Binary Data:</a:t>
            </a:r>
          </a:p>
          <a:p>
            <a:pPr marL="285750" indent="-285750">
              <a:lnSpc>
                <a:spcPct val="150000"/>
              </a:lnSpc>
              <a:buFont typeface="Wingdings" panose="05000000000000000000" pitchFamily="2" charset="2"/>
              <a:buChar char="Ø"/>
            </a:pPr>
            <a:r>
              <a:rPr lang="en-US" sz="2400" dirty="0"/>
              <a:t>Consider two binary sequences: P=[</a:t>
            </a:r>
            <a:r>
              <a:rPr lang="en-US" sz="2400" dirty="0" smtClean="0"/>
              <a:t>1,0,1,1], Q</a:t>
            </a:r>
            <a:r>
              <a:rPr lang="en-US" sz="2400" dirty="0"/>
              <a:t>=[</a:t>
            </a:r>
            <a:r>
              <a:rPr lang="en-US" sz="2400" dirty="0" smtClean="0"/>
              <a:t>1,1,0,1]</a:t>
            </a:r>
            <a:endParaRPr lang="en-US" sz="2400" dirty="0"/>
          </a:p>
          <a:p>
            <a:pPr marL="285750" indent="-285750">
              <a:lnSpc>
                <a:spcPct val="150000"/>
              </a:lnSpc>
              <a:buFont typeface="Wingdings" panose="05000000000000000000" pitchFamily="2" charset="2"/>
              <a:buChar char="Ø"/>
            </a:pPr>
            <a:r>
              <a:rPr lang="en-US" sz="2400" b="1" dirty="0"/>
              <a:t>Hamming Distance:</a:t>
            </a:r>
          </a:p>
          <a:p>
            <a:pPr marL="285750" indent="-285750">
              <a:lnSpc>
                <a:spcPct val="150000"/>
              </a:lnSpc>
              <a:buFont typeface="Wingdings" panose="05000000000000000000" pitchFamily="2" charset="2"/>
              <a:buChar char="Ø"/>
            </a:pPr>
            <a:r>
              <a:rPr lang="en-US" sz="2400" dirty="0"/>
              <a:t>d(P,Q)=(1≠1)+(0≠1)+(1≠0)+(1≠</a:t>
            </a:r>
            <a:r>
              <a:rPr lang="en-US" sz="2400" dirty="0" smtClean="0"/>
              <a:t>1)</a:t>
            </a:r>
          </a:p>
          <a:p>
            <a:pPr marL="285750" indent="-285750">
              <a:lnSpc>
                <a:spcPct val="150000"/>
              </a:lnSpc>
              <a:buFont typeface="Wingdings" panose="05000000000000000000" pitchFamily="2" charset="2"/>
              <a:buChar char="Ø"/>
            </a:pPr>
            <a:r>
              <a:rPr lang="en-US" sz="2400" b="1" dirty="0" smtClean="0"/>
              <a:t>Step-by-step</a:t>
            </a:r>
            <a:r>
              <a:rPr lang="en-US" sz="2400" b="1" dirty="0"/>
              <a:t>:</a:t>
            </a:r>
          </a:p>
          <a:p>
            <a:pPr marL="285750" indent="-285750">
              <a:lnSpc>
                <a:spcPct val="150000"/>
              </a:lnSpc>
              <a:buFont typeface="Wingdings" panose="05000000000000000000" pitchFamily="2" charset="2"/>
              <a:buChar char="Ø"/>
            </a:pPr>
            <a:r>
              <a:rPr lang="en-US" sz="2400" dirty="0"/>
              <a:t>Compare each position: </a:t>
            </a:r>
            <a:r>
              <a:rPr lang="en-US" sz="2400" dirty="0" smtClean="0"/>
              <a:t>0,1,1,0</a:t>
            </a:r>
          </a:p>
          <a:p>
            <a:pPr marL="285750" indent="-285750">
              <a:lnSpc>
                <a:spcPct val="150000"/>
              </a:lnSpc>
              <a:buFont typeface="Wingdings" panose="05000000000000000000" pitchFamily="2" charset="2"/>
              <a:buChar char="Ø"/>
            </a:pPr>
            <a:r>
              <a:rPr lang="en-US" sz="2400" dirty="0" smtClean="0"/>
              <a:t>Count </a:t>
            </a:r>
            <a:r>
              <a:rPr lang="en-US" sz="2400" dirty="0"/>
              <a:t>mismatches: 2</a:t>
            </a:r>
          </a:p>
          <a:p>
            <a:pPr marL="285750" indent="-285750">
              <a:lnSpc>
                <a:spcPct val="150000"/>
              </a:lnSpc>
              <a:buFont typeface="Wingdings" panose="05000000000000000000" pitchFamily="2" charset="2"/>
              <a:buChar char="Ø"/>
            </a:pPr>
            <a:r>
              <a:rPr lang="en-US" sz="2400" dirty="0"/>
              <a:t>d(P,Q)=</a:t>
            </a:r>
            <a:r>
              <a:rPr lang="en-US" sz="2400" dirty="0" smtClean="0"/>
              <a:t>2,</a:t>
            </a:r>
            <a:r>
              <a:rPr lang="en-US" sz="2400" dirty="0"/>
              <a:t> Means hamming distance is </a:t>
            </a:r>
            <a:r>
              <a:rPr lang="en-US" sz="2400" dirty="0" smtClean="0"/>
              <a:t>2</a:t>
            </a:r>
            <a:endParaRPr lang="en-US" sz="2400" dirty="0"/>
          </a:p>
          <a:p>
            <a:pPr marL="285750" indent="-285750">
              <a:lnSpc>
                <a:spcPct val="150000"/>
              </a:lnSpc>
              <a:buFont typeface="Wingdings" panose="05000000000000000000" pitchFamily="2" charset="2"/>
              <a:buChar char="Ø"/>
            </a:pPr>
            <a:endParaRPr lang="en-US" sz="2400" dirty="0"/>
          </a:p>
        </p:txBody>
      </p:sp>
    </p:spTree>
    <p:extLst>
      <p:ext uri="{BB962C8B-B14F-4D97-AF65-F5344CB8AC3E}">
        <p14:creationId xmlns:p14="http://schemas.microsoft.com/office/powerpoint/2010/main" val="347684552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51520" y="332656"/>
            <a:ext cx="8280920" cy="5078313"/>
          </a:xfrm>
          <a:prstGeom prst="rect">
            <a:avLst/>
          </a:prstGeom>
        </p:spPr>
        <p:txBody>
          <a:bodyPr wrap="square">
            <a:spAutoFit/>
          </a:bodyPr>
          <a:lstStyle/>
          <a:p>
            <a:pPr marL="285750" indent="-285750">
              <a:lnSpc>
                <a:spcPct val="150000"/>
              </a:lnSpc>
              <a:buFont typeface="Wingdings" panose="05000000000000000000" pitchFamily="2" charset="2"/>
              <a:buChar char="Ø"/>
            </a:pPr>
            <a:r>
              <a:rPr lang="en-US" sz="2400" b="1" dirty="0"/>
              <a:t>For Categorical Data:</a:t>
            </a:r>
          </a:p>
          <a:p>
            <a:pPr marL="285750" indent="-285750">
              <a:lnSpc>
                <a:spcPct val="150000"/>
              </a:lnSpc>
              <a:buFont typeface="Wingdings" panose="05000000000000000000" pitchFamily="2" charset="2"/>
              <a:buChar char="Ø"/>
            </a:pPr>
            <a:r>
              <a:rPr lang="en-US" sz="2400" dirty="0"/>
              <a:t>Consider two sequences of letters: P=[′A′,′B′,′C′,′D</a:t>
            </a:r>
            <a:r>
              <a:rPr lang="en-US" sz="2400" dirty="0" smtClean="0"/>
              <a:t>′] , Q</a:t>
            </a:r>
            <a:r>
              <a:rPr lang="en-US" sz="2400" dirty="0"/>
              <a:t>=[′A′,′B′,′D′,′D</a:t>
            </a:r>
            <a:r>
              <a:rPr lang="en-US" sz="2400" dirty="0" smtClean="0"/>
              <a:t>′]</a:t>
            </a:r>
            <a:endParaRPr lang="en-US" sz="2400" dirty="0"/>
          </a:p>
          <a:p>
            <a:pPr marL="285750" indent="-285750">
              <a:lnSpc>
                <a:spcPct val="150000"/>
              </a:lnSpc>
              <a:buFont typeface="Wingdings" panose="05000000000000000000" pitchFamily="2" charset="2"/>
              <a:buChar char="Ø"/>
            </a:pPr>
            <a:r>
              <a:rPr lang="en-US" sz="2400" b="1" dirty="0"/>
              <a:t>Hamming Distance:</a:t>
            </a:r>
          </a:p>
          <a:p>
            <a:pPr marL="285750" indent="-285750">
              <a:lnSpc>
                <a:spcPct val="150000"/>
              </a:lnSpc>
              <a:buFont typeface="Wingdings" panose="05000000000000000000" pitchFamily="2" charset="2"/>
              <a:buChar char="Ø"/>
            </a:pPr>
            <a:r>
              <a:rPr lang="en-US" sz="2400" dirty="0"/>
              <a:t>d(P,Q)=(A≠A)+(B≠B)+(C≠D)+(D≠</a:t>
            </a:r>
            <a:r>
              <a:rPr lang="en-US" sz="2400" dirty="0" smtClean="0"/>
              <a:t>D)</a:t>
            </a:r>
          </a:p>
          <a:p>
            <a:pPr marL="285750" indent="-285750">
              <a:lnSpc>
                <a:spcPct val="150000"/>
              </a:lnSpc>
              <a:buFont typeface="Wingdings" panose="05000000000000000000" pitchFamily="2" charset="2"/>
              <a:buChar char="Ø"/>
            </a:pPr>
            <a:r>
              <a:rPr lang="en-US" sz="2400" b="1" dirty="0" smtClean="0"/>
              <a:t>Step-by-step</a:t>
            </a:r>
            <a:r>
              <a:rPr lang="en-US" sz="2400" b="1" dirty="0"/>
              <a:t>:</a:t>
            </a:r>
          </a:p>
          <a:p>
            <a:pPr marL="285750" indent="-285750">
              <a:lnSpc>
                <a:spcPct val="150000"/>
              </a:lnSpc>
              <a:buFont typeface="Wingdings" panose="05000000000000000000" pitchFamily="2" charset="2"/>
              <a:buChar char="Ø"/>
            </a:pPr>
            <a:r>
              <a:rPr lang="en-US" sz="2400" dirty="0"/>
              <a:t>Compare each position: </a:t>
            </a:r>
            <a:r>
              <a:rPr lang="en-US" sz="2400" dirty="0" smtClean="0"/>
              <a:t>0,0,1,0</a:t>
            </a:r>
          </a:p>
          <a:p>
            <a:pPr marL="285750" indent="-285750">
              <a:lnSpc>
                <a:spcPct val="150000"/>
              </a:lnSpc>
              <a:buFont typeface="Wingdings" panose="05000000000000000000" pitchFamily="2" charset="2"/>
              <a:buChar char="Ø"/>
            </a:pPr>
            <a:r>
              <a:rPr lang="en-US" sz="2400" dirty="0" smtClean="0"/>
              <a:t>Count </a:t>
            </a:r>
            <a:r>
              <a:rPr lang="en-US" sz="2400" dirty="0"/>
              <a:t>mismatches: 1</a:t>
            </a:r>
          </a:p>
          <a:p>
            <a:pPr marL="285750" indent="-285750">
              <a:lnSpc>
                <a:spcPct val="150000"/>
              </a:lnSpc>
              <a:buFont typeface="Wingdings" panose="05000000000000000000" pitchFamily="2" charset="2"/>
              <a:buChar char="Ø"/>
            </a:pPr>
            <a:r>
              <a:rPr lang="en-US" sz="2400" dirty="0"/>
              <a:t>d(P,Q)=</a:t>
            </a:r>
            <a:r>
              <a:rPr lang="en-US" sz="2400" dirty="0" smtClean="0"/>
              <a:t>1 , Means hamming distance is 1</a:t>
            </a:r>
            <a:endParaRPr lang="en-US" sz="2400" dirty="0"/>
          </a:p>
        </p:txBody>
      </p:sp>
    </p:spTree>
    <p:extLst>
      <p:ext uri="{BB962C8B-B14F-4D97-AF65-F5344CB8AC3E}">
        <p14:creationId xmlns:p14="http://schemas.microsoft.com/office/powerpoint/2010/main" val="268013851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323528" y="116632"/>
            <a:ext cx="5040560" cy="3082842"/>
          </a:xfrm>
          <a:prstGeom prst="rect">
            <a:avLst/>
          </a:prstGeom>
        </p:spPr>
      </p:pic>
      <p:pic>
        <p:nvPicPr>
          <p:cNvPr id="5" name="Picture 4"/>
          <p:cNvPicPr>
            <a:picLocks noChangeAspect="1"/>
          </p:cNvPicPr>
          <p:nvPr/>
        </p:nvPicPr>
        <p:blipFill>
          <a:blip r:embed="rId3"/>
          <a:stretch>
            <a:fillRect/>
          </a:stretch>
        </p:blipFill>
        <p:spPr>
          <a:xfrm>
            <a:off x="323528" y="3645024"/>
            <a:ext cx="4925112" cy="1914792"/>
          </a:xfrm>
          <a:prstGeom prst="rect">
            <a:avLst/>
          </a:prstGeom>
        </p:spPr>
      </p:pic>
    </p:spTree>
    <p:extLst>
      <p:ext uri="{BB962C8B-B14F-4D97-AF65-F5344CB8AC3E}">
        <p14:creationId xmlns:p14="http://schemas.microsoft.com/office/powerpoint/2010/main" val="424603806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188640"/>
            <a:ext cx="6347714" cy="1320800"/>
          </a:xfrm>
        </p:spPr>
        <p:txBody>
          <a:bodyPr/>
          <a:lstStyle/>
          <a:p>
            <a:pPr algn="ctr"/>
            <a:r>
              <a:rPr lang="en-US" b="1" dirty="0"/>
              <a:t>When to Use Hamming Distance in KNN</a:t>
            </a:r>
          </a:p>
        </p:txBody>
      </p:sp>
      <p:sp>
        <p:nvSpPr>
          <p:cNvPr id="4" name="Rectangle 2"/>
          <p:cNvSpPr>
            <a:spLocks noChangeArrowheads="1"/>
          </p:cNvSpPr>
          <p:nvPr/>
        </p:nvSpPr>
        <p:spPr bwMode="auto">
          <a:xfrm>
            <a:off x="467544" y="1801222"/>
            <a:ext cx="7559824" cy="12875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dirty="0" smtClean="0">
                <a:ln>
                  <a:noFill/>
                </a:ln>
                <a:solidFill>
                  <a:schemeClr val="tx1"/>
                </a:solidFill>
                <a:effectLst/>
                <a:latin typeface="Arial" panose="020B0604020202020204" pitchFamily="34" charset="0"/>
              </a:rPr>
              <a:t>Data is </a:t>
            </a:r>
            <a:r>
              <a:rPr kumimoji="0" lang="en-US" altLang="en-US" sz="1800" b="1" i="0" u="none" strike="noStrike" cap="none" normalizeH="0" baseline="0" dirty="0" smtClean="0">
                <a:ln>
                  <a:noFill/>
                </a:ln>
                <a:solidFill>
                  <a:schemeClr val="tx1"/>
                </a:solidFill>
                <a:effectLst/>
                <a:latin typeface="Arial" panose="020B0604020202020204" pitchFamily="34" charset="0"/>
              </a:rPr>
              <a:t>binary</a:t>
            </a:r>
            <a:r>
              <a:rPr kumimoji="0" lang="en-US" altLang="en-US" sz="1800" b="0" i="0" u="none" strike="noStrike" cap="none" normalizeH="0" baseline="0" dirty="0" smtClean="0">
                <a:ln>
                  <a:noFill/>
                </a:ln>
                <a:solidFill>
                  <a:schemeClr val="tx1"/>
                </a:solidFill>
                <a:effectLst/>
                <a:latin typeface="Arial" panose="020B0604020202020204" pitchFamily="34" charset="0"/>
              </a:rPr>
              <a:t> (e.g., presence/absence features).</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dirty="0" smtClean="0">
                <a:ln>
                  <a:noFill/>
                </a:ln>
                <a:solidFill>
                  <a:schemeClr val="tx1"/>
                </a:solidFill>
                <a:effectLst/>
                <a:latin typeface="Arial" panose="020B0604020202020204" pitchFamily="34" charset="0"/>
              </a:rPr>
              <a:t>Data is </a:t>
            </a:r>
            <a:r>
              <a:rPr kumimoji="0" lang="en-US" altLang="en-US" sz="1800" b="1" i="0" u="none" strike="noStrike" cap="none" normalizeH="0" baseline="0" dirty="0" smtClean="0">
                <a:ln>
                  <a:noFill/>
                </a:ln>
                <a:solidFill>
                  <a:schemeClr val="tx1"/>
                </a:solidFill>
                <a:effectLst/>
                <a:latin typeface="Arial" panose="020B0604020202020204" pitchFamily="34" charset="0"/>
              </a:rPr>
              <a:t>categorical</a:t>
            </a:r>
            <a:r>
              <a:rPr kumimoji="0" lang="en-US" altLang="en-US" sz="1800" b="0" i="0" u="none" strike="noStrike" cap="none" normalizeH="0" baseline="0" dirty="0" smtClean="0">
                <a:ln>
                  <a:noFill/>
                </a:ln>
                <a:solidFill>
                  <a:schemeClr val="tx1"/>
                </a:solidFill>
                <a:effectLst/>
                <a:latin typeface="Arial" panose="020B0604020202020204" pitchFamily="34" charset="0"/>
              </a:rPr>
              <a:t>, and one-hot encoding is used.</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dirty="0" smtClean="0">
                <a:ln>
                  <a:noFill/>
                </a:ln>
                <a:solidFill>
                  <a:schemeClr val="tx1"/>
                </a:solidFill>
                <a:effectLst/>
                <a:latin typeface="Arial" panose="020B0604020202020204" pitchFamily="34" charset="0"/>
              </a:rPr>
              <a:t>Comparing text strings or DNA sequences. </a:t>
            </a:r>
          </a:p>
        </p:txBody>
      </p:sp>
    </p:spTree>
    <p:extLst>
      <p:ext uri="{BB962C8B-B14F-4D97-AF65-F5344CB8AC3E}">
        <p14:creationId xmlns:p14="http://schemas.microsoft.com/office/powerpoint/2010/main" val="144547776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251520" y="188640"/>
            <a:ext cx="6347713" cy="648072"/>
          </a:xfrm>
        </p:spPr>
        <p:txBody>
          <a:bodyPr/>
          <a:lstStyle/>
          <a:p>
            <a:r>
              <a:rPr lang="en-US" b="1" dirty="0"/>
              <a:t>Cosine Distance and KNN</a:t>
            </a:r>
          </a:p>
        </p:txBody>
      </p:sp>
      <p:sp>
        <p:nvSpPr>
          <p:cNvPr id="4" name="Content Placeholder 3"/>
          <p:cNvSpPr>
            <a:spLocks noGrp="1"/>
          </p:cNvSpPr>
          <p:nvPr>
            <p:ph idx="1"/>
          </p:nvPr>
        </p:nvSpPr>
        <p:spPr>
          <a:xfrm>
            <a:off x="233628" y="1268760"/>
            <a:ext cx="7650739" cy="3880773"/>
          </a:xfrm>
        </p:spPr>
        <p:txBody>
          <a:bodyPr>
            <a:normAutofit fontScale="92500" lnSpcReduction="20000"/>
          </a:bodyPr>
          <a:lstStyle/>
          <a:p>
            <a:pPr>
              <a:lnSpc>
                <a:spcPct val="150000"/>
              </a:lnSpc>
            </a:pPr>
            <a:r>
              <a:rPr lang="en-US" dirty="0"/>
              <a:t>Cosine distance is a metric used in </a:t>
            </a:r>
            <a:r>
              <a:rPr lang="en-US" b="1" dirty="0"/>
              <a:t>K-Nearest Neighbors (KNN)</a:t>
            </a:r>
            <a:r>
              <a:rPr lang="en-US" dirty="0"/>
              <a:t> to measure the dissimilarity between two non-zero vectors in a high-dimensional space. </a:t>
            </a:r>
            <a:endParaRPr lang="en-US" dirty="0" smtClean="0"/>
          </a:p>
          <a:p>
            <a:pPr>
              <a:lnSpc>
                <a:spcPct val="150000"/>
              </a:lnSpc>
            </a:pPr>
            <a:r>
              <a:rPr lang="en-US" dirty="0" smtClean="0"/>
              <a:t>It </a:t>
            </a:r>
            <a:r>
              <a:rPr lang="en-US" dirty="0"/>
              <a:t>is particularly effective for datasets where the magnitude of the vectors is less important than their orientation (e.g., text data, document similarity</a:t>
            </a:r>
            <a:r>
              <a:rPr lang="en-US" dirty="0" smtClean="0"/>
              <a:t>).</a:t>
            </a:r>
          </a:p>
          <a:p>
            <a:pPr>
              <a:lnSpc>
                <a:spcPct val="150000"/>
              </a:lnSpc>
            </a:pPr>
            <a:r>
              <a:rPr lang="en-US" dirty="0"/>
              <a:t>Cosine distance measures the angular difference between two vectors. It is derived from the </a:t>
            </a:r>
            <a:r>
              <a:rPr lang="en-US" b="1" dirty="0"/>
              <a:t>cosine similarity</a:t>
            </a:r>
            <a:r>
              <a:rPr lang="en-US" dirty="0"/>
              <a:t>, which quantifies the cosine of the angle between two vectors</a:t>
            </a:r>
            <a:r>
              <a:rPr lang="en-US" dirty="0" smtClean="0"/>
              <a:t>.</a:t>
            </a:r>
          </a:p>
          <a:p>
            <a:pPr>
              <a:lnSpc>
                <a:spcPct val="150000"/>
              </a:lnSpc>
            </a:pPr>
            <a:r>
              <a:rPr lang="en-US" dirty="0" smtClean="0"/>
              <a:t>Popular in </a:t>
            </a:r>
            <a:r>
              <a:rPr lang="en-US" dirty="0"/>
              <a:t>Recommendation system and Text </a:t>
            </a:r>
            <a:r>
              <a:rPr lang="en-US" dirty="0" smtClean="0"/>
              <a:t>classification.</a:t>
            </a:r>
            <a:endParaRPr lang="en-US" dirty="0"/>
          </a:p>
        </p:txBody>
      </p:sp>
    </p:spTree>
    <p:extLst>
      <p:ext uri="{BB962C8B-B14F-4D97-AF65-F5344CB8AC3E}">
        <p14:creationId xmlns:p14="http://schemas.microsoft.com/office/powerpoint/2010/main" val="113121303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p:cNvSpPr/>
          <p:nvPr/>
        </p:nvSpPr>
        <p:spPr>
          <a:xfrm>
            <a:off x="251520" y="3501008"/>
            <a:ext cx="7416824" cy="2240485"/>
          </a:xfrm>
          <a:prstGeom prst="rect">
            <a:avLst/>
          </a:prstGeom>
        </p:spPr>
        <p:txBody>
          <a:bodyPr wrap="square">
            <a:spAutoFit/>
          </a:bodyPr>
          <a:lstStyle/>
          <a:p>
            <a:pPr marL="457200" indent="-457200">
              <a:lnSpc>
                <a:spcPct val="150000"/>
              </a:lnSpc>
              <a:buFont typeface="Wingdings" panose="05000000000000000000" pitchFamily="2" charset="2"/>
              <a:buChar char="Ø"/>
            </a:pPr>
            <a:r>
              <a:rPr lang="en-US" sz="2400" dirty="0"/>
              <a:t>Cosine </a:t>
            </a:r>
            <a:r>
              <a:rPr lang="en-US" sz="2400" dirty="0" smtClean="0"/>
              <a:t>Distance(X1,X2)=1</a:t>
            </a:r>
            <a:r>
              <a:rPr lang="en-US" sz="2400" dirty="0"/>
              <a:t>−cos(</a:t>
            </a:r>
            <a:r>
              <a:rPr lang="el-GR" sz="2400" dirty="0"/>
              <a:t>θ</a:t>
            </a:r>
            <a:r>
              <a:rPr lang="el-GR" sz="2400" dirty="0" smtClean="0"/>
              <a:t>)</a:t>
            </a:r>
            <a:endParaRPr lang="en-US" sz="2400" dirty="0" smtClean="0"/>
          </a:p>
          <a:p>
            <a:pPr marL="914400" lvl="1" indent="-457200">
              <a:lnSpc>
                <a:spcPct val="150000"/>
              </a:lnSpc>
              <a:buFont typeface="Wingdings" panose="05000000000000000000" pitchFamily="2" charset="2"/>
              <a:buChar char="Ø"/>
            </a:pPr>
            <a:r>
              <a:rPr lang="en-US" sz="2400" dirty="0" smtClean="0"/>
              <a:t>Where </a:t>
            </a:r>
            <a:r>
              <a:rPr lang="el-GR" sz="2400" dirty="0" smtClean="0"/>
              <a:t>θ</a:t>
            </a:r>
            <a:r>
              <a:rPr lang="en-US" sz="2400" dirty="0" smtClean="0"/>
              <a:t> is angle between X1 and X2</a:t>
            </a:r>
          </a:p>
          <a:p>
            <a:pPr marL="914400" lvl="1" indent="-457200">
              <a:lnSpc>
                <a:spcPct val="150000"/>
              </a:lnSpc>
              <a:buFont typeface="Wingdings" panose="05000000000000000000" pitchFamily="2" charset="2"/>
              <a:buChar char="Ø"/>
            </a:pPr>
            <a:r>
              <a:rPr lang="en-US" sz="2400" dirty="0" smtClean="0"/>
              <a:t>For very similar cos(</a:t>
            </a:r>
            <a:r>
              <a:rPr lang="el-GR" sz="2400" dirty="0" smtClean="0"/>
              <a:t>θ</a:t>
            </a:r>
            <a:r>
              <a:rPr lang="en-US" sz="2400" dirty="0" smtClean="0"/>
              <a:t>) = +1</a:t>
            </a:r>
          </a:p>
          <a:p>
            <a:pPr marL="914400" lvl="1" indent="-457200">
              <a:lnSpc>
                <a:spcPct val="150000"/>
              </a:lnSpc>
              <a:buFont typeface="Wingdings" panose="05000000000000000000" pitchFamily="2" charset="2"/>
              <a:buChar char="Ø"/>
            </a:pPr>
            <a:r>
              <a:rPr lang="en-US" sz="2400" dirty="0" smtClean="0"/>
              <a:t>For very dissimilar = -1</a:t>
            </a:r>
            <a:endParaRPr lang="en-US" sz="2400" dirty="0"/>
          </a:p>
        </p:txBody>
      </p:sp>
      <p:pic>
        <p:nvPicPr>
          <p:cNvPr id="13" name="Picture 12"/>
          <p:cNvPicPr>
            <a:picLocks noChangeAspect="1"/>
          </p:cNvPicPr>
          <p:nvPr/>
        </p:nvPicPr>
        <p:blipFill>
          <a:blip r:embed="rId2"/>
          <a:stretch>
            <a:fillRect/>
          </a:stretch>
        </p:blipFill>
        <p:spPr>
          <a:xfrm>
            <a:off x="395536" y="620688"/>
            <a:ext cx="6392073" cy="2664296"/>
          </a:xfrm>
          <a:prstGeom prst="rect">
            <a:avLst/>
          </a:prstGeom>
        </p:spPr>
      </p:pic>
    </p:spTree>
    <p:extLst>
      <p:ext uri="{BB962C8B-B14F-4D97-AF65-F5344CB8AC3E}">
        <p14:creationId xmlns:p14="http://schemas.microsoft.com/office/powerpoint/2010/main" val="215244824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79512" y="764704"/>
            <a:ext cx="7155371" cy="3240360"/>
          </a:xfrm>
          <a:prstGeom prst="rect">
            <a:avLst/>
          </a:prstGeom>
        </p:spPr>
      </p:pic>
    </p:spTree>
    <p:extLst>
      <p:ext uri="{BB962C8B-B14F-4D97-AF65-F5344CB8AC3E}">
        <p14:creationId xmlns:p14="http://schemas.microsoft.com/office/powerpoint/2010/main" val="84265136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340" y="188640"/>
            <a:ext cx="4608512" cy="648072"/>
          </a:xfrm>
        </p:spPr>
        <p:txBody>
          <a:bodyPr/>
          <a:lstStyle/>
          <a:p>
            <a:r>
              <a:rPr lang="en-US" b="1" dirty="0"/>
              <a:t>Example Calculation</a:t>
            </a:r>
          </a:p>
        </p:txBody>
      </p:sp>
      <p:pic>
        <p:nvPicPr>
          <p:cNvPr id="4" name="Picture 3"/>
          <p:cNvPicPr>
            <a:picLocks noChangeAspect="1"/>
          </p:cNvPicPr>
          <p:nvPr/>
        </p:nvPicPr>
        <p:blipFill>
          <a:blip r:embed="rId2"/>
          <a:stretch>
            <a:fillRect/>
          </a:stretch>
        </p:blipFill>
        <p:spPr>
          <a:xfrm>
            <a:off x="395536" y="1124744"/>
            <a:ext cx="6567870" cy="2376264"/>
          </a:xfrm>
          <a:prstGeom prst="rect">
            <a:avLst/>
          </a:prstGeom>
        </p:spPr>
      </p:pic>
      <p:pic>
        <p:nvPicPr>
          <p:cNvPr id="5" name="Picture 4"/>
          <p:cNvPicPr>
            <a:picLocks noChangeAspect="1"/>
          </p:cNvPicPr>
          <p:nvPr/>
        </p:nvPicPr>
        <p:blipFill>
          <a:blip r:embed="rId3"/>
          <a:stretch>
            <a:fillRect/>
          </a:stretch>
        </p:blipFill>
        <p:spPr>
          <a:xfrm>
            <a:off x="395536" y="3933056"/>
            <a:ext cx="7382905" cy="2524477"/>
          </a:xfrm>
          <a:prstGeom prst="rect">
            <a:avLst/>
          </a:prstGeom>
        </p:spPr>
      </p:pic>
    </p:spTree>
    <p:extLst>
      <p:ext uri="{BB962C8B-B14F-4D97-AF65-F5344CB8AC3E}">
        <p14:creationId xmlns:p14="http://schemas.microsoft.com/office/powerpoint/2010/main" val="186678530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251521" y="620688"/>
            <a:ext cx="6768752" cy="1296144"/>
          </a:xfrm>
          <a:prstGeom prst="rect">
            <a:avLst/>
          </a:prstGeom>
        </p:spPr>
      </p:pic>
      <p:pic>
        <p:nvPicPr>
          <p:cNvPr id="5" name="Picture 4"/>
          <p:cNvPicPr>
            <a:picLocks noChangeAspect="1"/>
          </p:cNvPicPr>
          <p:nvPr/>
        </p:nvPicPr>
        <p:blipFill>
          <a:blip r:embed="rId3"/>
          <a:stretch>
            <a:fillRect/>
          </a:stretch>
        </p:blipFill>
        <p:spPr>
          <a:xfrm>
            <a:off x="395536" y="2348880"/>
            <a:ext cx="6300700" cy="3528392"/>
          </a:xfrm>
          <a:prstGeom prst="rect">
            <a:avLst/>
          </a:prstGeom>
        </p:spPr>
      </p:pic>
    </p:spTree>
    <p:extLst>
      <p:ext uri="{BB962C8B-B14F-4D97-AF65-F5344CB8AC3E}">
        <p14:creationId xmlns:p14="http://schemas.microsoft.com/office/powerpoint/2010/main" val="380402238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251520" y="188640"/>
            <a:ext cx="6347713" cy="731168"/>
          </a:xfrm>
        </p:spPr>
        <p:txBody>
          <a:bodyPr/>
          <a:lstStyle/>
          <a:p>
            <a:r>
              <a:rPr lang="en-US" b="1" dirty="0" smtClean="0"/>
              <a:t>Limitation:</a:t>
            </a:r>
            <a:endParaRPr lang="en-US" b="1" dirty="0"/>
          </a:p>
        </p:txBody>
      </p:sp>
      <p:sp>
        <p:nvSpPr>
          <p:cNvPr id="4" name="Content Placeholder 3"/>
          <p:cNvSpPr>
            <a:spLocks noGrp="1"/>
          </p:cNvSpPr>
          <p:nvPr>
            <p:ph idx="1"/>
          </p:nvPr>
        </p:nvSpPr>
        <p:spPr>
          <a:xfrm>
            <a:off x="251520" y="1052736"/>
            <a:ext cx="6347714" cy="2304255"/>
          </a:xfrm>
        </p:spPr>
        <p:txBody>
          <a:bodyPr>
            <a:normAutofit/>
          </a:bodyPr>
          <a:lstStyle/>
          <a:p>
            <a:pPr>
              <a:lnSpc>
                <a:spcPct val="150000"/>
              </a:lnSpc>
            </a:pPr>
            <a:r>
              <a:rPr lang="en-US" dirty="0" smtClean="0"/>
              <a:t>It is lazy algorithm. According to this If my neighbors millionaire than I am also millionaire.</a:t>
            </a:r>
          </a:p>
          <a:p>
            <a:pPr>
              <a:lnSpc>
                <a:spcPct val="150000"/>
              </a:lnSpc>
            </a:pPr>
            <a:r>
              <a:rPr lang="en-US" dirty="0" smtClean="0"/>
              <a:t>It is good for clinical sectors only. Because there is some threshold which is applicable to all.( hemoglobin, sugar level, BP, Cholesterol </a:t>
            </a:r>
            <a:r>
              <a:rPr lang="en-US" dirty="0" err="1" smtClean="0"/>
              <a:t>etc</a:t>
            </a:r>
            <a:r>
              <a:rPr lang="en-US" dirty="0" smtClean="0"/>
              <a:t>….</a:t>
            </a:r>
            <a:endParaRPr lang="en-US" dirty="0"/>
          </a:p>
        </p:txBody>
      </p:sp>
    </p:spTree>
    <p:extLst>
      <p:ext uri="{BB962C8B-B14F-4D97-AF65-F5344CB8AC3E}">
        <p14:creationId xmlns:p14="http://schemas.microsoft.com/office/powerpoint/2010/main" val="405441813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116632"/>
            <a:ext cx="7200800" cy="648072"/>
          </a:xfrm>
        </p:spPr>
        <p:txBody>
          <a:bodyPr/>
          <a:lstStyle/>
          <a:p>
            <a:r>
              <a:rPr lang="en-US" b="1" dirty="0" smtClean="0"/>
              <a:t>How you will calculate K value</a:t>
            </a:r>
            <a:endParaRPr lang="en-US" b="1" dirty="0"/>
          </a:p>
        </p:txBody>
      </p:sp>
      <p:sp>
        <p:nvSpPr>
          <p:cNvPr id="3" name="Rectangle 2"/>
          <p:cNvSpPr/>
          <p:nvPr/>
        </p:nvSpPr>
        <p:spPr>
          <a:xfrm>
            <a:off x="149096" y="908720"/>
            <a:ext cx="7159208" cy="5355312"/>
          </a:xfrm>
          <a:prstGeom prst="rect">
            <a:avLst/>
          </a:prstGeom>
        </p:spPr>
        <p:txBody>
          <a:bodyPr wrap="square">
            <a:spAutoFit/>
          </a:bodyPr>
          <a:lstStyle/>
          <a:p>
            <a:pPr marL="342900" indent="-342900">
              <a:lnSpc>
                <a:spcPct val="150000"/>
              </a:lnSpc>
              <a:buFont typeface="Wingdings" panose="05000000000000000000" pitchFamily="2" charset="2"/>
              <a:buChar char="Ø"/>
            </a:pPr>
            <a:r>
              <a:rPr lang="en-US" b="1" dirty="0"/>
              <a:t>Understand the Role of </a:t>
            </a:r>
            <a:r>
              <a:rPr lang="en-US" b="1" dirty="0" smtClean="0"/>
              <a:t>K:</a:t>
            </a:r>
          </a:p>
          <a:p>
            <a:pPr marL="742950" lvl="1" indent="-285750">
              <a:lnSpc>
                <a:spcPct val="150000"/>
              </a:lnSpc>
              <a:buFont typeface="Wingdings" panose="05000000000000000000" pitchFamily="2" charset="2"/>
              <a:buChar char="Ø"/>
            </a:pPr>
            <a:r>
              <a:rPr lang="en-US" b="1" dirty="0" smtClean="0"/>
              <a:t>Small </a:t>
            </a:r>
            <a:r>
              <a:rPr lang="en-US" b="1" dirty="0"/>
              <a:t>K:</a:t>
            </a:r>
            <a:r>
              <a:rPr lang="en-US" dirty="0"/>
              <a:t> Can lead to noisy decision boundaries and overfitting.</a:t>
            </a:r>
          </a:p>
          <a:p>
            <a:pPr marL="742950" lvl="1" indent="-285750">
              <a:lnSpc>
                <a:spcPct val="150000"/>
              </a:lnSpc>
              <a:buFont typeface="Wingdings" panose="05000000000000000000" pitchFamily="2" charset="2"/>
              <a:buChar char="Ø"/>
            </a:pPr>
            <a:r>
              <a:rPr lang="en-US" b="1" dirty="0"/>
              <a:t>Large K:</a:t>
            </a:r>
            <a:r>
              <a:rPr lang="en-US" dirty="0"/>
              <a:t> Can lead to smoother decision boundaries but might </a:t>
            </a:r>
            <a:r>
              <a:rPr lang="en-US" dirty="0" err="1"/>
              <a:t>underfit</a:t>
            </a:r>
            <a:r>
              <a:rPr lang="en-US" dirty="0"/>
              <a:t> the data.</a:t>
            </a:r>
          </a:p>
          <a:p>
            <a:pPr marL="285750" indent="-285750">
              <a:lnSpc>
                <a:spcPct val="200000"/>
              </a:lnSpc>
              <a:buFont typeface="Wingdings" panose="05000000000000000000" pitchFamily="2" charset="2"/>
              <a:buChar char="Ø"/>
            </a:pPr>
            <a:r>
              <a:rPr lang="en-US" b="1" dirty="0" smtClean="0"/>
              <a:t>Thus badly needed Optimal </a:t>
            </a:r>
            <a:r>
              <a:rPr lang="en-US" b="1" dirty="0"/>
              <a:t>K</a:t>
            </a:r>
            <a:r>
              <a:rPr lang="en-US" b="1" dirty="0" smtClean="0"/>
              <a:t>:</a:t>
            </a:r>
          </a:p>
          <a:p>
            <a:pPr marL="285750" indent="-285750">
              <a:lnSpc>
                <a:spcPct val="200000"/>
              </a:lnSpc>
              <a:buFont typeface="Wingdings" panose="05000000000000000000" pitchFamily="2" charset="2"/>
              <a:buChar char="Ø"/>
            </a:pPr>
            <a:r>
              <a:rPr lang="en-US" b="1" dirty="0" smtClean="0"/>
              <a:t>Step 1: </a:t>
            </a:r>
            <a:r>
              <a:rPr lang="en-US" dirty="0" smtClean="0"/>
              <a:t>A </a:t>
            </a:r>
            <a:r>
              <a:rPr lang="en-US" dirty="0"/>
              <a:t>typical starting point is </a:t>
            </a:r>
            <a:r>
              <a:rPr lang="en-US" dirty="0" smtClean="0"/>
              <a:t>K= </a:t>
            </a:r>
            <a:r>
              <a:rPr lang="en-US" dirty="0" err="1" smtClean="0"/>
              <a:t>sqrt</a:t>
            </a:r>
            <a:r>
              <a:rPr lang="en-US" dirty="0" smtClean="0"/>
              <a:t>(n)​</a:t>
            </a:r>
            <a:r>
              <a:rPr lang="en-US" dirty="0"/>
              <a:t>, where </a:t>
            </a:r>
            <a:r>
              <a:rPr lang="en-US" dirty="0" smtClean="0"/>
              <a:t>n </a:t>
            </a:r>
            <a:r>
              <a:rPr lang="en-US" dirty="0"/>
              <a:t>is the number of training </a:t>
            </a:r>
            <a:r>
              <a:rPr lang="en-US" dirty="0" smtClean="0"/>
              <a:t>samples. </a:t>
            </a:r>
          </a:p>
          <a:p>
            <a:pPr marL="742950" lvl="1" indent="-285750">
              <a:lnSpc>
                <a:spcPct val="200000"/>
              </a:lnSpc>
              <a:buFont typeface="Wingdings" panose="05000000000000000000" pitchFamily="2" charset="2"/>
              <a:buChar char="Ø"/>
            </a:pPr>
            <a:r>
              <a:rPr lang="en-US" dirty="0" smtClean="0"/>
              <a:t>Round K </a:t>
            </a:r>
            <a:r>
              <a:rPr lang="en-US" dirty="0"/>
              <a:t>to the nearest odd integer to avoid ties in classification tasks.</a:t>
            </a:r>
          </a:p>
          <a:p>
            <a:pPr marL="285750" indent="-285750">
              <a:lnSpc>
                <a:spcPct val="150000"/>
              </a:lnSpc>
              <a:buFont typeface="Wingdings" panose="05000000000000000000" pitchFamily="2" charset="2"/>
              <a:buChar char="Ø"/>
            </a:pPr>
            <a:endParaRPr lang="en-US" b="1" dirty="0"/>
          </a:p>
        </p:txBody>
      </p:sp>
    </p:spTree>
    <p:extLst>
      <p:ext uri="{BB962C8B-B14F-4D97-AF65-F5344CB8AC3E}">
        <p14:creationId xmlns:p14="http://schemas.microsoft.com/office/powerpoint/2010/main" val="96789579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9778" y="188640"/>
            <a:ext cx="7370534" cy="1754326"/>
          </a:xfrm>
          <a:prstGeom prst="rect">
            <a:avLst/>
          </a:prstGeom>
        </p:spPr>
        <p:txBody>
          <a:bodyPr wrap="square">
            <a:spAutoFit/>
          </a:bodyPr>
          <a:lstStyle/>
          <a:p>
            <a:pPr marL="285750" indent="-285750">
              <a:lnSpc>
                <a:spcPct val="150000"/>
              </a:lnSpc>
              <a:buFont typeface="Wingdings" panose="05000000000000000000" pitchFamily="2" charset="2"/>
              <a:buChar char="Ø"/>
            </a:pPr>
            <a:r>
              <a:rPr lang="en-US" b="1" dirty="0"/>
              <a:t>Step 2 : Elbow Method (for Classification)</a:t>
            </a:r>
          </a:p>
          <a:p>
            <a:pPr marL="285750" indent="-285750">
              <a:lnSpc>
                <a:spcPct val="150000"/>
              </a:lnSpc>
              <a:buFont typeface="Wingdings" panose="05000000000000000000" pitchFamily="2" charset="2"/>
              <a:buChar char="Ø"/>
            </a:pPr>
            <a:r>
              <a:rPr lang="en-US" dirty="0"/>
              <a:t>Plot the accuracy/error rate against different K values.</a:t>
            </a:r>
          </a:p>
          <a:p>
            <a:pPr marL="285750" indent="-285750">
              <a:lnSpc>
                <a:spcPct val="150000"/>
              </a:lnSpc>
              <a:buFont typeface="Wingdings" panose="05000000000000000000" pitchFamily="2" charset="2"/>
              <a:buChar char="Ø"/>
            </a:pPr>
            <a:r>
              <a:rPr lang="en-US" dirty="0"/>
              <a:t>Look for the "elbow point" where the error decreases significantly before stabilizing. This is often the optimal K.</a:t>
            </a:r>
            <a:endParaRPr lang="en-US" b="1" dirty="0"/>
          </a:p>
        </p:txBody>
      </p:sp>
      <p:pic>
        <p:nvPicPr>
          <p:cNvPr id="7" name="Picture 6"/>
          <p:cNvPicPr>
            <a:picLocks noChangeAspect="1"/>
          </p:cNvPicPr>
          <p:nvPr/>
        </p:nvPicPr>
        <p:blipFill>
          <a:blip r:embed="rId2"/>
          <a:stretch>
            <a:fillRect/>
          </a:stretch>
        </p:blipFill>
        <p:spPr>
          <a:xfrm>
            <a:off x="809284" y="2204864"/>
            <a:ext cx="5771521" cy="4017858"/>
          </a:xfrm>
          <a:prstGeom prst="rect">
            <a:avLst/>
          </a:prstGeom>
        </p:spPr>
      </p:pic>
    </p:spTree>
    <p:extLst>
      <p:ext uri="{BB962C8B-B14F-4D97-AF65-F5344CB8AC3E}">
        <p14:creationId xmlns:p14="http://schemas.microsoft.com/office/powerpoint/2010/main" val="31776504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188640"/>
            <a:ext cx="7272808" cy="1320800"/>
          </a:xfrm>
        </p:spPr>
        <p:txBody>
          <a:bodyPr>
            <a:normAutofit/>
          </a:bodyPr>
          <a:lstStyle/>
          <a:p>
            <a:r>
              <a:rPr lang="en-US" sz="2400" dirty="0">
                <a:solidFill>
                  <a:schemeClr val="tx1"/>
                </a:solidFill>
              </a:rPr>
              <a:t>3. </a:t>
            </a:r>
            <a:r>
              <a:rPr lang="en-US" sz="2400" b="1" dirty="0">
                <a:solidFill>
                  <a:schemeClr val="tx1"/>
                </a:solidFill>
              </a:rPr>
              <a:t>Automate </a:t>
            </a:r>
            <a:r>
              <a:rPr lang="en-US" sz="2400" b="1" dirty="0" smtClean="0">
                <a:solidFill>
                  <a:schemeClr val="tx1"/>
                </a:solidFill>
              </a:rPr>
              <a:t>K </a:t>
            </a:r>
            <a:r>
              <a:rPr lang="en-US" sz="2400" b="1" dirty="0">
                <a:solidFill>
                  <a:schemeClr val="tx1"/>
                </a:solidFill>
              </a:rPr>
              <a:t>Selection with Code (Grid Search):</a:t>
            </a:r>
            <a:endParaRPr lang="en-US" sz="2400" dirty="0">
              <a:solidFill>
                <a:schemeClr val="tx1"/>
              </a:solidFill>
            </a:endParaRPr>
          </a:p>
        </p:txBody>
      </p:sp>
      <p:pic>
        <p:nvPicPr>
          <p:cNvPr id="3" name="Picture 2"/>
          <p:cNvPicPr>
            <a:picLocks noChangeAspect="1"/>
          </p:cNvPicPr>
          <p:nvPr/>
        </p:nvPicPr>
        <p:blipFill>
          <a:blip r:embed="rId2"/>
          <a:stretch>
            <a:fillRect/>
          </a:stretch>
        </p:blipFill>
        <p:spPr>
          <a:xfrm>
            <a:off x="217556" y="1052736"/>
            <a:ext cx="6592220" cy="1648055"/>
          </a:xfrm>
          <a:prstGeom prst="rect">
            <a:avLst/>
          </a:prstGeom>
        </p:spPr>
      </p:pic>
      <p:pic>
        <p:nvPicPr>
          <p:cNvPr id="4" name="Picture 3"/>
          <p:cNvPicPr>
            <a:picLocks noChangeAspect="1"/>
          </p:cNvPicPr>
          <p:nvPr/>
        </p:nvPicPr>
        <p:blipFill>
          <a:blip r:embed="rId3"/>
          <a:stretch>
            <a:fillRect/>
          </a:stretch>
        </p:blipFill>
        <p:spPr>
          <a:xfrm>
            <a:off x="217290" y="3140968"/>
            <a:ext cx="8316486" cy="1848108"/>
          </a:xfrm>
          <a:prstGeom prst="rect">
            <a:avLst/>
          </a:prstGeom>
        </p:spPr>
      </p:pic>
    </p:spTree>
    <p:extLst>
      <p:ext uri="{BB962C8B-B14F-4D97-AF65-F5344CB8AC3E}">
        <p14:creationId xmlns:p14="http://schemas.microsoft.com/office/powerpoint/2010/main" val="16905131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179512" y="332656"/>
            <a:ext cx="7440063" cy="2333951"/>
          </a:xfrm>
          <a:prstGeom prst="rect">
            <a:avLst/>
          </a:prstGeom>
        </p:spPr>
      </p:pic>
      <p:pic>
        <p:nvPicPr>
          <p:cNvPr id="4" name="Picture 3"/>
          <p:cNvPicPr>
            <a:picLocks noChangeAspect="1"/>
          </p:cNvPicPr>
          <p:nvPr/>
        </p:nvPicPr>
        <p:blipFill>
          <a:blip r:embed="rId3"/>
          <a:stretch>
            <a:fillRect/>
          </a:stretch>
        </p:blipFill>
        <p:spPr>
          <a:xfrm>
            <a:off x="210860" y="2924944"/>
            <a:ext cx="6134956" cy="2791215"/>
          </a:xfrm>
          <a:prstGeom prst="rect">
            <a:avLst/>
          </a:prstGeom>
        </p:spPr>
      </p:pic>
    </p:spTree>
    <p:extLst>
      <p:ext uri="{BB962C8B-B14F-4D97-AF65-F5344CB8AC3E}">
        <p14:creationId xmlns:p14="http://schemas.microsoft.com/office/powerpoint/2010/main" val="179101555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188640"/>
            <a:ext cx="7344816" cy="1320800"/>
          </a:xfrm>
        </p:spPr>
        <p:txBody>
          <a:bodyPr>
            <a:normAutofit fontScale="90000"/>
          </a:bodyPr>
          <a:lstStyle/>
          <a:p>
            <a:r>
              <a:rPr lang="en-US" b="1" dirty="0" smtClean="0"/>
              <a:t>Problem with KNN : Overfitting or Under fitting: Cross-Validation</a:t>
            </a:r>
            <a:r>
              <a:rPr lang="en-US" b="1" dirty="0"/>
              <a:t/>
            </a:r>
            <a:br>
              <a:rPr lang="en-US" b="1" dirty="0"/>
            </a:br>
            <a:endParaRPr lang="en-US" dirty="0"/>
          </a:p>
        </p:txBody>
      </p:sp>
      <p:sp>
        <p:nvSpPr>
          <p:cNvPr id="3" name="Content Placeholder 2"/>
          <p:cNvSpPr>
            <a:spLocks noGrp="1"/>
          </p:cNvSpPr>
          <p:nvPr>
            <p:ph idx="1"/>
          </p:nvPr>
        </p:nvSpPr>
        <p:spPr>
          <a:xfrm>
            <a:off x="179512" y="1531760"/>
            <a:ext cx="7704856" cy="4561536"/>
          </a:xfrm>
        </p:spPr>
        <p:txBody>
          <a:bodyPr>
            <a:normAutofit/>
          </a:bodyPr>
          <a:lstStyle/>
          <a:p>
            <a:pPr>
              <a:lnSpc>
                <a:spcPct val="200000"/>
              </a:lnSpc>
            </a:pPr>
            <a:r>
              <a:rPr lang="en-US" b="1" dirty="0"/>
              <a:t>What is Cross-Validation?</a:t>
            </a:r>
          </a:p>
          <a:p>
            <a:pPr lvl="1">
              <a:lnSpc>
                <a:spcPct val="200000"/>
              </a:lnSpc>
            </a:pPr>
            <a:r>
              <a:rPr lang="en-US" sz="1800" dirty="0"/>
              <a:t>Cross-validation involves partitioning the dataset into multiple subsets, training the model on some subsets </a:t>
            </a:r>
            <a:r>
              <a:rPr lang="en-US" sz="1800" b="1" dirty="0"/>
              <a:t>(training set</a:t>
            </a:r>
            <a:r>
              <a:rPr lang="en-US" sz="1800" dirty="0"/>
              <a:t>) and evaluating it on the remaining subset (</a:t>
            </a:r>
            <a:r>
              <a:rPr lang="en-US" sz="1800" b="1" dirty="0"/>
              <a:t>validation set</a:t>
            </a:r>
            <a:r>
              <a:rPr lang="en-US" sz="1800" dirty="0"/>
              <a:t>). </a:t>
            </a:r>
            <a:endParaRPr lang="en-US" sz="1800" dirty="0" smtClean="0"/>
          </a:p>
          <a:p>
            <a:pPr lvl="1">
              <a:lnSpc>
                <a:spcPct val="200000"/>
              </a:lnSpc>
            </a:pPr>
            <a:r>
              <a:rPr lang="en-US" sz="1800" dirty="0" smtClean="0"/>
              <a:t>The </a:t>
            </a:r>
            <a:r>
              <a:rPr lang="en-US" sz="1800" dirty="0"/>
              <a:t>process is repeated several times with different partitions, and the results are averaged to obtain a more reliable estimate of the model’s performance.</a:t>
            </a:r>
          </a:p>
          <a:p>
            <a:endParaRPr lang="en-US" dirty="0"/>
          </a:p>
        </p:txBody>
      </p:sp>
    </p:spTree>
    <p:extLst>
      <p:ext uri="{BB962C8B-B14F-4D97-AF65-F5344CB8AC3E}">
        <p14:creationId xmlns:p14="http://schemas.microsoft.com/office/powerpoint/2010/main" val="267817937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116632"/>
            <a:ext cx="7344816" cy="1320800"/>
          </a:xfrm>
        </p:spPr>
        <p:txBody>
          <a:bodyPr>
            <a:noAutofit/>
          </a:bodyPr>
          <a:lstStyle/>
          <a:p>
            <a:r>
              <a:rPr lang="en-US" sz="3200" b="1" dirty="0"/>
              <a:t>Steps to Apply Cross-Validation with KNN:</a:t>
            </a:r>
            <a:br>
              <a:rPr lang="en-US" sz="3200" b="1" dirty="0"/>
            </a:br>
            <a:endParaRPr lang="en-US" sz="3200" dirty="0"/>
          </a:p>
        </p:txBody>
      </p:sp>
      <p:sp>
        <p:nvSpPr>
          <p:cNvPr id="3" name="Content Placeholder 2"/>
          <p:cNvSpPr>
            <a:spLocks noGrp="1"/>
          </p:cNvSpPr>
          <p:nvPr>
            <p:ph idx="1"/>
          </p:nvPr>
        </p:nvSpPr>
        <p:spPr>
          <a:xfrm>
            <a:off x="179512" y="1340768"/>
            <a:ext cx="7344816" cy="5112568"/>
          </a:xfrm>
        </p:spPr>
        <p:txBody>
          <a:bodyPr>
            <a:normAutofit/>
          </a:bodyPr>
          <a:lstStyle/>
          <a:p>
            <a:r>
              <a:rPr lang="en-US" b="1" dirty="0"/>
              <a:t>Split the Data</a:t>
            </a:r>
            <a:r>
              <a:rPr lang="en-US" dirty="0"/>
              <a:t>: Divide the data into </a:t>
            </a:r>
            <a:r>
              <a:rPr lang="en-US" dirty="0" smtClean="0"/>
              <a:t>𝐾 </a:t>
            </a:r>
            <a:r>
              <a:rPr lang="en-US" dirty="0"/>
              <a:t>folds.</a:t>
            </a:r>
          </a:p>
          <a:p>
            <a:r>
              <a:rPr lang="en-US" b="1" dirty="0"/>
              <a:t>Train and Validate</a:t>
            </a:r>
            <a:r>
              <a:rPr lang="en-US" dirty="0"/>
              <a:t>:</a:t>
            </a:r>
          </a:p>
          <a:p>
            <a:pPr lvl="1"/>
            <a:r>
              <a:rPr lang="en-US" dirty="0"/>
              <a:t>For each fold, train the KNN model on 𝐾</a:t>
            </a:r>
            <a:r>
              <a:rPr lang="en-US" dirty="0" smtClean="0"/>
              <a:t>−1 </a:t>
            </a:r>
            <a:r>
              <a:rPr lang="en-US" dirty="0"/>
              <a:t>folds and validate it on the remaining fold.</a:t>
            </a:r>
          </a:p>
          <a:p>
            <a:pPr lvl="1"/>
            <a:r>
              <a:rPr lang="en-US" dirty="0"/>
              <a:t>Calculate the performance metric (e.g., accuracy for classification, mean squared error for regression).</a:t>
            </a:r>
          </a:p>
          <a:p>
            <a:r>
              <a:rPr lang="en-US" b="1" dirty="0"/>
              <a:t>Average the Results</a:t>
            </a:r>
            <a:r>
              <a:rPr lang="en-US" dirty="0"/>
              <a:t>: Average the performance metrics from all folds to get an overall performance estimate.</a:t>
            </a:r>
          </a:p>
          <a:p>
            <a:r>
              <a:rPr lang="en-US" b="1" dirty="0"/>
              <a:t>Parameter Tuning</a:t>
            </a:r>
            <a:r>
              <a:rPr lang="en-US" dirty="0"/>
              <a:t>:</a:t>
            </a:r>
          </a:p>
          <a:p>
            <a:pPr lvl="1"/>
            <a:r>
              <a:rPr lang="en-US" dirty="0"/>
              <a:t>Repeat the process for different values of </a:t>
            </a:r>
            <a:r>
              <a:rPr lang="en-US" dirty="0" smtClean="0"/>
              <a:t>𝐾 </a:t>
            </a:r>
            <a:r>
              <a:rPr lang="en-US" dirty="0"/>
              <a:t>(the number of neighbors).</a:t>
            </a:r>
          </a:p>
          <a:p>
            <a:pPr lvl="1"/>
            <a:r>
              <a:rPr lang="en-US" dirty="0"/>
              <a:t>Select the </a:t>
            </a:r>
            <a:r>
              <a:rPr lang="en-US" dirty="0" smtClean="0"/>
              <a:t>𝐾 </a:t>
            </a:r>
            <a:r>
              <a:rPr lang="en-US" dirty="0"/>
              <a:t>that gives the best average performance across the folds.</a:t>
            </a:r>
          </a:p>
          <a:p>
            <a:endParaRPr lang="en-US" dirty="0"/>
          </a:p>
        </p:txBody>
      </p:sp>
    </p:spTree>
    <p:extLst>
      <p:ext uri="{BB962C8B-B14F-4D97-AF65-F5344CB8AC3E}">
        <p14:creationId xmlns:p14="http://schemas.microsoft.com/office/powerpoint/2010/main" val="160393018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521" y="91976"/>
            <a:ext cx="4464496" cy="672728"/>
          </a:xfrm>
        </p:spPr>
        <p:txBody>
          <a:bodyPr>
            <a:normAutofit fontScale="90000"/>
          </a:bodyPr>
          <a:lstStyle/>
          <a:p>
            <a:r>
              <a:rPr lang="en-US" b="1" dirty="0"/>
              <a:t>How KNN Works</a:t>
            </a:r>
            <a:br>
              <a:rPr lang="en-US" b="1" dirty="0"/>
            </a:br>
            <a:endParaRPr lang="en-US" dirty="0"/>
          </a:p>
        </p:txBody>
      </p:sp>
      <p:sp>
        <p:nvSpPr>
          <p:cNvPr id="3" name="Content Placeholder 2"/>
          <p:cNvSpPr>
            <a:spLocks noGrp="1"/>
          </p:cNvSpPr>
          <p:nvPr>
            <p:ph idx="1"/>
          </p:nvPr>
        </p:nvSpPr>
        <p:spPr>
          <a:xfrm>
            <a:off x="107504" y="980728"/>
            <a:ext cx="7416824" cy="4911824"/>
          </a:xfrm>
        </p:spPr>
        <p:txBody>
          <a:bodyPr>
            <a:normAutofit/>
          </a:bodyPr>
          <a:lstStyle/>
          <a:p>
            <a:r>
              <a:rPr lang="en-US" b="1" dirty="0"/>
              <a:t>Choose the number of neighbors (K):</a:t>
            </a:r>
            <a:r>
              <a:rPr lang="en-US" dirty="0"/>
              <a:t> </a:t>
            </a:r>
            <a:endParaRPr lang="en-US" dirty="0" smtClean="0"/>
          </a:p>
          <a:p>
            <a:pPr lvl="1"/>
            <a:r>
              <a:rPr lang="en-US" dirty="0" smtClean="0"/>
              <a:t>This </a:t>
            </a:r>
            <a:r>
              <a:rPr lang="en-US" dirty="0"/>
              <a:t>is a </a:t>
            </a:r>
            <a:r>
              <a:rPr lang="en-US" dirty="0" smtClean="0"/>
              <a:t>hyper-parameter </a:t>
            </a:r>
            <a:r>
              <a:rPr lang="en-US" dirty="0"/>
              <a:t>that determines how many neighbors to consider when making a prediction.</a:t>
            </a:r>
          </a:p>
          <a:p>
            <a:r>
              <a:rPr lang="en-US" b="1" dirty="0"/>
              <a:t>Calculate the distance:</a:t>
            </a:r>
            <a:r>
              <a:rPr lang="en-US" dirty="0"/>
              <a:t> </a:t>
            </a:r>
            <a:endParaRPr lang="en-US" dirty="0" smtClean="0"/>
          </a:p>
          <a:p>
            <a:pPr lvl="1"/>
            <a:r>
              <a:rPr lang="en-US" dirty="0" smtClean="0"/>
              <a:t>Use </a:t>
            </a:r>
            <a:r>
              <a:rPr lang="en-US" dirty="0"/>
              <a:t>a distance metric (e.g., Euclidean distance) to find the distance between the query point and all points in the training set.</a:t>
            </a:r>
          </a:p>
          <a:p>
            <a:r>
              <a:rPr lang="en-US" b="1" dirty="0"/>
              <a:t>Identify the K-nearest neighbors:</a:t>
            </a:r>
            <a:r>
              <a:rPr lang="en-US" dirty="0"/>
              <a:t> </a:t>
            </a:r>
            <a:endParaRPr lang="en-US" dirty="0" smtClean="0"/>
          </a:p>
          <a:p>
            <a:pPr lvl="1"/>
            <a:r>
              <a:rPr lang="en-US" dirty="0" smtClean="0"/>
              <a:t>Select </a:t>
            </a:r>
            <a:r>
              <a:rPr lang="en-US" dirty="0"/>
              <a:t>the K data points that are closest to the query point.</a:t>
            </a:r>
          </a:p>
          <a:p>
            <a:r>
              <a:rPr lang="en-US" b="1" dirty="0"/>
              <a:t>Make a prediction:</a:t>
            </a:r>
            <a:endParaRPr lang="en-US" dirty="0"/>
          </a:p>
          <a:p>
            <a:pPr lvl="1"/>
            <a:r>
              <a:rPr lang="en-US" b="1" dirty="0"/>
              <a:t>For classification:</a:t>
            </a:r>
            <a:r>
              <a:rPr lang="en-US" dirty="0"/>
              <a:t> Use majority voting among the K-nearest neighbors.</a:t>
            </a:r>
          </a:p>
          <a:p>
            <a:pPr lvl="1"/>
            <a:r>
              <a:rPr lang="en-US" b="1" dirty="0"/>
              <a:t>For regression:</a:t>
            </a:r>
            <a:r>
              <a:rPr lang="en-US" dirty="0"/>
              <a:t> Take the average of the values of the K-nearest neighbors.</a:t>
            </a:r>
          </a:p>
          <a:p>
            <a:endParaRPr lang="en-US" dirty="0"/>
          </a:p>
        </p:txBody>
      </p:sp>
    </p:spTree>
    <p:extLst>
      <p:ext uri="{BB962C8B-B14F-4D97-AF65-F5344CB8AC3E}">
        <p14:creationId xmlns:p14="http://schemas.microsoft.com/office/powerpoint/2010/main" val="144438456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Applications of KNN</a:t>
            </a:r>
            <a:br>
              <a:rPr lang="en-US" b="1" dirty="0"/>
            </a:br>
            <a:endParaRPr lang="en-US" dirty="0"/>
          </a:p>
        </p:txBody>
      </p:sp>
      <p:sp>
        <p:nvSpPr>
          <p:cNvPr id="3" name="Content Placeholder 2"/>
          <p:cNvSpPr>
            <a:spLocks noGrp="1"/>
          </p:cNvSpPr>
          <p:nvPr>
            <p:ph idx="1"/>
          </p:nvPr>
        </p:nvSpPr>
        <p:spPr>
          <a:xfrm>
            <a:off x="147051" y="1628801"/>
            <a:ext cx="7272808" cy="1296144"/>
          </a:xfrm>
        </p:spPr>
        <p:txBody>
          <a:bodyPr/>
          <a:lstStyle/>
          <a:p>
            <a:r>
              <a:rPr lang="en-US" b="1" dirty="0"/>
              <a:t>Classification:</a:t>
            </a:r>
            <a:r>
              <a:rPr lang="en-US" dirty="0"/>
              <a:t> Handwriting detection, image recognition, etc.</a:t>
            </a:r>
          </a:p>
          <a:p>
            <a:r>
              <a:rPr lang="en-US" b="1" dirty="0"/>
              <a:t>Regression:</a:t>
            </a:r>
            <a:r>
              <a:rPr lang="en-US" dirty="0"/>
              <a:t> Predicting house prices, stock market trends, etc.</a:t>
            </a:r>
          </a:p>
          <a:p>
            <a:r>
              <a:rPr lang="en-US" b="1" dirty="0"/>
              <a:t>Imputation:</a:t>
            </a:r>
            <a:r>
              <a:rPr lang="en-US" dirty="0"/>
              <a:t> Filling in missing values in datasets.</a:t>
            </a:r>
          </a:p>
          <a:p>
            <a:endParaRPr lang="en-US" dirty="0"/>
          </a:p>
        </p:txBody>
      </p:sp>
    </p:spTree>
    <p:extLst>
      <p:ext uri="{BB962C8B-B14F-4D97-AF65-F5344CB8AC3E}">
        <p14:creationId xmlns:p14="http://schemas.microsoft.com/office/powerpoint/2010/main" val="421473452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3528" y="260648"/>
            <a:ext cx="6347713" cy="731168"/>
          </a:xfrm>
        </p:spPr>
        <p:txBody>
          <a:bodyPr>
            <a:normAutofit fontScale="90000"/>
          </a:bodyPr>
          <a:lstStyle/>
          <a:p>
            <a:r>
              <a:rPr lang="en-US" b="1" dirty="0"/>
              <a:t>Practical Tips</a:t>
            </a:r>
            <a:br>
              <a:rPr lang="en-US" b="1" dirty="0"/>
            </a:br>
            <a:endParaRPr lang="en-US" dirty="0"/>
          </a:p>
        </p:txBody>
      </p:sp>
      <p:sp>
        <p:nvSpPr>
          <p:cNvPr id="3" name="Content Placeholder 2"/>
          <p:cNvSpPr>
            <a:spLocks noGrp="1"/>
          </p:cNvSpPr>
          <p:nvPr>
            <p:ph idx="1"/>
          </p:nvPr>
        </p:nvSpPr>
        <p:spPr>
          <a:xfrm>
            <a:off x="323528" y="1124744"/>
            <a:ext cx="7272808" cy="4896544"/>
          </a:xfrm>
        </p:spPr>
        <p:txBody>
          <a:bodyPr>
            <a:normAutofit lnSpcReduction="10000"/>
          </a:bodyPr>
          <a:lstStyle/>
          <a:p>
            <a:pPr>
              <a:lnSpc>
                <a:spcPct val="150000"/>
              </a:lnSpc>
            </a:pPr>
            <a:r>
              <a:rPr lang="en-US" sz="1900" b="1" dirty="0"/>
              <a:t>Feature Scaling:</a:t>
            </a:r>
            <a:r>
              <a:rPr lang="en-US" sz="1900" dirty="0"/>
              <a:t> </a:t>
            </a:r>
            <a:endParaRPr lang="en-US" sz="1900" dirty="0" smtClean="0"/>
          </a:p>
          <a:p>
            <a:pPr lvl="1">
              <a:lnSpc>
                <a:spcPct val="150000"/>
              </a:lnSpc>
            </a:pPr>
            <a:r>
              <a:rPr lang="en-US" sz="1900" dirty="0" smtClean="0"/>
              <a:t>Always </a:t>
            </a:r>
            <a:r>
              <a:rPr lang="en-US" sz="1900" dirty="0"/>
              <a:t>standardize or normalize your features when using KNN because it is sensitive to the scale of the data.</a:t>
            </a:r>
          </a:p>
          <a:p>
            <a:pPr>
              <a:lnSpc>
                <a:spcPct val="150000"/>
              </a:lnSpc>
            </a:pPr>
            <a:r>
              <a:rPr lang="en-US" sz="1900" b="1" dirty="0"/>
              <a:t>Handling Imbalanced Data:</a:t>
            </a:r>
            <a:r>
              <a:rPr lang="en-US" sz="1900" dirty="0"/>
              <a:t> </a:t>
            </a:r>
            <a:endParaRPr lang="en-US" sz="1900" dirty="0" smtClean="0"/>
          </a:p>
          <a:p>
            <a:pPr lvl="1">
              <a:lnSpc>
                <a:spcPct val="150000"/>
              </a:lnSpc>
            </a:pPr>
            <a:r>
              <a:rPr lang="en-US" sz="1900" dirty="0" smtClean="0"/>
              <a:t>Consider </a:t>
            </a:r>
            <a:r>
              <a:rPr lang="en-US" sz="1900" dirty="0"/>
              <a:t>using weighted KNN where closer neighbors have a higher influence.</a:t>
            </a:r>
          </a:p>
          <a:p>
            <a:pPr>
              <a:lnSpc>
                <a:spcPct val="150000"/>
              </a:lnSpc>
            </a:pPr>
            <a:r>
              <a:rPr lang="en-US" sz="1900" b="1" dirty="0"/>
              <a:t>Dimensionality Reduction:</a:t>
            </a:r>
            <a:r>
              <a:rPr lang="en-US" sz="1900" dirty="0"/>
              <a:t> </a:t>
            </a:r>
            <a:endParaRPr lang="en-US" sz="1900" dirty="0" smtClean="0"/>
          </a:p>
          <a:p>
            <a:pPr lvl="1">
              <a:lnSpc>
                <a:spcPct val="150000"/>
              </a:lnSpc>
            </a:pPr>
            <a:r>
              <a:rPr lang="en-US" sz="1900" dirty="0" smtClean="0"/>
              <a:t>Techniques </a:t>
            </a:r>
            <a:r>
              <a:rPr lang="en-US" sz="1900" dirty="0"/>
              <a:t>like PCA can be used to reduce the dimensionality of data to improve the performance of KNN.</a:t>
            </a:r>
          </a:p>
          <a:p>
            <a:endParaRPr lang="en-US" dirty="0"/>
          </a:p>
        </p:txBody>
      </p:sp>
    </p:spTree>
    <p:extLst>
      <p:ext uri="{BB962C8B-B14F-4D97-AF65-F5344CB8AC3E}">
        <p14:creationId xmlns:p14="http://schemas.microsoft.com/office/powerpoint/2010/main" val="85091644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251520" y="188640"/>
            <a:ext cx="6782747" cy="3191320"/>
          </a:xfrm>
          <a:prstGeom prst="rect">
            <a:avLst/>
          </a:prstGeom>
        </p:spPr>
      </p:pic>
    </p:spTree>
    <p:extLst>
      <p:ext uri="{BB962C8B-B14F-4D97-AF65-F5344CB8AC3E}">
        <p14:creationId xmlns:p14="http://schemas.microsoft.com/office/powerpoint/2010/main" val="390246549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611560" y="332656"/>
            <a:ext cx="4915586" cy="885949"/>
          </a:xfrm>
          <a:prstGeom prst="rect">
            <a:avLst/>
          </a:prstGeom>
        </p:spPr>
      </p:pic>
      <p:sp>
        <p:nvSpPr>
          <p:cNvPr id="3" name="Rectangle 2"/>
          <p:cNvSpPr/>
          <p:nvPr/>
        </p:nvSpPr>
        <p:spPr>
          <a:xfrm>
            <a:off x="179512" y="1628800"/>
            <a:ext cx="8424936" cy="1846659"/>
          </a:xfrm>
          <a:prstGeom prst="rect">
            <a:avLst/>
          </a:prstGeom>
        </p:spPr>
        <p:txBody>
          <a:bodyPr wrap="square">
            <a:spAutoFit/>
          </a:bodyPr>
          <a:lstStyle/>
          <a:p>
            <a:r>
              <a:rPr lang="en-US" b="1" dirty="0"/>
              <a:t># Example dataset </a:t>
            </a:r>
            <a:endParaRPr lang="en-US" b="1" dirty="0" smtClean="0"/>
          </a:p>
          <a:p>
            <a:pPr>
              <a:lnSpc>
                <a:spcPct val="150000"/>
              </a:lnSpc>
            </a:pPr>
            <a:r>
              <a:rPr lang="en-US" sz="1600" dirty="0" smtClean="0"/>
              <a:t>X</a:t>
            </a:r>
            <a:r>
              <a:rPr lang="en-US" sz="1600" dirty="0"/>
              <a:t>, y = </a:t>
            </a:r>
            <a:r>
              <a:rPr lang="en-US" sz="1600" dirty="0" err="1"/>
              <a:t>make_classification</a:t>
            </a:r>
            <a:r>
              <a:rPr lang="en-US" sz="1600" dirty="0"/>
              <a:t>(</a:t>
            </a:r>
            <a:r>
              <a:rPr lang="en-US" sz="1600" dirty="0" err="1"/>
              <a:t>n_classes</a:t>
            </a:r>
            <a:r>
              <a:rPr lang="en-US" sz="1600" dirty="0"/>
              <a:t>=2, weights=[0.1, 0.9], </a:t>
            </a:r>
            <a:r>
              <a:rPr lang="en-US" sz="1600" dirty="0" err="1"/>
              <a:t>n_informative</a:t>
            </a:r>
            <a:r>
              <a:rPr lang="en-US" sz="1600" dirty="0"/>
              <a:t>=3, </a:t>
            </a:r>
            <a:r>
              <a:rPr lang="en-US" sz="1600" dirty="0" err="1"/>
              <a:t>n_samples</a:t>
            </a:r>
            <a:r>
              <a:rPr lang="en-US" sz="1600" dirty="0"/>
              <a:t>=1000, </a:t>
            </a:r>
            <a:r>
              <a:rPr lang="en-US" sz="1600" dirty="0" err="1"/>
              <a:t>random_state</a:t>
            </a:r>
            <a:r>
              <a:rPr lang="en-US" sz="1600" dirty="0"/>
              <a:t>=42</a:t>
            </a:r>
            <a:r>
              <a:rPr lang="en-US" sz="1600" dirty="0" smtClean="0"/>
              <a:t>)</a:t>
            </a:r>
          </a:p>
          <a:p>
            <a:pPr>
              <a:lnSpc>
                <a:spcPct val="150000"/>
              </a:lnSpc>
            </a:pPr>
            <a:r>
              <a:rPr lang="en-US" sz="1600" dirty="0" smtClean="0"/>
              <a:t> </a:t>
            </a:r>
          </a:p>
          <a:p>
            <a:pPr>
              <a:lnSpc>
                <a:spcPct val="150000"/>
              </a:lnSpc>
            </a:pPr>
            <a:r>
              <a:rPr lang="en-US" sz="1600" dirty="0" err="1" smtClean="0"/>
              <a:t>X_train</a:t>
            </a:r>
            <a:r>
              <a:rPr lang="en-US" sz="1600" dirty="0"/>
              <a:t>, </a:t>
            </a:r>
            <a:r>
              <a:rPr lang="en-US" sz="1600" dirty="0" err="1"/>
              <a:t>X_test</a:t>
            </a:r>
            <a:r>
              <a:rPr lang="en-US" sz="1600" dirty="0"/>
              <a:t>, </a:t>
            </a:r>
            <a:r>
              <a:rPr lang="en-US" sz="1600" dirty="0" err="1"/>
              <a:t>y_train</a:t>
            </a:r>
            <a:r>
              <a:rPr lang="en-US" sz="1600" dirty="0"/>
              <a:t>, </a:t>
            </a:r>
            <a:r>
              <a:rPr lang="en-US" sz="1600" dirty="0" err="1"/>
              <a:t>y_test</a:t>
            </a:r>
            <a:r>
              <a:rPr lang="en-US" sz="1600" dirty="0"/>
              <a:t> = </a:t>
            </a:r>
            <a:r>
              <a:rPr lang="en-US" sz="1600" dirty="0" err="1"/>
              <a:t>train_test_split</a:t>
            </a:r>
            <a:r>
              <a:rPr lang="en-US" sz="1600" dirty="0"/>
              <a:t>(X, y, </a:t>
            </a:r>
            <a:r>
              <a:rPr lang="en-US" sz="1600" dirty="0" err="1"/>
              <a:t>test_size</a:t>
            </a:r>
            <a:r>
              <a:rPr lang="en-US" sz="1600" dirty="0"/>
              <a:t>=0.2, </a:t>
            </a:r>
            <a:r>
              <a:rPr lang="en-US" sz="1600" dirty="0" err="1"/>
              <a:t>random_state</a:t>
            </a:r>
            <a:r>
              <a:rPr lang="en-US" sz="1600" dirty="0"/>
              <a:t>=42)</a:t>
            </a:r>
          </a:p>
        </p:txBody>
      </p:sp>
      <p:pic>
        <p:nvPicPr>
          <p:cNvPr id="4" name="Picture 3"/>
          <p:cNvPicPr>
            <a:picLocks noChangeAspect="1"/>
          </p:cNvPicPr>
          <p:nvPr/>
        </p:nvPicPr>
        <p:blipFill>
          <a:blip r:embed="rId3"/>
          <a:stretch>
            <a:fillRect/>
          </a:stretch>
        </p:blipFill>
        <p:spPr>
          <a:xfrm>
            <a:off x="179512" y="3501008"/>
            <a:ext cx="6813581" cy="1439808"/>
          </a:xfrm>
          <a:prstGeom prst="rect">
            <a:avLst/>
          </a:prstGeom>
        </p:spPr>
      </p:pic>
      <p:sp>
        <p:nvSpPr>
          <p:cNvPr id="5" name="Rectangle 4"/>
          <p:cNvSpPr/>
          <p:nvPr/>
        </p:nvSpPr>
        <p:spPr>
          <a:xfrm>
            <a:off x="323528" y="5072450"/>
            <a:ext cx="5904656" cy="369332"/>
          </a:xfrm>
          <a:prstGeom prst="rect">
            <a:avLst/>
          </a:prstGeom>
        </p:spPr>
        <p:txBody>
          <a:bodyPr wrap="square">
            <a:spAutoFit/>
          </a:bodyPr>
          <a:lstStyle/>
          <a:p>
            <a:r>
              <a:rPr lang="en-US" dirty="0"/>
              <a:t># '</a:t>
            </a:r>
            <a:r>
              <a:rPr lang="en-US" b="1" dirty="0"/>
              <a:t>distance</a:t>
            </a:r>
            <a:r>
              <a:rPr lang="en-US" dirty="0"/>
              <a:t>' gives higher weight to closer neighbors</a:t>
            </a:r>
          </a:p>
        </p:txBody>
      </p:sp>
    </p:spTree>
    <p:extLst>
      <p:ext uri="{BB962C8B-B14F-4D97-AF65-F5344CB8AC3E}">
        <p14:creationId xmlns:p14="http://schemas.microsoft.com/office/powerpoint/2010/main" val="170626375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51520" y="404664"/>
            <a:ext cx="6754168" cy="3105583"/>
          </a:xfrm>
          <a:prstGeom prst="rect">
            <a:avLst/>
          </a:prstGeom>
        </p:spPr>
      </p:pic>
    </p:spTree>
    <p:extLst>
      <p:ext uri="{BB962C8B-B14F-4D97-AF65-F5344CB8AC3E}">
        <p14:creationId xmlns:p14="http://schemas.microsoft.com/office/powerpoint/2010/main" val="225433280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7058745" cy="1320800"/>
          </a:xfrm>
        </p:spPr>
        <p:txBody>
          <a:bodyPr/>
          <a:lstStyle/>
          <a:p>
            <a:r>
              <a:rPr lang="en-US" b="1" dirty="0"/>
              <a:t>Advantages and Disadvantages</a:t>
            </a:r>
          </a:p>
        </p:txBody>
      </p:sp>
      <p:sp>
        <p:nvSpPr>
          <p:cNvPr id="3" name="Content Placeholder 2"/>
          <p:cNvSpPr>
            <a:spLocks noGrp="1"/>
          </p:cNvSpPr>
          <p:nvPr>
            <p:ph idx="1"/>
          </p:nvPr>
        </p:nvSpPr>
        <p:spPr>
          <a:xfrm>
            <a:off x="467544" y="1700808"/>
            <a:ext cx="6347714" cy="3880773"/>
          </a:xfrm>
        </p:spPr>
        <p:txBody>
          <a:bodyPr/>
          <a:lstStyle/>
          <a:p>
            <a:r>
              <a:rPr lang="en-US" b="1" dirty="0"/>
              <a:t>Advantages:</a:t>
            </a:r>
            <a:endParaRPr lang="en-US" dirty="0"/>
          </a:p>
          <a:p>
            <a:pPr lvl="1"/>
            <a:r>
              <a:rPr lang="en-US" dirty="0"/>
              <a:t>Simple and easy to understand.</a:t>
            </a:r>
          </a:p>
          <a:p>
            <a:pPr lvl="1"/>
            <a:r>
              <a:rPr lang="en-US" dirty="0"/>
              <a:t>No assumptions about data distribution.</a:t>
            </a:r>
          </a:p>
          <a:p>
            <a:pPr lvl="1"/>
            <a:r>
              <a:rPr lang="en-US" dirty="0"/>
              <a:t>Naturally handles multi-class classification.</a:t>
            </a:r>
          </a:p>
          <a:p>
            <a:r>
              <a:rPr lang="en-US" b="1" dirty="0"/>
              <a:t>Disadvantages:</a:t>
            </a:r>
            <a:endParaRPr lang="en-US" dirty="0"/>
          </a:p>
          <a:p>
            <a:pPr lvl="1"/>
            <a:r>
              <a:rPr lang="en-US" dirty="0"/>
              <a:t>Computationally expensive during prediction.</a:t>
            </a:r>
          </a:p>
          <a:p>
            <a:pPr lvl="1"/>
            <a:r>
              <a:rPr lang="en-US" dirty="0"/>
              <a:t>Performance can degrade with high-dimensional data (curse of dimensionality).</a:t>
            </a:r>
          </a:p>
          <a:p>
            <a:pPr lvl="1"/>
            <a:r>
              <a:rPr lang="en-US" dirty="0"/>
              <a:t>Sensitive to the scale of data and irrelevant features.</a:t>
            </a:r>
          </a:p>
          <a:p>
            <a:endParaRPr lang="en-US" dirty="0"/>
          </a:p>
        </p:txBody>
      </p:sp>
    </p:spTree>
    <p:extLst>
      <p:ext uri="{BB962C8B-B14F-4D97-AF65-F5344CB8AC3E}">
        <p14:creationId xmlns:p14="http://schemas.microsoft.com/office/powerpoint/2010/main" val="30055118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Evaluation Metrics for KNN</a:t>
            </a:r>
            <a:endParaRPr lang="en-US" b="1" dirty="0"/>
          </a:p>
        </p:txBody>
      </p:sp>
      <p:pic>
        <p:nvPicPr>
          <p:cNvPr id="4" name="Picture 3"/>
          <p:cNvPicPr>
            <a:picLocks noChangeAspect="1"/>
          </p:cNvPicPr>
          <p:nvPr/>
        </p:nvPicPr>
        <p:blipFill>
          <a:blip r:embed="rId2"/>
          <a:stretch>
            <a:fillRect/>
          </a:stretch>
        </p:blipFill>
        <p:spPr>
          <a:xfrm>
            <a:off x="323529" y="1556793"/>
            <a:ext cx="7056784" cy="2394754"/>
          </a:xfrm>
          <a:prstGeom prst="rect">
            <a:avLst/>
          </a:prstGeom>
        </p:spPr>
      </p:pic>
      <p:pic>
        <p:nvPicPr>
          <p:cNvPr id="5" name="Picture 4"/>
          <p:cNvPicPr>
            <a:picLocks noChangeAspect="1"/>
          </p:cNvPicPr>
          <p:nvPr/>
        </p:nvPicPr>
        <p:blipFill>
          <a:blip r:embed="rId3"/>
          <a:stretch>
            <a:fillRect/>
          </a:stretch>
        </p:blipFill>
        <p:spPr>
          <a:xfrm>
            <a:off x="619310" y="4446239"/>
            <a:ext cx="5089364" cy="1143001"/>
          </a:xfrm>
          <a:prstGeom prst="rect">
            <a:avLst/>
          </a:prstGeom>
        </p:spPr>
      </p:pic>
    </p:spTree>
    <p:extLst>
      <p:ext uri="{BB962C8B-B14F-4D97-AF65-F5344CB8AC3E}">
        <p14:creationId xmlns:p14="http://schemas.microsoft.com/office/powerpoint/2010/main" val="37533532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79512" y="0"/>
            <a:ext cx="8449854" cy="2981741"/>
          </a:xfrm>
          <a:prstGeom prst="rect">
            <a:avLst/>
          </a:prstGeom>
        </p:spPr>
      </p:pic>
      <p:pic>
        <p:nvPicPr>
          <p:cNvPr id="5" name="Picture 4"/>
          <p:cNvPicPr>
            <a:picLocks noChangeAspect="1"/>
          </p:cNvPicPr>
          <p:nvPr/>
        </p:nvPicPr>
        <p:blipFill>
          <a:blip r:embed="rId3"/>
          <a:stretch>
            <a:fillRect/>
          </a:stretch>
        </p:blipFill>
        <p:spPr>
          <a:xfrm>
            <a:off x="179512" y="3573016"/>
            <a:ext cx="7497221" cy="943107"/>
          </a:xfrm>
          <a:prstGeom prst="rect">
            <a:avLst/>
          </a:prstGeom>
        </p:spPr>
      </p:pic>
    </p:spTree>
    <p:extLst>
      <p:ext uri="{BB962C8B-B14F-4D97-AF65-F5344CB8AC3E}">
        <p14:creationId xmlns:p14="http://schemas.microsoft.com/office/powerpoint/2010/main" val="222720905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400" y="0"/>
            <a:ext cx="8002117" cy="2972215"/>
          </a:xfrm>
          <a:prstGeom prst="rect">
            <a:avLst/>
          </a:prstGeom>
        </p:spPr>
      </p:pic>
      <p:pic>
        <p:nvPicPr>
          <p:cNvPr id="3" name="Picture 2"/>
          <p:cNvPicPr>
            <a:picLocks noChangeAspect="1"/>
          </p:cNvPicPr>
          <p:nvPr/>
        </p:nvPicPr>
        <p:blipFill>
          <a:blip r:embed="rId3"/>
          <a:stretch>
            <a:fillRect/>
          </a:stretch>
        </p:blipFill>
        <p:spPr>
          <a:xfrm>
            <a:off x="395536" y="3717032"/>
            <a:ext cx="7443205" cy="1296144"/>
          </a:xfrm>
          <a:prstGeom prst="rect">
            <a:avLst/>
          </a:prstGeom>
        </p:spPr>
      </p:pic>
    </p:spTree>
    <p:extLst>
      <p:ext uri="{BB962C8B-B14F-4D97-AF65-F5344CB8AC3E}">
        <p14:creationId xmlns:p14="http://schemas.microsoft.com/office/powerpoint/2010/main" val="131706105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51520" y="188639"/>
            <a:ext cx="6840760" cy="2814237"/>
          </a:xfrm>
          <a:prstGeom prst="rect">
            <a:avLst/>
          </a:prstGeom>
        </p:spPr>
      </p:pic>
      <p:pic>
        <p:nvPicPr>
          <p:cNvPr id="3" name="Picture 2"/>
          <p:cNvPicPr>
            <a:picLocks noChangeAspect="1"/>
          </p:cNvPicPr>
          <p:nvPr/>
        </p:nvPicPr>
        <p:blipFill>
          <a:blip r:embed="rId3"/>
          <a:stretch>
            <a:fillRect/>
          </a:stretch>
        </p:blipFill>
        <p:spPr>
          <a:xfrm>
            <a:off x="251520" y="3645024"/>
            <a:ext cx="6844327" cy="1440160"/>
          </a:xfrm>
          <a:prstGeom prst="rect">
            <a:avLst/>
          </a:prstGeom>
        </p:spPr>
      </p:pic>
    </p:spTree>
    <p:extLst>
      <p:ext uri="{BB962C8B-B14F-4D97-AF65-F5344CB8AC3E}">
        <p14:creationId xmlns:p14="http://schemas.microsoft.com/office/powerpoint/2010/main" val="310278219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51520" y="116632"/>
            <a:ext cx="8183117" cy="2600688"/>
          </a:xfrm>
          <a:prstGeom prst="rect">
            <a:avLst/>
          </a:prstGeom>
        </p:spPr>
      </p:pic>
      <p:pic>
        <p:nvPicPr>
          <p:cNvPr id="3" name="Picture 2"/>
          <p:cNvPicPr>
            <a:picLocks noChangeAspect="1"/>
          </p:cNvPicPr>
          <p:nvPr/>
        </p:nvPicPr>
        <p:blipFill>
          <a:blip r:embed="rId3"/>
          <a:stretch>
            <a:fillRect/>
          </a:stretch>
        </p:blipFill>
        <p:spPr>
          <a:xfrm>
            <a:off x="539552" y="3429000"/>
            <a:ext cx="5975908" cy="1296144"/>
          </a:xfrm>
          <a:prstGeom prst="rect">
            <a:avLst/>
          </a:prstGeom>
        </p:spPr>
      </p:pic>
    </p:spTree>
    <p:extLst>
      <p:ext uri="{BB962C8B-B14F-4D97-AF65-F5344CB8AC3E}">
        <p14:creationId xmlns:p14="http://schemas.microsoft.com/office/powerpoint/2010/main" val="238495277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51520" y="188640"/>
            <a:ext cx="7240010" cy="2057687"/>
          </a:xfrm>
          <a:prstGeom prst="rect">
            <a:avLst/>
          </a:prstGeom>
        </p:spPr>
      </p:pic>
      <p:pic>
        <p:nvPicPr>
          <p:cNvPr id="3" name="Picture 2"/>
          <p:cNvPicPr>
            <a:picLocks noChangeAspect="1"/>
          </p:cNvPicPr>
          <p:nvPr/>
        </p:nvPicPr>
        <p:blipFill>
          <a:blip r:embed="rId3"/>
          <a:stretch>
            <a:fillRect/>
          </a:stretch>
        </p:blipFill>
        <p:spPr>
          <a:xfrm>
            <a:off x="343308" y="3212976"/>
            <a:ext cx="7182852" cy="914528"/>
          </a:xfrm>
          <a:prstGeom prst="rect">
            <a:avLst/>
          </a:prstGeom>
        </p:spPr>
      </p:pic>
    </p:spTree>
    <p:extLst>
      <p:ext uri="{BB962C8B-B14F-4D97-AF65-F5344CB8AC3E}">
        <p14:creationId xmlns:p14="http://schemas.microsoft.com/office/powerpoint/2010/main" val="306011208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188640"/>
            <a:ext cx="6347714" cy="648072"/>
          </a:xfrm>
        </p:spPr>
        <p:txBody>
          <a:bodyPr/>
          <a:lstStyle/>
          <a:p>
            <a:r>
              <a:rPr lang="en-US" b="1" dirty="0"/>
              <a:t>2. For Regression</a:t>
            </a:r>
          </a:p>
        </p:txBody>
      </p:sp>
      <p:pic>
        <p:nvPicPr>
          <p:cNvPr id="3" name="Picture 2"/>
          <p:cNvPicPr>
            <a:picLocks noChangeAspect="1"/>
          </p:cNvPicPr>
          <p:nvPr/>
        </p:nvPicPr>
        <p:blipFill>
          <a:blip r:embed="rId2"/>
          <a:stretch>
            <a:fillRect/>
          </a:stretch>
        </p:blipFill>
        <p:spPr>
          <a:xfrm>
            <a:off x="179512" y="980728"/>
            <a:ext cx="7128792" cy="2553187"/>
          </a:xfrm>
          <a:prstGeom prst="rect">
            <a:avLst/>
          </a:prstGeom>
        </p:spPr>
      </p:pic>
      <p:pic>
        <p:nvPicPr>
          <p:cNvPr id="4" name="Picture 3"/>
          <p:cNvPicPr>
            <a:picLocks noChangeAspect="1"/>
          </p:cNvPicPr>
          <p:nvPr/>
        </p:nvPicPr>
        <p:blipFill>
          <a:blip r:embed="rId3"/>
          <a:stretch>
            <a:fillRect/>
          </a:stretch>
        </p:blipFill>
        <p:spPr>
          <a:xfrm>
            <a:off x="539552" y="4077072"/>
            <a:ext cx="5544616" cy="1125335"/>
          </a:xfrm>
          <a:prstGeom prst="rect">
            <a:avLst/>
          </a:prstGeom>
        </p:spPr>
      </p:pic>
    </p:spTree>
    <p:extLst>
      <p:ext uri="{BB962C8B-B14F-4D97-AF65-F5344CB8AC3E}">
        <p14:creationId xmlns:p14="http://schemas.microsoft.com/office/powerpoint/2010/main" val="65134985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179512" y="260648"/>
            <a:ext cx="7059010" cy="2715004"/>
          </a:xfrm>
          <a:prstGeom prst="rect">
            <a:avLst/>
          </a:prstGeom>
        </p:spPr>
      </p:pic>
      <p:pic>
        <p:nvPicPr>
          <p:cNvPr id="4" name="Picture 3"/>
          <p:cNvPicPr>
            <a:picLocks noChangeAspect="1"/>
          </p:cNvPicPr>
          <p:nvPr/>
        </p:nvPicPr>
        <p:blipFill>
          <a:blip r:embed="rId3"/>
          <a:stretch>
            <a:fillRect/>
          </a:stretch>
        </p:blipFill>
        <p:spPr>
          <a:xfrm>
            <a:off x="467544" y="3789040"/>
            <a:ext cx="6438457" cy="1296144"/>
          </a:xfrm>
          <a:prstGeom prst="rect">
            <a:avLst/>
          </a:prstGeom>
        </p:spPr>
      </p:pic>
    </p:spTree>
    <p:extLst>
      <p:ext uri="{BB962C8B-B14F-4D97-AF65-F5344CB8AC3E}">
        <p14:creationId xmlns:p14="http://schemas.microsoft.com/office/powerpoint/2010/main" val="28817699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79512" y="260648"/>
            <a:ext cx="6868484" cy="2324424"/>
          </a:xfrm>
          <a:prstGeom prst="rect">
            <a:avLst/>
          </a:prstGeom>
        </p:spPr>
      </p:pic>
      <p:pic>
        <p:nvPicPr>
          <p:cNvPr id="3" name="Picture 2"/>
          <p:cNvPicPr>
            <a:picLocks noChangeAspect="1"/>
          </p:cNvPicPr>
          <p:nvPr/>
        </p:nvPicPr>
        <p:blipFill>
          <a:blip r:embed="rId3"/>
          <a:stretch>
            <a:fillRect/>
          </a:stretch>
        </p:blipFill>
        <p:spPr>
          <a:xfrm>
            <a:off x="395536" y="3212976"/>
            <a:ext cx="5911105" cy="792088"/>
          </a:xfrm>
          <a:prstGeom prst="rect">
            <a:avLst/>
          </a:prstGeom>
        </p:spPr>
      </p:pic>
    </p:spTree>
    <p:extLst>
      <p:ext uri="{BB962C8B-B14F-4D97-AF65-F5344CB8AC3E}">
        <p14:creationId xmlns:p14="http://schemas.microsoft.com/office/powerpoint/2010/main" val="267792128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79512" y="12876"/>
            <a:ext cx="7401958" cy="3048425"/>
          </a:xfrm>
          <a:prstGeom prst="rect">
            <a:avLst/>
          </a:prstGeom>
        </p:spPr>
      </p:pic>
      <p:pic>
        <p:nvPicPr>
          <p:cNvPr id="3" name="Picture 2"/>
          <p:cNvPicPr>
            <a:picLocks noChangeAspect="1"/>
          </p:cNvPicPr>
          <p:nvPr/>
        </p:nvPicPr>
        <p:blipFill>
          <a:blip r:embed="rId3"/>
          <a:stretch>
            <a:fillRect/>
          </a:stretch>
        </p:blipFill>
        <p:spPr>
          <a:xfrm>
            <a:off x="683568" y="3789040"/>
            <a:ext cx="5256584" cy="1339075"/>
          </a:xfrm>
          <a:prstGeom prst="rect">
            <a:avLst/>
          </a:prstGeom>
        </p:spPr>
      </p:pic>
    </p:spTree>
    <p:extLst>
      <p:ext uri="{BB962C8B-B14F-4D97-AF65-F5344CB8AC3E}">
        <p14:creationId xmlns:p14="http://schemas.microsoft.com/office/powerpoint/2010/main" val="257953113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3528" y="116632"/>
            <a:ext cx="6347714" cy="659160"/>
          </a:xfrm>
        </p:spPr>
        <p:txBody>
          <a:bodyPr/>
          <a:lstStyle/>
          <a:p>
            <a:r>
              <a:rPr lang="en-US" b="1" dirty="0"/>
              <a:t>Summary Table</a:t>
            </a:r>
          </a:p>
        </p:txBody>
      </p:sp>
      <p:pic>
        <p:nvPicPr>
          <p:cNvPr id="3" name="Picture 2"/>
          <p:cNvPicPr>
            <a:picLocks noChangeAspect="1"/>
          </p:cNvPicPr>
          <p:nvPr/>
        </p:nvPicPr>
        <p:blipFill>
          <a:blip r:embed="rId2"/>
          <a:stretch>
            <a:fillRect/>
          </a:stretch>
        </p:blipFill>
        <p:spPr>
          <a:xfrm>
            <a:off x="275626" y="1180787"/>
            <a:ext cx="7186154" cy="3760382"/>
          </a:xfrm>
          <a:prstGeom prst="rect">
            <a:avLst/>
          </a:prstGeom>
        </p:spPr>
      </p:pic>
    </p:spTree>
    <p:extLst>
      <p:ext uri="{BB962C8B-B14F-4D97-AF65-F5344CB8AC3E}">
        <p14:creationId xmlns:p14="http://schemas.microsoft.com/office/powerpoint/2010/main" val="2638451021"/>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3959</TotalTime>
  <Words>1897</Words>
  <Application>Microsoft Office PowerPoint</Application>
  <PresentationFormat>On-screen Show (4:3)</PresentationFormat>
  <Paragraphs>184</Paragraphs>
  <Slides>53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53</vt:i4>
      </vt:variant>
    </vt:vector>
  </HeadingPairs>
  <TitlesOfParts>
    <vt:vector size="59" baseType="lpstr">
      <vt:lpstr>Arial</vt:lpstr>
      <vt:lpstr>Cambria Math</vt:lpstr>
      <vt:lpstr>Trebuchet MS</vt:lpstr>
      <vt:lpstr>Wingdings</vt:lpstr>
      <vt:lpstr>Wingdings 3</vt:lpstr>
      <vt:lpstr>Facet</vt:lpstr>
      <vt:lpstr>K-Nearest Neighbors (KNN)</vt:lpstr>
      <vt:lpstr>Introduction </vt:lpstr>
      <vt:lpstr>PowerPoint Presentation</vt:lpstr>
      <vt:lpstr>Geometric Intuition:</vt:lpstr>
      <vt:lpstr>Failure cases of KNN</vt:lpstr>
      <vt:lpstr>PowerPoint Presentation</vt:lpstr>
      <vt:lpstr>Distance Measures</vt:lpstr>
      <vt:lpstr>Euclidean Distance(L2 norm) </vt:lpstr>
      <vt:lpstr>PowerPoint Presentation</vt:lpstr>
      <vt:lpstr>Characteristics of Euclidean Distance </vt:lpstr>
      <vt:lpstr>Manhattan Distance</vt:lpstr>
      <vt:lpstr>PowerPoint Presentation</vt:lpstr>
      <vt:lpstr>PowerPoint Presentation</vt:lpstr>
      <vt:lpstr>Characteristics of Manhattan Distance</vt:lpstr>
      <vt:lpstr>When to Use Manhattan Distance in KNN</vt:lpstr>
      <vt:lpstr>Minkowski Distance(LP Norms)</vt:lpstr>
      <vt:lpstr>Special Cases</vt:lpstr>
      <vt:lpstr>PowerPoint Presentation</vt:lpstr>
      <vt:lpstr>Hamming Distance</vt:lpstr>
      <vt:lpstr>Example Calculation</vt:lpstr>
      <vt:lpstr>PowerPoint Presentation</vt:lpstr>
      <vt:lpstr>PowerPoint Presentation</vt:lpstr>
      <vt:lpstr>When to Use Hamming Distance in KNN</vt:lpstr>
      <vt:lpstr>Cosine Distance and KNN</vt:lpstr>
      <vt:lpstr>PowerPoint Presentation</vt:lpstr>
      <vt:lpstr>PowerPoint Presentation</vt:lpstr>
      <vt:lpstr>Example Calculation</vt:lpstr>
      <vt:lpstr>PowerPoint Presentation</vt:lpstr>
      <vt:lpstr>Limitation:</vt:lpstr>
      <vt:lpstr>How you will calculate K value</vt:lpstr>
      <vt:lpstr>PowerPoint Presentation</vt:lpstr>
      <vt:lpstr>3. Automate K Selection with Code (Grid Search):</vt:lpstr>
      <vt:lpstr>PowerPoint Presentation</vt:lpstr>
      <vt:lpstr>Problem with KNN : Overfitting or Under fitting: Cross-Validation </vt:lpstr>
      <vt:lpstr>Steps to Apply Cross-Validation with KNN: </vt:lpstr>
      <vt:lpstr>How KNN Works </vt:lpstr>
      <vt:lpstr>Applications of KNN </vt:lpstr>
      <vt:lpstr>Practical Tips </vt:lpstr>
      <vt:lpstr>PowerPoint Presentation</vt:lpstr>
      <vt:lpstr>PowerPoint Presentation</vt:lpstr>
      <vt:lpstr>PowerPoint Presentation</vt:lpstr>
      <vt:lpstr>Advantages and Disadvantages</vt:lpstr>
      <vt:lpstr>Evaluation Metrics for KNN</vt:lpstr>
      <vt:lpstr>PowerPoint Presentation</vt:lpstr>
      <vt:lpstr>PowerPoint Presentation</vt:lpstr>
      <vt:lpstr>PowerPoint Presentation</vt:lpstr>
      <vt:lpstr>PowerPoint Presentation</vt:lpstr>
      <vt:lpstr>PowerPoint Presentation</vt:lpstr>
      <vt:lpstr>2. For Regression</vt:lpstr>
      <vt:lpstr>PowerPoint Presentation</vt:lpstr>
      <vt:lpstr>PowerPoint Presentation</vt:lpstr>
      <vt:lpstr>PowerPoint Presentation</vt:lpstr>
      <vt:lpstr>Summary Table</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Regression</dc:title>
  <dc:creator>PANKAJ</dc:creator>
  <cp:lastModifiedBy>PANKAJ SHARMA</cp:lastModifiedBy>
  <cp:revision>48</cp:revision>
  <dcterms:created xsi:type="dcterms:W3CDTF">2024-05-21T10:54:00Z</dcterms:created>
  <dcterms:modified xsi:type="dcterms:W3CDTF">2025-01-14T10:03:56Z</dcterms:modified>
</cp:coreProperties>
</file>